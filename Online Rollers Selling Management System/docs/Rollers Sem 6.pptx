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6" r:id="rId6"/>
    <p:sldId id="267" r:id="rId7"/>
    <p:sldId id="260" r:id="rId8"/>
    <p:sldId id="261" r:id="rId9"/>
    <p:sldId id="262" r:id="rId10"/>
    <p:sldId id="263" r:id="rId11"/>
    <p:sldId id="275" r:id="rId12"/>
    <p:sldId id="264" r:id="rId13"/>
    <p:sldId id="265" r:id="rId14"/>
    <p:sldId id="268" r:id="rId15"/>
    <p:sldId id="269" r:id="rId16"/>
    <p:sldId id="274" r:id="rId17"/>
    <p:sldId id="270" r:id="rId18"/>
    <p:sldId id="271" r:id="rId19"/>
    <p:sldId id="272" r:id="rId20"/>
    <p:sldId id="273" r:id="rId21"/>
    <p:sldId id="276" r:id="rId22"/>
    <p:sldId id="291" r:id="rId23"/>
    <p:sldId id="278" r:id="rId24"/>
    <p:sldId id="292" r:id="rId25"/>
    <p:sldId id="280" r:id="rId26"/>
    <p:sldId id="308" r:id="rId27"/>
    <p:sldId id="310" r:id="rId28"/>
    <p:sldId id="281" r:id="rId29"/>
    <p:sldId id="284" r:id="rId30"/>
    <p:sldId id="283" r:id="rId31"/>
    <p:sldId id="285" r:id="rId32"/>
    <p:sldId id="282" r:id="rId33"/>
    <p:sldId id="293" r:id="rId34"/>
    <p:sldId id="286" r:id="rId35"/>
    <p:sldId id="287" r:id="rId36"/>
    <p:sldId id="296" r:id="rId37"/>
    <p:sldId id="294" r:id="rId38"/>
    <p:sldId id="297" r:id="rId39"/>
    <p:sldId id="298" r:id="rId40"/>
    <p:sldId id="299" r:id="rId41"/>
    <p:sldId id="311" r:id="rId42"/>
    <p:sldId id="312" r:id="rId43"/>
    <p:sldId id="290" r:id="rId44"/>
    <p:sldId id="300" r:id="rId45"/>
    <p:sldId id="301" r:id="rId46"/>
    <p:sldId id="302" r:id="rId47"/>
    <p:sldId id="303" r:id="rId48"/>
    <p:sldId id="304" r:id="rId49"/>
    <p:sldId id="305" r:id="rId50"/>
    <p:sldId id="306" r:id="rId51"/>
    <p:sldId id="307" r:id="rId5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BFB95-80DB-4156-BEEC-9F15402E298A}" v="6" dt="2022-09-10T10:25:36.867"/>
    <p1510:client id="{16B923F8-3CD8-486A-BBD9-B13D66B7D70A}" v="5" dt="2022-11-23T12:31:58.107"/>
    <p1510:client id="{17AAD791-04FB-4EF3-BECB-68C6D27510C7}" v="52" dt="2022-10-17T07:03:40.925"/>
    <p1510:client id="{1A8E2238-42B8-4669-86AB-F6C1B9401F9D}" v="94" dt="2022-11-23T18:40:24.101"/>
    <p1510:client id="{1AA570B5-76AF-4BFC-9747-15E411E9A7DF}" v="84" dt="2022-09-15T14:55:31.810"/>
    <p1510:client id="{1EFF2F26-D35B-4505-AAEF-BFC113E65563}" v="40" dt="2022-10-13T12:08:24.551"/>
    <p1510:client id="{21E408F9-7B5F-468B-86D7-8A215F43491E}" v="23" dt="2022-11-21T04:10:35.527"/>
    <p1510:client id="{22F6AEFC-09C4-4D73-A058-2FA52C898855}" v="1140" dt="2022-10-15T15:08:04.120"/>
    <p1510:client id="{24074493-9CB3-4613-8C4D-EF4E9519F235}" v="2501" dt="2022-10-13T19:11:07.687"/>
    <p1510:client id="{2900F918-EAF2-4F36-98A0-DB090C854F21}" v="5" dt="2022-10-12T18:00:36.597"/>
    <p1510:client id="{371B7112-2CB8-4573-B3A8-2669BFC618A5}" v="1029" dt="2022-09-13T02:24:52.003"/>
    <p1510:client id="{40DCBA81-3280-4A0D-BBDB-2FC563889249}" v="1121" dt="2022-11-22T13:17:42.016"/>
    <p1510:client id="{5B4FC04E-9BD6-494C-B84D-DD6A82BB21D5}" v="292" dt="2022-07-31T08:33:31.786"/>
    <p1510:client id="{5C32CE5A-6785-4A7C-957B-F7B7FA1C044A}" v="57" dt="2022-11-23T14:21:50.605"/>
    <p1510:client id="{5E551913-4A60-4CC6-9517-9986C2111737}" v="182" dt="2022-09-12T06:41:34.406"/>
    <p1510:client id="{62879292-1AE1-4F61-A2D9-219AB13DA03B}" v="14" dt="2022-08-03T04:30:08.077"/>
    <p1510:client id="{647C711E-636A-4F2D-B6B6-D13BDC091411}" v="33" dt="2022-08-02T13:31:54.464"/>
    <p1510:client id="{67E59E74-1BB9-4D65-9F58-2E4CCC2B6653}" v="421" dt="2022-10-11T09:50:19.442"/>
    <p1510:client id="{7025AE72-B438-4B83-B88A-F5A320EE4332}" v="33" dt="2022-10-12T18:33:25.427"/>
    <p1510:client id="{7C9716FD-5C0E-4051-96F9-387AA0497BB7}" v="892" dt="2022-10-15T14:21:35.379"/>
    <p1510:client id="{85E12B3A-E734-49CD-A3B4-05AF62E7DC05}" v="18" dt="2022-10-10T13:04:26.338"/>
    <p1510:client id="{881E972E-50EA-48FF-8D5C-0C16CB200364}" v="35" dt="2022-10-14T08:26:25.861"/>
    <p1510:client id="{8B572BC9-C805-4363-B507-73FD8B0194B7}" v="3" dt="2022-10-16T07:45:10.961"/>
    <p1510:client id="{94B67EF7-91D4-4A45-84A4-593D5352D414}" v="27" dt="2022-09-13T04:58:50.672"/>
    <p1510:client id="{96A04366-BD40-4395-AA76-1CAE34052473}" v="3445" dt="2022-08-01T09:06:38.110"/>
    <p1510:client id="{9908E54F-F459-4E7A-B004-B3624C2F9E5A}" v="68" dt="2022-08-02T10:44:17.413"/>
    <p1510:client id="{A64AE07A-BADF-4CAE-9C03-F6F3101111F1}" v="280" dt="2022-09-15T14:48:36.694"/>
    <p1510:client id="{A6D7D9D3-E83A-4E68-9E7C-8AE8192CEABC}" v="5329" dt="2022-09-12T18:47:42.236"/>
    <p1510:client id="{A7754F9B-E66C-45F4-B040-7D5CC43603B0}" v="107" dt="2022-10-16T07:57:22.054"/>
    <p1510:client id="{ADFF57E7-6F20-4962-A854-84CACA0283DA}" v="223" dt="2022-10-10T17:32:32.150"/>
    <p1510:client id="{BEB1A271-19BE-49D1-9B08-7D204A641183}" v="88" dt="2022-10-15T12:59:20.817"/>
    <p1510:client id="{C095C1EE-743B-4FA4-9207-F98C49AC8557}" v="750" dt="2022-08-01T10:02:59.129"/>
    <p1510:client id="{C1730E3B-F190-4B6F-9FF6-1EC44010F1ED}" v="7" dt="2022-09-16T10:44:33.463"/>
    <p1510:client id="{C3E3A811-C56E-4304-BFCA-345FD10E9BD3}" v="1" dt="2022-07-31T07:59:07.585"/>
    <p1510:client id="{C762666F-1743-4F38-920E-7FFD5346F4A1}" v="72" dt="2022-09-11T09:21:48.162"/>
    <p1510:client id="{DEED7EA0-E9B0-471C-B735-BE0DFB884BBB}" v="125" dt="2022-10-09T17:37:03.547"/>
    <p1510:client id="{E87625AD-5B99-416E-AF61-3080F554CA87}" v="17" dt="2022-08-02T11:33:28.479"/>
    <p1510:client id="{EFB07FE6-8D6E-43E7-8690-37BB136BD493}" v="8305" dt="2022-10-11T16:38:55.492"/>
    <p1510:client id="{F5DB764A-DC31-4F6E-B0D7-F3CFD84FDD1C}" v="657" dt="2022-10-17T09:42:34.080"/>
    <p1510:client id="{F6F1E319-A53A-4900-8792-EE33A8C04656}" v="882" dt="2022-09-13T03:45:12.8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23/11/2022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23/11/2022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23/11/2022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23/11/2022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23/11/2022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23/11/2022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23/11/2022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23/11/2022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23/11/2022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23/11/2022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23/11/2022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23/11/2022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1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31BEBF5-E5BC-592F-D039-526F6C2DF0A8}"/>
              </a:ext>
            </a:extLst>
          </p:cNvPr>
          <p:cNvSpPr>
            <a:spLocks noGrp="1"/>
          </p:cNvSpPr>
          <p:nvPr>
            <p:ph type="title"/>
          </p:nvPr>
        </p:nvSpPr>
        <p:spPr>
          <a:xfrm>
            <a:off x="706097" y="948035"/>
            <a:ext cx="10905066" cy="1135737"/>
          </a:xfrm>
        </p:spPr>
        <p:txBody>
          <a:bodyPr>
            <a:normAutofit/>
          </a:bodyPr>
          <a:lstStyle/>
          <a:p>
            <a:pPr algn="ctr"/>
            <a:r>
              <a:rPr lang="en-GB" sz="3600" b="1" u="sng">
                <a:cs typeface="Calibri Light"/>
              </a:rPr>
              <a:t>Online Roller Production &amp; Selling Management</a:t>
            </a:r>
            <a:endParaRPr lang="en-GB" sz="3600" b="1">
              <a:cs typeface="Calibri Light"/>
            </a:endParaRPr>
          </a:p>
        </p:txBody>
      </p:sp>
      <p:graphicFrame>
        <p:nvGraphicFramePr>
          <p:cNvPr id="15" name="Table 15">
            <a:extLst>
              <a:ext uri="{FF2B5EF4-FFF2-40B4-BE49-F238E27FC236}">
                <a16:creationId xmlns:a16="http://schemas.microsoft.com/office/drawing/2014/main" id="{419F9941-D693-79CE-FB9E-3ADDCDAA04BD}"/>
              </a:ext>
            </a:extLst>
          </p:cNvPr>
          <p:cNvGraphicFramePr>
            <a:graphicFrameLocks noGrp="1"/>
          </p:cNvGraphicFramePr>
          <p:nvPr>
            <p:ph idx="1"/>
            <p:extLst>
              <p:ext uri="{D42A27DB-BD31-4B8C-83A1-F6EECF244321}">
                <p14:modId xmlns:p14="http://schemas.microsoft.com/office/powerpoint/2010/main" val="4037994227"/>
              </p:ext>
            </p:extLst>
          </p:nvPr>
        </p:nvGraphicFramePr>
        <p:xfrm>
          <a:off x="1012520" y="3246328"/>
          <a:ext cx="10541691" cy="1700376"/>
        </p:xfrm>
        <a:graphic>
          <a:graphicData uri="http://schemas.openxmlformats.org/drawingml/2006/table">
            <a:tbl>
              <a:tblPr firstRow="1" bandRow="1">
                <a:tableStyleId>{5202B0CA-FC54-4496-8BCA-5EF66A818D29}</a:tableStyleId>
              </a:tblPr>
              <a:tblGrid>
                <a:gridCol w="1996335">
                  <a:extLst>
                    <a:ext uri="{9D8B030D-6E8A-4147-A177-3AD203B41FA5}">
                      <a16:colId xmlns:a16="http://schemas.microsoft.com/office/drawing/2014/main" val="1477499246"/>
                    </a:ext>
                  </a:extLst>
                </a:gridCol>
                <a:gridCol w="2244246">
                  <a:extLst>
                    <a:ext uri="{9D8B030D-6E8A-4147-A177-3AD203B41FA5}">
                      <a16:colId xmlns:a16="http://schemas.microsoft.com/office/drawing/2014/main" val="1813336428"/>
                    </a:ext>
                  </a:extLst>
                </a:gridCol>
                <a:gridCol w="6301110">
                  <a:extLst>
                    <a:ext uri="{9D8B030D-6E8A-4147-A177-3AD203B41FA5}">
                      <a16:colId xmlns:a16="http://schemas.microsoft.com/office/drawing/2014/main" val="1766819116"/>
                    </a:ext>
                  </a:extLst>
                </a:gridCol>
              </a:tblGrid>
              <a:tr h="566792">
                <a:tc>
                  <a:txBody>
                    <a:bodyPr/>
                    <a:lstStyle/>
                    <a:p>
                      <a:pPr algn="ctr"/>
                      <a:r>
                        <a:rPr lang="en-GB"/>
                        <a:t>Roll Number</a:t>
                      </a:r>
                    </a:p>
                  </a:txBody>
                  <a:tcPr/>
                </a:tc>
                <a:tc>
                  <a:txBody>
                    <a:bodyPr/>
                    <a:lstStyle/>
                    <a:p>
                      <a:pPr algn="ctr"/>
                      <a:r>
                        <a:rPr lang="en-GB"/>
                        <a:t>Division</a:t>
                      </a:r>
                    </a:p>
                  </a:txBody>
                  <a:tcPr/>
                </a:tc>
                <a:tc>
                  <a:txBody>
                    <a:bodyPr/>
                    <a:lstStyle/>
                    <a:p>
                      <a:pPr algn="ctr"/>
                      <a:r>
                        <a:rPr lang="en-GB"/>
                        <a:t>Full Name</a:t>
                      </a:r>
                    </a:p>
                  </a:txBody>
                  <a:tcPr/>
                </a:tc>
                <a:extLst>
                  <a:ext uri="{0D108BD9-81ED-4DB2-BD59-A6C34878D82A}">
                    <a16:rowId xmlns:a16="http://schemas.microsoft.com/office/drawing/2014/main" val="2550025627"/>
                  </a:ext>
                </a:extLst>
              </a:tr>
              <a:tr h="566792">
                <a:tc>
                  <a:txBody>
                    <a:bodyPr/>
                    <a:lstStyle/>
                    <a:p>
                      <a:pPr algn="ctr"/>
                      <a:r>
                        <a:rPr lang="en-GB"/>
                        <a:t>39</a:t>
                      </a:r>
                    </a:p>
                  </a:txBody>
                  <a:tcPr/>
                </a:tc>
                <a:tc>
                  <a:txBody>
                    <a:bodyPr/>
                    <a:lstStyle/>
                    <a:p>
                      <a:pPr algn="ctr"/>
                      <a:r>
                        <a:rPr lang="en-GB"/>
                        <a:t>A</a:t>
                      </a:r>
                    </a:p>
                  </a:txBody>
                  <a:tcPr/>
                </a:tc>
                <a:tc>
                  <a:txBody>
                    <a:bodyPr/>
                    <a:lstStyle/>
                    <a:p>
                      <a:pPr algn="ctr"/>
                      <a:r>
                        <a:rPr lang="en-GB"/>
                        <a:t>Patil Pavan Ananda</a:t>
                      </a:r>
                    </a:p>
                  </a:txBody>
                  <a:tcPr/>
                </a:tc>
                <a:extLst>
                  <a:ext uri="{0D108BD9-81ED-4DB2-BD59-A6C34878D82A}">
                    <a16:rowId xmlns:a16="http://schemas.microsoft.com/office/drawing/2014/main" val="1161866805"/>
                  </a:ext>
                </a:extLst>
              </a:tr>
              <a:tr h="566792">
                <a:tc>
                  <a:txBody>
                    <a:bodyPr/>
                    <a:lstStyle/>
                    <a:p>
                      <a:pPr algn="ctr"/>
                      <a:r>
                        <a:rPr lang="en-GB"/>
                        <a:t>60</a:t>
                      </a:r>
                    </a:p>
                  </a:txBody>
                  <a:tcPr/>
                </a:tc>
                <a:tc>
                  <a:txBody>
                    <a:bodyPr/>
                    <a:lstStyle/>
                    <a:p>
                      <a:pPr algn="ctr"/>
                      <a:r>
                        <a:rPr lang="en-GB"/>
                        <a:t>A</a:t>
                      </a:r>
                    </a:p>
                  </a:txBody>
                  <a:tcPr/>
                </a:tc>
                <a:tc>
                  <a:txBody>
                    <a:bodyPr/>
                    <a:lstStyle/>
                    <a:p>
                      <a:pPr algn="ctr"/>
                      <a:r>
                        <a:rPr lang="en-GB"/>
                        <a:t>Vaghela Sahil </a:t>
                      </a:r>
                      <a:r>
                        <a:rPr lang="en-GB" err="1"/>
                        <a:t>Sandipbhai</a:t>
                      </a:r>
                    </a:p>
                  </a:txBody>
                  <a:tcPr/>
                </a:tc>
                <a:extLst>
                  <a:ext uri="{0D108BD9-81ED-4DB2-BD59-A6C34878D82A}">
                    <a16:rowId xmlns:a16="http://schemas.microsoft.com/office/drawing/2014/main" val="706370031"/>
                  </a:ext>
                </a:extLst>
              </a:tr>
            </a:tbl>
          </a:graphicData>
        </a:graphic>
      </p:graphicFrame>
      <p:sp>
        <p:nvSpPr>
          <p:cNvPr id="37" name="Rectangle 2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22">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2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Rectangle 2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B9D11C8-65C8-B6E4-60B0-4F4BEB14CF1D}"/>
              </a:ext>
            </a:extLst>
          </p:cNvPr>
          <p:cNvSpPr txBox="1"/>
          <p:nvPr/>
        </p:nvSpPr>
        <p:spPr>
          <a:xfrm>
            <a:off x="935742" y="1229748"/>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400050" indent="-342900">
              <a:lnSpc>
                <a:spcPct val="90000"/>
              </a:lnSpc>
              <a:spcAft>
                <a:spcPts val="600"/>
              </a:spcAft>
              <a:buFont typeface="Wingdings"/>
              <a:buChar char="Ø"/>
            </a:pPr>
            <a:r>
              <a:rPr lang="en-US" sz="2500" b="1"/>
              <a:t>Project Definition:</a:t>
            </a:r>
            <a:r>
              <a:rPr lang="en-US" sz="2500"/>
              <a:t> Online Roller Production &amp; Selling Management.</a:t>
            </a:r>
            <a:endParaRPr lang="en-US" sz="2500">
              <a:cs typeface="Calibri" panose="020F0502020204030204"/>
            </a:endParaRPr>
          </a:p>
          <a:p>
            <a:pPr indent="-228600">
              <a:lnSpc>
                <a:spcPct val="90000"/>
              </a:lnSpc>
              <a:spcAft>
                <a:spcPts val="600"/>
              </a:spcAft>
              <a:buFont typeface="Arial" panose="020B0604020202020204" pitchFamily="34" charset="0"/>
              <a:buChar char="•"/>
            </a:pPr>
            <a:endParaRPr lang="en-US" sz="2500">
              <a:cs typeface="Calibri" panose="020F0502020204030204"/>
            </a:endParaRPr>
          </a:p>
          <a:p>
            <a:pPr marL="400050" indent="-342900">
              <a:lnSpc>
                <a:spcPct val="90000"/>
              </a:lnSpc>
              <a:spcAft>
                <a:spcPts val="600"/>
              </a:spcAft>
              <a:buFont typeface="Wingdings"/>
              <a:buChar char="Ø"/>
            </a:pPr>
            <a:r>
              <a:rPr lang="en-US" sz="2500" b="1"/>
              <a:t>Project Description:</a:t>
            </a:r>
            <a:endParaRPr lang="en-US" sz="2500">
              <a:cs typeface="Calibri" panose="020F0502020204030204"/>
            </a:endParaRPr>
          </a:p>
          <a:p>
            <a:pPr>
              <a:lnSpc>
                <a:spcPct val="90000"/>
              </a:lnSpc>
              <a:spcAft>
                <a:spcPts val="600"/>
              </a:spcAft>
            </a:pPr>
            <a:r>
              <a:rPr lang="en-US" sz="2500"/>
              <a:t>                                                In online roller production &amp; selling we manage  </a:t>
            </a:r>
            <a:endParaRPr lang="en-US" sz="2500">
              <a:cs typeface="Calibri" panose="020F0502020204030204"/>
            </a:endParaRPr>
          </a:p>
          <a:p>
            <a:pPr>
              <a:lnSpc>
                <a:spcPct val="90000"/>
              </a:lnSpc>
              <a:spcAft>
                <a:spcPts val="600"/>
              </a:spcAft>
            </a:pPr>
            <a:r>
              <a:rPr lang="en-US" sz="2500"/>
              <a:t>                      Manufacturing of ebonite &amp; rubber roller, hard Crome roller,</a:t>
            </a:r>
            <a:endParaRPr lang="en-US" sz="2500">
              <a:cs typeface="Calibri" panose="020F0502020204030204"/>
            </a:endParaRPr>
          </a:p>
          <a:p>
            <a:pPr>
              <a:lnSpc>
                <a:spcPct val="90000"/>
              </a:lnSpc>
              <a:spcAft>
                <a:spcPts val="600"/>
              </a:spcAft>
            </a:pPr>
            <a:r>
              <a:rPr lang="en-US" sz="2500"/>
              <a:t>                      </a:t>
            </a:r>
            <a:r>
              <a:rPr lang="en-US" sz="2500">
                <a:ea typeface="+mn-lt"/>
                <a:cs typeface="+mn-lt"/>
              </a:rPr>
              <a:t>Aluminum</a:t>
            </a:r>
            <a:r>
              <a:rPr lang="en-US" sz="2500"/>
              <a:t> roller and selling online. customer can easily order </a:t>
            </a:r>
            <a:endParaRPr lang="en-US" sz="2500">
              <a:cs typeface="Calibri" panose="020F0502020204030204"/>
            </a:endParaRPr>
          </a:p>
          <a:p>
            <a:pPr>
              <a:lnSpc>
                <a:spcPct val="90000"/>
              </a:lnSpc>
              <a:spcAft>
                <a:spcPts val="600"/>
              </a:spcAft>
            </a:pPr>
            <a:r>
              <a:rPr lang="en-US" sz="2500"/>
              <a:t>                      The roll by his requirement.  </a:t>
            </a:r>
            <a:endParaRPr lang="en-US" sz="2500">
              <a:cs typeface="Calibri" panose="020F0502020204030204"/>
            </a:endParaRPr>
          </a:p>
          <a:p>
            <a:pPr>
              <a:lnSpc>
                <a:spcPct val="90000"/>
              </a:lnSpc>
              <a:spcAft>
                <a:spcPts val="600"/>
              </a:spcAft>
            </a:pPr>
            <a:r>
              <a:rPr lang="en-US" sz="2500"/>
              <a:t>                                                In our web application customer can easily manage</a:t>
            </a:r>
            <a:endParaRPr lang="en-US" sz="2500">
              <a:cs typeface="Calibri" panose="020F0502020204030204"/>
            </a:endParaRPr>
          </a:p>
          <a:p>
            <a:pPr>
              <a:lnSpc>
                <a:spcPct val="90000"/>
              </a:lnSpc>
              <a:spcAft>
                <a:spcPts val="600"/>
              </a:spcAft>
            </a:pPr>
            <a:r>
              <a:rPr lang="en-US" sz="2500"/>
              <a:t>                      Own profile and admin manage product and job work charges.</a:t>
            </a:r>
            <a:endParaRPr lang="en-US" sz="2500">
              <a:cs typeface="Calibri" panose="020F0502020204030204"/>
            </a:endParaRPr>
          </a:p>
          <a:p>
            <a:pPr>
              <a:lnSpc>
                <a:spcPct val="90000"/>
              </a:lnSpc>
              <a:spcAft>
                <a:spcPts val="600"/>
              </a:spcAft>
            </a:pPr>
            <a:r>
              <a:rPr lang="en-US" sz="2500"/>
              <a:t>                      And supplier and raw material will manage by the admin.</a:t>
            </a:r>
            <a:endParaRPr lang="en-US" sz="2500">
              <a:cs typeface="Calibri" panose="020F0502020204030204"/>
            </a:endParaRPr>
          </a:p>
          <a:p>
            <a:pPr>
              <a:lnSpc>
                <a:spcPct val="90000"/>
              </a:lnSpc>
              <a:spcAft>
                <a:spcPts val="600"/>
              </a:spcAft>
            </a:pPr>
            <a:r>
              <a:rPr lang="en-US" sz="2500"/>
              <a:t>                      Admin manage actual work and generate bill as per order.</a:t>
            </a:r>
            <a:endParaRPr lang="en-US" sz="2500">
              <a:cs typeface="Calibri" panose="020F0502020204030204"/>
            </a:endParaRPr>
          </a:p>
          <a:p>
            <a:pPr indent="-228600">
              <a:lnSpc>
                <a:spcPct val="90000"/>
              </a:lnSpc>
              <a:spcAft>
                <a:spcPts val="600"/>
              </a:spcAft>
              <a:buFont typeface="Arial" panose="020B0604020202020204" pitchFamily="34" charset="0"/>
              <a:buChar char="•"/>
            </a:pPr>
            <a:endParaRPr lang="en-US" sz="2500">
              <a:cs typeface="Calibri" panose="020F0502020204030204"/>
            </a:endParaRPr>
          </a:p>
        </p:txBody>
      </p:sp>
      <p:sp>
        <p:nvSpPr>
          <p:cNvPr id="31"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146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2BBC1A3-C886-B303-51C4-F59A085A5226}"/>
              </a:ext>
            </a:extLst>
          </p:cNvPr>
          <p:cNvSpPr txBox="1"/>
          <p:nvPr/>
        </p:nvSpPr>
        <p:spPr>
          <a:xfrm>
            <a:off x="643467" y="1229748"/>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457200" indent="-342900">
              <a:lnSpc>
                <a:spcPct val="90000"/>
              </a:lnSpc>
              <a:spcAft>
                <a:spcPts val="600"/>
              </a:spcAft>
              <a:buFont typeface="Wingdings"/>
              <a:buChar char="Ø"/>
            </a:pPr>
            <a:r>
              <a:rPr lang="en-US" sz="2500" b="1"/>
              <a:t>Company Description:</a:t>
            </a:r>
            <a:r>
              <a:rPr lang="en-US" sz="2500"/>
              <a:t> </a:t>
            </a:r>
            <a:endParaRPr lang="en-US" sz="2500">
              <a:cs typeface="Calibri" panose="020F0502020204030204"/>
            </a:endParaRPr>
          </a:p>
          <a:p>
            <a:pPr>
              <a:lnSpc>
                <a:spcPct val="90000"/>
              </a:lnSpc>
              <a:spcAft>
                <a:spcPts val="600"/>
              </a:spcAft>
            </a:pPr>
            <a:r>
              <a:rPr lang="en-US" sz="2500"/>
              <a:t>                     →Our Company Name is Mahakali Engineering Works.</a:t>
            </a:r>
            <a:endParaRPr lang="en-US" sz="2500">
              <a:cs typeface="Calibri" panose="020F0502020204030204"/>
            </a:endParaRPr>
          </a:p>
          <a:p>
            <a:pPr>
              <a:lnSpc>
                <a:spcPct val="90000"/>
              </a:lnSpc>
              <a:spcAft>
                <a:spcPts val="600"/>
              </a:spcAft>
            </a:pPr>
            <a:r>
              <a:rPr lang="en-US" sz="2500"/>
              <a:t>                     →It is Manufacturing Ebonite &amp; Rubber Roller, Hard Crome </a:t>
            </a:r>
            <a:endParaRPr lang="en-US" sz="2500">
              <a:cs typeface="Calibri" panose="020F0502020204030204"/>
            </a:endParaRPr>
          </a:p>
          <a:p>
            <a:pPr>
              <a:lnSpc>
                <a:spcPct val="90000"/>
              </a:lnSpc>
              <a:spcAft>
                <a:spcPts val="600"/>
              </a:spcAft>
            </a:pPr>
            <a:r>
              <a:rPr lang="en-US" sz="2500"/>
              <a:t>                         Roller, </a:t>
            </a:r>
            <a:r>
              <a:rPr lang="en-US" sz="2500">
                <a:ea typeface="+mn-lt"/>
                <a:cs typeface="+mn-lt"/>
              </a:rPr>
              <a:t>Aluminum</a:t>
            </a:r>
            <a:r>
              <a:rPr lang="en-US" sz="2500"/>
              <a:t> Roller. That all type of rollers uses in</a:t>
            </a:r>
            <a:endParaRPr lang="en-US" sz="2500">
              <a:cs typeface="Calibri" panose="020F0502020204030204"/>
            </a:endParaRPr>
          </a:p>
          <a:p>
            <a:pPr>
              <a:lnSpc>
                <a:spcPct val="90000"/>
              </a:lnSpc>
              <a:spcAft>
                <a:spcPts val="600"/>
              </a:spcAft>
            </a:pPr>
            <a:r>
              <a:rPr lang="en-US" sz="2500"/>
              <a:t>                         industries for Plastic Machine, </a:t>
            </a:r>
            <a:r>
              <a:rPr lang="en-US" sz="2500" err="1"/>
              <a:t>aglo</a:t>
            </a:r>
            <a:r>
              <a:rPr lang="en-US" sz="2500"/>
              <a:t> machine for plastic. </a:t>
            </a:r>
            <a:endParaRPr lang="en-US" sz="2500">
              <a:cs typeface="Calibri" panose="020F0502020204030204"/>
            </a:endParaRPr>
          </a:p>
          <a:p>
            <a:pPr>
              <a:lnSpc>
                <a:spcPct val="90000"/>
              </a:lnSpc>
              <a:spcAft>
                <a:spcPts val="600"/>
              </a:spcAft>
            </a:pPr>
            <a:r>
              <a:rPr lang="en-US" sz="2500"/>
              <a:t>                         Customer order the Roller As Per his requirement.</a:t>
            </a:r>
            <a:endParaRPr lang="en-US" sz="2500">
              <a:cs typeface="Calibri" panose="020F0502020204030204"/>
            </a:endParaRPr>
          </a:p>
          <a:p>
            <a:pPr>
              <a:lnSpc>
                <a:spcPct val="90000"/>
              </a:lnSpc>
              <a:spcAft>
                <a:spcPts val="600"/>
              </a:spcAft>
            </a:pPr>
            <a:r>
              <a:rPr lang="en-US" sz="2500"/>
              <a:t>                     →Address: 186, Vijay industrial </a:t>
            </a:r>
            <a:r>
              <a:rPr lang="en-US" sz="2500" err="1"/>
              <a:t>Estet</a:t>
            </a:r>
            <a:r>
              <a:rPr lang="en-US" sz="2500"/>
              <a:t> B/H </a:t>
            </a:r>
            <a:r>
              <a:rPr lang="en-US" sz="2500" err="1"/>
              <a:t>Bhikshukgruh</a:t>
            </a:r>
            <a:r>
              <a:rPr lang="en-US" sz="2500"/>
              <a:t> </a:t>
            </a:r>
            <a:endParaRPr lang="en-US" sz="2500">
              <a:cs typeface="Calibri" panose="020F0502020204030204"/>
            </a:endParaRPr>
          </a:p>
          <a:p>
            <a:pPr>
              <a:lnSpc>
                <a:spcPct val="90000"/>
              </a:lnSpc>
              <a:spcAft>
                <a:spcPts val="600"/>
              </a:spcAft>
            </a:pPr>
            <a:r>
              <a:rPr lang="en-US" sz="2500"/>
              <a:t>                                          Central Workshop Road, </a:t>
            </a:r>
            <a:r>
              <a:rPr lang="en-US" sz="2500" err="1"/>
              <a:t>Odhav</a:t>
            </a:r>
            <a:r>
              <a:rPr lang="en-US" sz="2500"/>
              <a:t>, Ahmedabad, </a:t>
            </a:r>
            <a:endParaRPr lang="en-US" sz="2500">
              <a:cs typeface="Calibri" panose="020F0502020204030204"/>
            </a:endParaRPr>
          </a:p>
          <a:p>
            <a:pPr>
              <a:lnSpc>
                <a:spcPct val="90000"/>
              </a:lnSpc>
              <a:spcAft>
                <a:spcPts val="600"/>
              </a:spcAft>
            </a:pPr>
            <a:r>
              <a:rPr lang="en-US" sz="2500"/>
              <a:t>                                          Gujrat.</a:t>
            </a:r>
            <a:endParaRPr lang="en-US" sz="2500">
              <a:cs typeface="Calibri" panose="020F0502020204030204"/>
            </a:endParaRPr>
          </a:p>
          <a:p>
            <a:pPr>
              <a:lnSpc>
                <a:spcPct val="90000"/>
              </a:lnSpc>
              <a:spcAft>
                <a:spcPts val="600"/>
              </a:spcAft>
            </a:pPr>
            <a:r>
              <a:rPr lang="en-US" sz="2500"/>
              <a:t>                      → Owner Detail &amp; Contact No.: - Lalit Santosh Patil.</a:t>
            </a:r>
            <a:endParaRPr lang="en-US" sz="2500">
              <a:cs typeface="Calibri" panose="020F0502020204030204"/>
            </a:endParaRPr>
          </a:p>
          <a:p>
            <a:pPr>
              <a:lnSpc>
                <a:spcPct val="90000"/>
              </a:lnSpc>
              <a:spcAft>
                <a:spcPts val="600"/>
              </a:spcAft>
            </a:pPr>
            <a:r>
              <a:rPr lang="en-US" sz="2500"/>
              <a:t>                                                        Mobile No.: - 7433091598</a:t>
            </a:r>
            <a:endParaRPr lang="en-US" sz="2500">
              <a:cs typeface="Calibri"/>
            </a:endParaRPr>
          </a:p>
          <a:p>
            <a:pPr indent="-228600">
              <a:lnSpc>
                <a:spcPct val="90000"/>
              </a:lnSpc>
              <a:spcAft>
                <a:spcPts val="600"/>
              </a:spcAft>
              <a:buFont typeface="Arial" panose="020B0604020202020204" pitchFamily="34" charset="0"/>
              <a:buChar char="•"/>
            </a:pPr>
            <a:endParaRPr lang="en-US" sz="2500">
              <a:cs typeface="Calibri"/>
            </a:endParaRPr>
          </a:p>
        </p:txBody>
      </p:sp>
      <p:sp>
        <p:nvSpPr>
          <p:cNvPr id="12" name="Rectangle 11">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7451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3113514-E5CE-5E57-2668-6B7F228F10BC}"/>
              </a:ext>
            </a:extLst>
          </p:cNvPr>
          <p:cNvSpPr txBox="1"/>
          <p:nvPr/>
        </p:nvSpPr>
        <p:spPr>
          <a:xfrm>
            <a:off x="1128781" y="1303095"/>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400050" indent="-342900">
              <a:lnSpc>
                <a:spcPct val="90000"/>
              </a:lnSpc>
              <a:spcAft>
                <a:spcPts val="600"/>
              </a:spcAft>
              <a:buFont typeface="Wingdings"/>
              <a:buChar char="Ø"/>
            </a:pPr>
            <a:r>
              <a:rPr lang="en-US" sz="2500" b="1"/>
              <a:t>Tools &amp; Technology:</a:t>
            </a:r>
            <a:endParaRPr lang="en-US" sz="2500">
              <a:cs typeface="Calibri" panose="020F0502020204030204"/>
            </a:endParaRPr>
          </a:p>
          <a:p>
            <a:pPr>
              <a:lnSpc>
                <a:spcPct val="90000"/>
              </a:lnSpc>
              <a:spcAft>
                <a:spcPts val="600"/>
              </a:spcAft>
            </a:pPr>
            <a:r>
              <a:rPr lang="en-US" sz="2500" b="1"/>
              <a:t>                  ○ </a:t>
            </a:r>
            <a:r>
              <a:rPr lang="en-US" sz="2500"/>
              <a:t>Front End: - Python 3.10, Django </a:t>
            </a:r>
            <a:endParaRPr lang="en-US" sz="2500">
              <a:cs typeface="Calibri" panose="020F0502020204030204"/>
            </a:endParaRPr>
          </a:p>
          <a:p>
            <a:pPr>
              <a:lnSpc>
                <a:spcPct val="90000"/>
              </a:lnSpc>
              <a:spcAft>
                <a:spcPts val="600"/>
              </a:spcAft>
            </a:pPr>
            <a:r>
              <a:rPr lang="en-US" sz="2500"/>
              <a:t>                  ○ Back End: - MySQL 8.0</a:t>
            </a:r>
            <a:endParaRPr lang="en-US" sz="2500">
              <a:cs typeface="Calibri" panose="020F0502020204030204"/>
            </a:endParaRPr>
          </a:p>
          <a:p>
            <a:pPr>
              <a:lnSpc>
                <a:spcPct val="90000"/>
              </a:lnSpc>
              <a:spcAft>
                <a:spcPts val="600"/>
              </a:spcAft>
            </a:pPr>
            <a:r>
              <a:rPr lang="en-US" sz="2500"/>
              <a:t>                  ○ Server: - XAMPP 8.16</a:t>
            </a:r>
            <a:endParaRPr lang="en-US" sz="2500">
              <a:cs typeface="Calibri" panose="020F0502020204030204"/>
            </a:endParaRPr>
          </a:p>
          <a:p>
            <a:pPr>
              <a:lnSpc>
                <a:spcPct val="90000"/>
              </a:lnSpc>
              <a:spcAft>
                <a:spcPts val="600"/>
              </a:spcAft>
            </a:pPr>
            <a:r>
              <a:rPr lang="en-US" sz="2500"/>
              <a:t>                  ○ Editor: - VS Code 1.69</a:t>
            </a:r>
            <a:endParaRPr lang="en-US" sz="2500">
              <a:cs typeface="Calibri" panose="020F0502020204030204"/>
            </a:endParaRPr>
          </a:p>
          <a:p>
            <a:pPr>
              <a:lnSpc>
                <a:spcPct val="90000"/>
              </a:lnSpc>
              <a:spcAft>
                <a:spcPts val="600"/>
              </a:spcAft>
            </a:pPr>
            <a:r>
              <a:rPr lang="en-US" sz="2500"/>
              <a:t>                  ○ Other Tools: - </a:t>
            </a:r>
            <a:endParaRPr lang="en-US" sz="2500">
              <a:cs typeface="Calibri" panose="020F0502020204030204"/>
            </a:endParaRPr>
          </a:p>
          <a:p>
            <a:pPr>
              <a:lnSpc>
                <a:spcPct val="90000"/>
              </a:lnSpc>
              <a:spcAft>
                <a:spcPts val="600"/>
              </a:spcAft>
            </a:pPr>
            <a:r>
              <a:rPr lang="en-US" sz="2500"/>
              <a:t>                                         →MS Visio 2007 (For Diagram)</a:t>
            </a:r>
            <a:endParaRPr lang="en-US" sz="2500">
              <a:cs typeface="Calibri" panose="020F0502020204030204"/>
            </a:endParaRPr>
          </a:p>
          <a:p>
            <a:pPr>
              <a:lnSpc>
                <a:spcPct val="90000"/>
              </a:lnSpc>
              <a:spcAft>
                <a:spcPts val="600"/>
              </a:spcAft>
            </a:pPr>
            <a:r>
              <a:rPr lang="en-US" sz="2500"/>
              <a:t>                                         →MS Word 2016 (For Documentation)</a:t>
            </a:r>
            <a:endParaRPr lang="en-US" sz="2500">
              <a:cs typeface="Calibri" panose="020F0502020204030204"/>
            </a:endParaRPr>
          </a:p>
          <a:p>
            <a:pPr>
              <a:lnSpc>
                <a:spcPct val="90000"/>
              </a:lnSpc>
              <a:spcAft>
                <a:spcPts val="600"/>
              </a:spcAft>
            </a:pPr>
            <a:r>
              <a:rPr lang="en-US" sz="2500"/>
              <a:t>                                         →MS PowerPoint 2016 (For Presentation)</a:t>
            </a:r>
            <a:endParaRPr lang="en-US" sz="2500">
              <a:cs typeface="Calibri"/>
            </a:endParaRPr>
          </a:p>
          <a:p>
            <a:pPr indent="-228600">
              <a:lnSpc>
                <a:spcPct val="90000"/>
              </a:lnSpc>
              <a:spcAft>
                <a:spcPts val="600"/>
              </a:spcAft>
              <a:buFont typeface="Arial" panose="020B0604020202020204" pitchFamily="34" charset="0"/>
              <a:buChar char="•"/>
            </a:pPr>
            <a:endParaRPr lang="en-US" sz="2500">
              <a:cs typeface="Calibri"/>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52298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1949740-4BF1-EF8D-8D22-0C6EC20BD685}"/>
              </a:ext>
            </a:extLst>
          </p:cNvPr>
          <p:cNvSpPr txBox="1"/>
          <p:nvPr/>
        </p:nvSpPr>
        <p:spPr>
          <a:xfrm>
            <a:off x="888977" y="894329"/>
            <a:ext cx="10779807" cy="393469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57150">
              <a:lnSpc>
                <a:spcPct val="90000"/>
              </a:lnSpc>
              <a:spcAft>
                <a:spcPts val="600"/>
              </a:spcAft>
            </a:pPr>
            <a:r>
              <a:rPr lang="en-US" sz="2500" b="1">
                <a:cs typeface="Calibri"/>
              </a:rPr>
              <a:t>○ Existing System: -</a:t>
            </a:r>
            <a:endParaRPr lang="en-US" sz="2500">
              <a:cs typeface="Calibri"/>
            </a:endParaRPr>
          </a:p>
          <a:p>
            <a:pPr marL="57150">
              <a:lnSpc>
                <a:spcPct val="90000"/>
              </a:lnSpc>
              <a:spcAft>
                <a:spcPts val="600"/>
              </a:spcAft>
            </a:pPr>
            <a:r>
              <a:rPr lang="en-US" sz="2500" b="1">
                <a:cs typeface="Calibri"/>
              </a:rPr>
              <a:t>                  • </a:t>
            </a:r>
            <a:r>
              <a:rPr lang="en-US" sz="2500">
                <a:cs typeface="Calibri"/>
              </a:rPr>
              <a:t>In Current System, order is done by telephone and face to face</a:t>
            </a:r>
          </a:p>
          <a:p>
            <a:pPr>
              <a:lnSpc>
                <a:spcPct val="90000"/>
              </a:lnSpc>
              <a:spcAft>
                <a:spcPts val="600"/>
              </a:spcAft>
            </a:pPr>
            <a:r>
              <a:rPr lang="en-US" sz="2500">
                <a:cs typeface="Calibri"/>
              </a:rPr>
              <a:t>                      Conversation.</a:t>
            </a:r>
          </a:p>
          <a:p>
            <a:pPr>
              <a:lnSpc>
                <a:spcPct val="90000"/>
              </a:lnSpc>
              <a:spcAft>
                <a:spcPts val="600"/>
              </a:spcAft>
            </a:pPr>
            <a:r>
              <a:rPr lang="en-US" sz="2500">
                <a:cs typeface="Calibri"/>
              </a:rPr>
              <a:t>                   • In Current system, the cost of roller is discussed over the phone,</a:t>
            </a:r>
          </a:p>
          <a:p>
            <a:pPr>
              <a:lnSpc>
                <a:spcPct val="90000"/>
              </a:lnSpc>
              <a:spcAft>
                <a:spcPts val="600"/>
              </a:spcAft>
            </a:pPr>
            <a:r>
              <a:rPr lang="en-US" sz="2500">
                <a:cs typeface="Calibri"/>
              </a:rPr>
              <a:t>                      So it is time consuming process.</a:t>
            </a:r>
          </a:p>
          <a:p>
            <a:pPr>
              <a:lnSpc>
                <a:spcPct val="90000"/>
              </a:lnSpc>
              <a:spcAft>
                <a:spcPts val="600"/>
              </a:spcAft>
            </a:pPr>
            <a:r>
              <a:rPr lang="en-US" sz="2500">
                <a:cs typeface="Calibri"/>
              </a:rPr>
              <a:t>                   • In Current System, if the customer wants any information About</a:t>
            </a:r>
          </a:p>
          <a:p>
            <a:pPr>
              <a:lnSpc>
                <a:spcPct val="90000"/>
              </a:lnSpc>
              <a:spcAft>
                <a:spcPts val="600"/>
              </a:spcAft>
            </a:pPr>
            <a:r>
              <a:rPr lang="en-US" sz="2500">
                <a:cs typeface="Calibri"/>
              </a:rPr>
              <a:t>                      Rollers so it will call. But the problem is that it not Possible for</a:t>
            </a:r>
          </a:p>
          <a:p>
            <a:pPr>
              <a:lnSpc>
                <a:spcPct val="90000"/>
              </a:lnSpc>
              <a:spcAft>
                <a:spcPts val="600"/>
              </a:spcAft>
            </a:pPr>
            <a:r>
              <a:rPr lang="en-US" sz="2500">
                <a:cs typeface="Calibri"/>
              </a:rPr>
              <a:t>                      manager to give answer of all customer.</a:t>
            </a:r>
          </a:p>
          <a:p>
            <a:pPr>
              <a:lnSpc>
                <a:spcPct val="90000"/>
              </a:lnSpc>
              <a:spcAft>
                <a:spcPts val="600"/>
              </a:spcAft>
            </a:pPr>
            <a:r>
              <a:rPr lang="en-US" sz="2500">
                <a:cs typeface="Calibri"/>
              </a:rPr>
              <a:t>                   • In current System, all rollers bill is done by the manger using bill</a:t>
            </a:r>
          </a:p>
          <a:p>
            <a:pPr>
              <a:lnSpc>
                <a:spcPct val="90000"/>
              </a:lnSpc>
              <a:spcAft>
                <a:spcPts val="600"/>
              </a:spcAft>
            </a:pPr>
            <a:r>
              <a:rPr lang="en-US" sz="2500">
                <a:cs typeface="Calibri"/>
              </a:rPr>
              <a:t>                      Book.</a:t>
            </a:r>
          </a:p>
          <a:p>
            <a:pPr>
              <a:lnSpc>
                <a:spcPct val="90000"/>
              </a:lnSpc>
              <a:spcAft>
                <a:spcPts val="600"/>
              </a:spcAft>
            </a:pPr>
            <a:r>
              <a:rPr lang="en-US" sz="2500">
                <a:cs typeface="Calibri"/>
              </a:rPr>
              <a:t>                   • Currently no structured stock management facility is available </a:t>
            </a:r>
          </a:p>
          <a:p>
            <a:pPr>
              <a:lnSpc>
                <a:spcPct val="90000"/>
              </a:lnSpc>
              <a:spcAft>
                <a:spcPts val="600"/>
              </a:spcAft>
            </a:pPr>
            <a:r>
              <a:rPr lang="en-US" sz="2500">
                <a:cs typeface="Calibri"/>
              </a:rPr>
              <a:t>                       with company.</a:t>
            </a:r>
          </a:p>
          <a:p>
            <a:pPr>
              <a:lnSpc>
                <a:spcPct val="90000"/>
              </a:lnSpc>
              <a:spcAft>
                <a:spcPts val="600"/>
              </a:spcAft>
            </a:pPr>
            <a:r>
              <a:rPr lang="en-US" sz="2500"/>
              <a:t>                              </a:t>
            </a:r>
            <a:endParaRPr lang="en-US" sz="2500">
              <a:cs typeface="Calibri"/>
            </a:endParaRPr>
          </a:p>
          <a:p>
            <a:pPr>
              <a:lnSpc>
                <a:spcPct val="90000"/>
              </a:lnSpc>
              <a:spcAft>
                <a:spcPts val="600"/>
              </a:spcAft>
            </a:pPr>
            <a:r>
              <a:rPr lang="en-US" sz="2500"/>
              <a:t>                      </a:t>
            </a:r>
            <a:endParaRPr lang="en-US" sz="2500">
              <a:cs typeface="Calibri"/>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2146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8C68E5A-120C-9A80-CB3A-03A199880E16}"/>
              </a:ext>
            </a:extLst>
          </p:cNvPr>
          <p:cNvSpPr txBox="1"/>
          <p:nvPr/>
        </p:nvSpPr>
        <p:spPr>
          <a:xfrm>
            <a:off x="1283130" y="1283610"/>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marL="228600">
              <a:lnSpc>
                <a:spcPct val="90000"/>
              </a:lnSpc>
              <a:spcAft>
                <a:spcPts val="600"/>
              </a:spcAft>
            </a:pPr>
            <a:r>
              <a:rPr lang="en-US" sz="2500" b="1"/>
              <a:t>○ Proposed System: -</a:t>
            </a:r>
            <a:endParaRPr lang="en-US" sz="2500">
              <a:cs typeface="Calibri" panose="020F0502020204030204"/>
            </a:endParaRPr>
          </a:p>
          <a:p>
            <a:pPr>
              <a:lnSpc>
                <a:spcPct val="90000"/>
              </a:lnSpc>
              <a:spcAft>
                <a:spcPts val="600"/>
              </a:spcAft>
            </a:pPr>
            <a:r>
              <a:rPr lang="en-US" sz="2500" b="1"/>
              <a:t>                       • </a:t>
            </a:r>
            <a:r>
              <a:rPr lang="en-US" sz="2500"/>
              <a:t>The proposed system is web-based application and it </a:t>
            </a:r>
            <a:endParaRPr lang="en-US" sz="2500">
              <a:cs typeface="Calibri"/>
            </a:endParaRPr>
          </a:p>
          <a:p>
            <a:pPr>
              <a:lnSpc>
                <a:spcPct val="90000"/>
              </a:lnSpc>
              <a:spcAft>
                <a:spcPts val="600"/>
              </a:spcAft>
            </a:pPr>
            <a:r>
              <a:rPr lang="en-US" sz="2500"/>
              <a:t>                           Maintains activities of roller production &amp; selling</a:t>
            </a:r>
            <a:endParaRPr lang="en-US" sz="2500">
              <a:cs typeface="Calibri" panose="020F0502020204030204"/>
            </a:endParaRPr>
          </a:p>
          <a:p>
            <a:pPr>
              <a:lnSpc>
                <a:spcPct val="90000"/>
              </a:lnSpc>
              <a:spcAft>
                <a:spcPts val="600"/>
              </a:spcAft>
            </a:pPr>
            <a:r>
              <a:rPr lang="en-US" sz="2500"/>
              <a:t>                           Management.</a:t>
            </a:r>
            <a:endParaRPr lang="en-US" sz="2500">
              <a:cs typeface="Calibri" panose="020F0502020204030204"/>
            </a:endParaRPr>
          </a:p>
          <a:p>
            <a:pPr>
              <a:lnSpc>
                <a:spcPct val="90000"/>
              </a:lnSpc>
              <a:spcAft>
                <a:spcPts val="600"/>
              </a:spcAft>
            </a:pPr>
            <a:r>
              <a:rPr lang="en-US" sz="2500"/>
              <a:t>                        • In the proposed system, the customer can get the price </a:t>
            </a:r>
            <a:endParaRPr lang="en-US" sz="2500">
              <a:cs typeface="Calibri" panose="020F0502020204030204"/>
            </a:endParaRPr>
          </a:p>
          <a:p>
            <a:pPr>
              <a:lnSpc>
                <a:spcPct val="90000"/>
              </a:lnSpc>
              <a:spcAft>
                <a:spcPts val="600"/>
              </a:spcAft>
            </a:pPr>
            <a:r>
              <a:rPr lang="en-US" sz="2500"/>
              <a:t>                           Of the roller with help of a cost calculator.</a:t>
            </a:r>
            <a:endParaRPr lang="en-US" sz="2500">
              <a:cs typeface="Calibri" panose="020F0502020204030204"/>
            </a:endParaRPr>
          </a:p>
          <a:p>
            <a:pPr>
              <a:lnSpc>
                <a:spcPct val="90000"/>
              </a:lnSpc>
              <a:spcAft>
                <a:spcPts val="600"/>
              </a:spcAft>
            </a:pPr>
            <a:r>
              <a:rPr lang="en-US" sz="2500"/>
              <a:t>                        • In the proposed system, customer can get information</a:t>
            </a:r>
            <a:endParaRPr lang="en-US" sz="2500">
              <a:cs typeface="Calibri" panose="020F0502020204030204"/>
            </a:endParaRPr>
          </a:p>
          <a:p>
            <a:pPr>
              <a:lnSpc>
                <a:spcPct val="90000"/>
              </a:lnSpc>
              <a:spcAft>
                <a:spcPts val="600"/>
              </a:spcAft>
            </a:pPr>
            <a:r>
              <a:rPr lang="en-US" sz="2500"/>
              <a:t>                           Of roller in our web application.</a:t>
            </a:r>
            <a:endParaRPr lang="en-US" sz="2500">
              <a:cs typeface="Calibri" panose="020F0502020204030204"/>
            </a:endParaRPr>
          </a:p>
          <a:p>
            <a:pPr>
              <a:lnSpc>
                <a:spcPct val="90000"/>
              </a:lnSpc>
              <a:spcAft>
                <a:spcPts val="600"/>
              </a:spcAft>
            </a:pPr>
            <a:r>
              <a:rPr lang="en-US" sz="2500"/>
              <a:t>                        • The system manages all the bill and payment of the</a:t>
            </a:r>
            <a:endParaRPr lang="en-US" sz="2500">
              <a:cs typeface="Calibri" panose="020F0502020204030204"/>
            </a:endParaRPr>
          </a:p>
          <a:p>
            <a:pPr>
              <a:lnSpc>
                <a:spcPct val="90000"/>
              </a:lnSpc>
              <a:spcAft>
                <a:spcPts val="600"/>
              </a:spcAft>
            </a:pPr>
            <a:r>
              <a:rPr lang="en-US" sz="2500"/>
              <a:t>                           Customer easily.</a:t>
            </a:r>
            <a:endParaRPr lang="en-US" sz="2500">
              <a:cs typeface="Calibri" panose="020F0502020204030204"/>
            </a:endParaRPr>
          </a:p>
          <a:p>
            <a:pPr>
              <a:lnSpc>
                <a:spcPct val="90000"/>
              </a:lnSpc>
              <a:spcAft>
                <a:spcPts val="600"/>
              </a:spcAft>
            </a:pPr>
            <a:r>
              <a:rPr lang="en-US" sz="2500"/>
              <a:t>                        • Inventory will be managed easily by system. </a:t>
            </a:r>
            <a:endParaRPr lang="en-US" sz="2500">
              <a:cs typeface="Calibri" panose="020F0502020204030204"/>
            </a:endParaRPr>
          </a:p>
        </p:txBody>
      </p:sp>
      <p:sp>
        <p:nvSpPr>
          <p:cNvPr id="6"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04230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F759367-EBD1-5AD8-D6CB-737915C675F4}"/>
              </a:ext>
            </a:extLst>
          </p:cNvPr>
          <p:cNvSpPr txBox="1"/>
          <p:nvPr/>
        </p:nvSpPr>
        <p:spPr>
          <a:xfrm>
            <a:off x="3105206" y="1413899"/>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0" indent="-342900">
              <a:lnSpc>
                <a:spcPct val="90000"/>
              </a:lnSpc>
              <a:spcAft>
                <a:spcPts val="600"/>
              </a:spcAft>
              <a:buFont typeface="Wingdings"/>
              <a:buChar char="Ø"/>
            </a:pPr>
            <a:r>
              <a:rPr lang="en-US" sz="2500" b="1"/>
              <a:t>List Of Modules: -</a:t>
            </a:r>
            <a:r>
              <a:rPr lang="en-US" sz="2500"/>
              <a:t> </a:t>
            </a:r>
            <a:endParaRPr lang="en-US" sz="2500">
              <a:cs typeface="Calibri"/>
            </a:endParaRPr>
          </a:p>
          <a:p>
            <a:pPr indent="-228600">
              <a:lnSpc>
                <a:spcPct val="90000"/>
              </a:lnSpc>
              <a:spcAft>
                <a:spcPts val="600"/>
              </a:spcAft>
              <a:buFont typeface="Arial" panose="020B0604020202020204" pitchFamily="34" charset="0"/>
              <a:buChar char="•"/>
            </a:pPr>
            <a:endParaRPr lang="en-US" sz="2500">
              <a:cs typeface="Calibri"/>
            </a:endParaRPr>
          </a:p>
          <a:p>
            <a:pPr marL="571500" indent="-342900">
              <a:lnSpc>
                <a:spcPct val="90000"/>
              </a:lnSpc>
              <a:spcAft>
                <a:spcPts val="600"/>
              </a:spcAft>
              <a:buFont typeface="Wingdings"/>
              <a:buChar char="v"/>
            </a:pPr>
            <a:r>
              <a:rPr lang="en-US" sz="2500"/>
              <a:t>Customer Management </a:t>
            </a:r>
            <a:endParaRPr lang="en-US" sz="2500">
              <a:cs typeface="Calibri" panose="020F0502020204030204"/>
            </a:endParaRPr>
          </a:p>
          <a:p>
            <a:pPr marL="571500" indent="-342900">
              <a:lnSpc>
                <a:spcPct val="90000"/>
              </a:lnSpc>
              <a:spcAft>
                <a:spcPts val="600"/>
              </a:spcAft>
              <a:buFont typeface="Wingdings"/>
              <a:buChar char="v"/>
            </a:pPr>
            <a:r>
              <a:rPr lang="en-US" sz="2500"/>
              <a:t>Product Management</a:t>
            </a:r>
            <a:endParaRPr lang="en-US" sz="2500">
              <a:cs typeface="Calibri" panose="020F0502020204030204"/>
            </a:endParaRPr>
          </a:p>
          <a:p>
            <a:pPr marL="571500" indent="-342900">
              <a:lnSpc>
                <a:spcPct val="90000"/>
              </a:lnSpc>
              <a:spcAft>
                <a:spcPts val="600"/>
              </a:spcAft>
              <a:buFont typeface="Wingdings"/>
              <a:buChar char="v"/>
            </a:pPr>
            <a:r>
              <a:rPr lang="en-US" sz="2500"/>
              <a:t>Inventory Management</a:t>
            </a:r>
            <a:endParaRPr lang="en-US" sz="2500">
              <a:cs typeface="Calibri" panose="020F0502020204030204"/>
            </a:endParaRPr>
          </a:p>
          <a:p>
            <a:pPr marL="571500" indent="-342900">
              <a:lnSpc>
                <a:spcPct val="90000"/>
              </a:lnSpc>
              <a:spcAft>
                <a:spcPts val="600"/>
              </a:spcAft>
              <a:buFont typeface="Wingdings"/>
              <a:buChar char="v"/>
            </a:pPr>
            <a:r>
              <a:rPr lang="en-US" sz="2500">
                <a:cs typeface="Calibri" panose="020F0502020204030204"/>
              </a:rPr>
              <a:t>Employee Management</a:t>
            </a:r>
            <a:endParaRPr lang="en-US" sz="2500"/>
          </a:p>
          <a:p>
            <a:pPr marL="571500" indent="-342900">
              <a:lnSpc>
                <a:spcPct val="90000"/>
              </a:lnSpc>
              <a:spcAft>
                <a:spcPts val="600"/>
              </a:spcAft>
              <a:buFont typeface="Wingdings"/>
              <a:buChar char="v"/>
            </a:pPr>
            <a:r>
              <a:rPr lang="en-US" sz="2500"/>
              <a:t>Order Management</a:t>
            </a:r>
            <a:endParaRPr lang="en-US" sz="2500">
              <a:cs typeface="Calibri" panose="020F0502020204030204"/>
            </a:endParaRPr>
          </a:p>
          <a:p>
            <a:pPr marL="571500" indent="-342900">
              <a:lnSpc>
                <a:spcPct val="90000"/>
              </a:lnSpc>
              <a:spcAft>
                <a:spcPts val="600"/>
              </a:spcAft>
              <a:buFont typeface="Wingdings"/>
              <a:buChar char="v"/>
            </a:pPr>
            <a:r>
              <a:rPr lang="en-US" sz="2500"/>
              <a:t>Billing and payment Management</a:t>
            </a:r>
            <a:endParaRPr lang="en-US" sz="2500">
              <a:cs typeface="Calibri"/>
            </a:endParaRPr>
          </a:p>
          <a:p>
            <a:pPr marL="457200" indent="-228600">
              <a:lnSpc>
                <a:spcPct val="90000"/>
              </a:lnSpc>
              <a:spcAft>
                <a:spcPts val="600"/>
              </a:spcAft>
              <a:buFont typeface="Arial" panose="020B0604020202020204" pitchFamily="34" charset="0"/>
              <a:buChar char="•"/>
            </a:pPr>
            <a:endParaRPr lang="en-US" sz="2500">
              <a:cs typeface="Calibri"/>
            </a:endParaRPr>
          </a:p>
          <a:p>
            <a:pPr marL="285750" indent="-228600">
              <a:lnSpc>
                <a:spcPct val="90000"/>
              </a:lnSpc>
              <a:spcAft>
                <a:spcPts val="600"/>
              </a:spcAft>
              <a:buFont typeface="Arial" panose="020B0604020202020204" pitchFamily="34" charset="0"/>
              <a:buChar char="•"/>
            </a:pPr>
            <a:endParaRPr lang="en-US" sz="2500">
              <a:cs typeface="Calibri"/>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32665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5E53793-F801-F0C4-18CF-872B9953B77D}"/>
              </a:ext>
            </a:extLst>
          </p:cNvPr>
          <p:cNvSpPr txBox="1"/>
          <p:nvPr/>
        </p:nvSpPr>
        <p:spPr>
          <a:xfrm>
            <a:off x="1474221" y="1718681"/>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342900" indent="-342900">
              <a:lnSpc>
                <a:spcPct val="90000"/>
              </a:lnSpc>
              <a:spcAft>
                <a:spcPts val="600"/>
              </a:spcAft>
              <a:buFont typeface="Wingdings"/>
              <a:buChar char="Ø"/>
            </a:pPr>
            <a:r>
              <a:rPr lang="en-US" sz="2000" b="1"/>
              <a:t> </a:t>
            </a:r>
            <a:r>
              <a:rPr lang="en-US" sz="2500" b="1"/>
              <a:t>Brief Description of Each Module: -</a:t>
            </a:r>
            <a:r>
              <a:rPr lang="en-US" sz="2500"/>
              <a:t>  </a:t>
            </a:r>
            <a:endParaRPr lang="en-US" sz="2500">
              <a:cs typeface="Calibri" panose="020F0502020204030204"/>
            </a:endParaRPr>
          </a:p>
          <a:p>
            <a:pPr lvl="0">
              <a:lnSpc>
                <a:spcPct val="90000"/>
              </a:lnSpc>
              <a:spcAft>
                <a:spcPts val="600"/>
              </a:spcAft>
            </a:pPr>
            <a:r>
              <a:rPr lang="en-US" sz="2500"/>
              <a:t>   </a:t>
            </a:r>
            <a:endParaRPr lang="en-US" sz="2500">
              <a:cs typeface="Calibri" panose="020F0502020204030204"/>
            </a:endParaRPr>
          </a:p>
          <a:p>
            <a:pPr>
              <a:lnSpc>
                <a:spcPct val="90000"/>
              </a:lnSpc>
              <a:spcAft>
                <a:spcPts val="600"/>
              </a:spcAft>
            </a:pPr>
            <a:r>
              <a:rPr lang="en-US" sz="2500"/>
              <a:t>        </a:t>
            </a:r>
            <a:r>
              <a:rPr lang="en-US" sz="2500" b="1"/>
              <a:t>1.Customer Management: -</a:t>
            </a:r>
            <a:r>
              <a:rPr lang="en-US" sz="2500"/>
              <a:t> </a:t>
            </a:r>
            <a:endParaRPr lang="en-US" sz="2500">
              <a:cs typeface="Calibri" panose="020F0502020204030204"/>
            </a:endParaRPr>
          </a:p>
          <a:p>
            <a:pPr>
              <a:lnSpc>
                <a:spcPct val="90000"/>
              </a:lnSpc>
              <a:spcAft>
                <a:spcPts val="600"/>
              </a:spcAft>
            </a:pPr>
            <a:r>
              <a:rPr lang="en-US" sz="2500"/>
              <a:t>                                                           In customer management modules </a:t>
            </a:r>
            <a:endParaRPr lang="en-US" sz="2500">
              <a:cs typeface="Calibri" panose="020F0502020204030204"/>
            </a:endParaRPr>
          </a:p>
          <a:p>
            <a:pPr>
              <a:lnSpc>
                <a:spcPct val="90000"/>
              </a:lnSpc>
              <a:spcAft>
                <a:spcPts val="600"/>
              </a:spcAft>
            </a:pPr>
            <a:r>
              <a:rPr lang="en-US" sz="2500"/>
              <a:t>            Customer Register with the system. Customer can manage</a:t>
            </a:r>
            <a:endParaRPr lang="en-US" sz="2500">
              <a:cs typeface="Calibri" panose="020F0502020204030204"/>
            </a:endParaRPr>
          </a:p>
          <a:p>
            <a:pPr>
              <a:lnSpc>
                <a:spcPct val="90000"/>
              </a:lnSpc>
              <a:spcAft>
                <a:spcPts val="600"/>
              </a:spcAft>
            </a:pPr>
            <a:r>
              <a:rPr lang="en-US" sz="2500"/>
              <a:t>            own Company Profile And Login Detail.</a:t>
            </a:r>
            <a:endParaRPr lang="en-US" sz="2500">
              <a:cs typeface="Calibri" panose="020F0502020204030204"/>
            </a:endParaRPr>
          </a:p>
          <a:p>
            <a:pPr>
              <a:lnSpc>
                <a:spcPct val="90000"/>
              </a:lnSpc>
              <a:spcAft>
                <a:spcPts val="600"/>
              </a:spcAft>
            </a:pPr>
            <a:r>
              <a:rPr lang="en-US" sz="2500"/>
              <a:t>                                Admin can view and manage company/customer details.</a:t>
            </a:r>
            <a:endParaRPr lang="en-US" sz="2500">
              <a:cs typeface="Calibri" panose="020F0502020204030204"/>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99775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01385F-3C55-EDFB-ECAD-2C00FDE99447}"/>
              </a:ext>
            </a:extLst>
          </p:cNvPr>
          <p:cNvSpPr txBox="1"/>
          <p:nvPr/>
        </p:nvSpPr>
        <p:spPr>
          <a:xfrm>
            <a:off x="1507734" y="1327412"/>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500" b="1"/>
              <a:t>2.Product Management: -</a:t>
            </a:r>
            <a:endParaRPr lang="en-US" sz="2500">
              <a:cs typeface="Calibri" panose="020F0502020204030204"/>
            </a:endParaRPr>
          </a:p>
          <a:p>
            <a:pPr>
              <a:lnSpc>
                <a:spcPct val="90000"/>
              </a:lnSpc>
              <a:spcAft>
                <a:spcPts val="600"/>
              </a:spcAft>
            </a:pPr>
            <a:r>
              <a:rPr lang="en-US" sz="2500"/>
              <a:t>                                                In this module we will provide facilities to </a:t>
            </a:r>
            <a:endParaRPr lang="en-US" sz="2500">
              <a:cs typeface="Calibri"/>
            </a:endParaRPr>
          </a:p>
          <a:p>
            <a:pPr>
              <a:lnSpc>
                <a:spcPct val="90000"/>
              </a:lnSpc>
              <a:spcAft>
                <a:spcPts val="600"/>
              </a:spcAft>
            </a:pPr>
            <a:r>
              <a:rPr lang="en-US" sz="2500"/>
              <a:t>            admin to manage different products &amp; charges for ready product</a:t>
            </a:r>
            <a:endParaRPr lang="en-US" sz="2500">
              <a:cs typeface="Calibri" panose="020F0502020204030204"/>
            </a:endParaRPr>
          </a:p>
          <a:p>
            <a:pPr>
              <a:lnSpc>
                <a:spcPct val="90000"/>
              </a:lnSpc>
              <a:spcAft>
                <a:spcPts val="600"/>
              </a:spcAft>
            </a:pPr>
            <a:r>
              <a:rPr lang="en-US" sz="2500"/>
              <a:t>            And job work.</a:t>
            </a:r>
            <a:endParaRPr lang="en-US" sz="2500">
              <a:cs typeface="Calibri" panose="020F0502020204030204"/>
            </a:endParaRPr>
          </a:p>
          <a:p>
            <a:pPr>
              <a:lnSpc>
                <a:spcPct val="90000"/>
              </a:lnSpc>
              <a:spcAft>
                <a:spcPts val="600"/>
              </a:spcAft>
            </a:pPr>
            <a:r>
              <a:rPr lang="en-US" sz="2500"/>
              <a:t>                       Different type of rollers like ebonite &amp; rubber roller hard</a:t>
            </a:r>
            <a:endParaRPr lang="en-US" sz="2500">
              <a:cs typeface="Calibri" panose="020F0502020204030204"/>
            </a:endParaRPr>
          </a:p>
          <a:p>
            <a:pPr>
              <a:lnSpc>
                <a:spcPct val="90000"/>
              </a:lnSpc>
              <a:spcAft>
                <a:spcPts val="600"/>
              </a:spcAft>
            </a:pPr>
            <a:r>
              <a:rPr lang="en-US" sz="2500"/>
              <a:t>            Crome roller </a:t>
            </a:r>
            <a:r>
              <a:rPr lang="en-US" sz="2500">
                <a:ea typeface="+mn-lt"/>
                <a:cs typeface="+mn-lt"/>
              </a:rPr>
              <a:t>Aluminum</a:t>
            </a:r>
            <a:r>
              <a:rPr lang="en-US" sz="2500"/>
              <a:t> roller is manufactured or job worked </a:t>
            </a:r>
            <a:endParaRPr lang="en-US" sz="2500">
              <a:cs typeface="Calibri" panose="020F0502020204030204"/>
            </a:endParaRPr>
          </a:p>
          <a:p>
            <a:pPr>
              <a:lnSpc>
                <a:spcPct val="90000"/>
              </a:lnSpc>
              <a:spcAft>
                <a:spcPts val="600"/>
              </a:spcAft>
            </a:pPr>
            <a:r>
              <a:rPr lang="en-US" sz="2500"/>
              <a:t>            By Company. Charges of different rollers are based on type, length</a:t>
            </a:r>
            <a:endParaRPr lang="en-US" sz="2500">
              <a:cs typeface="Calibri" panose="020F0502020204030204"/>
            </a:endParaRPr>
          </a:p>
          <a:p>
            <a:pPr>
              <a:lnSpc>
                <a:spcPct val="90000"/>
              </a:lnSpc>
              <a:spcAft>
                <a:spcPts val="600"/>
              </a:spcAft>
            </a:pPr>
            <a:r>
              <a:rPr lang="en-US" sz="2500"/>
              <a:t>            Diameter etc.</a:t>
            </a:r>
            <a:endParaRPr lang="en-US" sz="2500">
              <a:cs typeface="Calibri" panose="020F0502020204030204"/>
            </a:endParaRPr>
          </a:p>
          <a:p>
            <a:pPr>
              <a:lnSpc>
                <a:spcPct val="90000"/>
              </a:lnSpc>
              <a:spcAft>
                <a:spcPts val="600"/>
              </a:spcAft>
            </a:pPr>
            <a:r>
              <a:rPr lang="en-US" sz="2500"/>
              <a:t>                       Charges for that will be managed by admin.</a:t>
            </a:r>
            <a:endParaRPr lang="en-US" sz="2500">
              <a:cs typeface="Calibri" panose="020F0502020204030204"/>
            </a:endParaRPr>
          </a:p>
          <a:p>
            <a:pPr>
              <a:lnSpc>
                <a:spcPct val="90000"/>
              </a:lnSpc>
              <a:spcAft>
                <a:spcPts val="600"/>
              </a:spcAft>
            </a:pPr>
            <a:r>
              <a:rPr lang="en-US" sz="2500"/>
              <a:t>                          </a:t>
            </a:r>
            <a:endParaRPr lang="en-US" sz="2500">
              <a:cs typeface="Calibri" panose="020F0502020204030204"/>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42941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6939550-B039-37EA-9B93-E23FE883260F}"/>
              </a:ext>
            </a:extLst>
          </p:cNvPr>
          <p:cNvSpPr txBox="1"/>
          <p:nvPr/>
        </p:nvSpPr>
        <p:spPr>
          <a:xfrm>
            <a:off x="968317" y="859017"/>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Aft>
                <a:spcPts val="600"/>
              </a:spcAft>
            </a:pPr>
            <a:r>
              <a:rPr lang="en-US" sz="2500" b="1"/>
              <a:t>3.Inventory Management: -</a:t>
            </a:r>
            <a:endParaRPr lang="en-US" sz="2500">
              <a:cs typeface="Calibri" panose="020F0502020204030204"/>
            </a:endParaRPr>
          </a:p>
          <a:p>
            <a:pPr>
              <a:lnSpc>
                <a:spcPct val="90000"/>
              </a:lnSpc>
              <a:spcAft>
                <a:spcPts val="600"/>
              </a:spcAft>
            </a:pPr>
            <a:r>
              <a:rPr lang="en-US" sz="2500"/>
              <a:t>                                                   Admin will manage supplier &amp; raw material.</a:t>
            </a:r>
            <a:endParaRPr lang="en-US" sz="2500">
              <a:cs typeface="Calibri" panose="020F0502020204030204"/>
            </a:endParaRPr>
          </a:p>
          <a:p>
            <a:pPr>
              <a:lnSpc>
                <a:spcPct val="90000"/>
              </a:lnSpc>
              <a:spcAft>
                <a:spcPts val="600"/>
              </a:spcAft>
            </a:pPr>
            <a:r>
              <a:rPr lang="en-US" sz="2500"/>
              <a:t>              Admin will manage purchase of raw material as per requirement </a:t>
            </a:r>
            <a:endParaRPr lang="en-US" sz="2500">
              <a:cs typeface="Calibri" panose="020F0502020204030204"/>
            </a:endParaRPr>
          </a:p>
          <a:p>
            <a:pPr>
              <a:lnSpc>
                <a:spcPct val="90000"/>
              </a:lnSpc>
              <a:spcAft>
                <a:spcPts val="600"/>
              </a:spcAft>
            </a:pPr>
            <a:r>
              <a:rPr lang="en-US" sz="2500"/>
              <a:t>              Like  MS, SS, </a:t>
            </a:r>
            <a:r>
              <a:rPr lang="en-US" sz="2500">
                <a:ea typeface="+mn-lt"/>
                <a:cs typeface="+mn-lt"/>
              </a:rPr>
              <a:t>Aluminum</a:t>
            </a:r>
            <a:r>
              <a:rPr lang="en-US" sz="2500"/>
              <a:t>, Crome.</a:t>
            </a:r>
            <a:endParaRPr lang="en-US" sz="2500">
              <a:cs typeface="Calibri" panose="020F0502020204030204"/>
            </a:endParaRPr>
          </a:p>
          <a:p>
            <a:pPr>
              <a:lnSpc>
                <a:spcPct val="90000"/>
              </a:lnSpc>
              <a:spcAft>
                <a:spcPts val="600"/>
              </a:spcAft>
            </a:pPr>
            <a:r>
              <a:rPr lang="en-US" sz="2500"/>
              <a:t>                         Admin will manage use of raw material in different product.</a:t>
            </a:r>
            <a:endParaRPr lang="en-US" sz="2500">
              <a:cs typeface="Calibri" panose="020F0502020204030204"/>
            </a:endParaRPr>
          </a:p>
          <a:p>
            <a:pPr>
              <a:lnSpc>
                <a:spcPct val="90000"/>
              </a:lnSpc>
              <a:spcAft>
                <a:spcPts val="600"/>
              </a:spcAft>
            </a:pPr>
            <a:r>
              <a:rPr lang="en-US" sz="2500"/>
              <a:t>              Sell order will be done by customers.</a:t>
            </a:r>
            <a:endParaRPr lang="en-US" sz="2500">
              <a:cs typeface="Calibri" panose="020F0502020204030204"/>
            </a:endParaRPr>
          </a:p>
          <a:p>
            <a:pPr>
              <a:lnSpc>
                <a:spcPct val="90000"/>
              </a:lnSpc>
              <a:spcAft>
                <a:spcPts val="600"/>
              </a:spcAft>
            </a:pPr>
            <a:r>
              <a:rPr lang="en-US" sz="2500"/>
              <a:t>                         </a:t>
            </a:r>
            <a:r>
              <a:rPr lang="en-US" sz="2500">
                <a:ea typeface="+mn-lt"/>
                <a:cs typeface="+mn-lt"/>
              </a:rPr>
              <a:t>Admin will Manage the sell and production of roller.</a:t>
            </a:r>
            <a:endParaRPr lang="en-US" sz="2500">
              <a:cs typeface="Calibri" panose="020F0502020204030204"/>
            </a:endParaRPr>
          </a:p>
          <a:p>
            <a:pPr>
              <a:lnSpc>
                <a:spcPct val="90000"/>
              </a:lnSpc>
              <a:spcAft>
                <a:spcPts val="600"/>
              </a:spcAft>
            </a:pPr>
            <a:r>
              <a:rPr lang="en-US" sz="2500">
                <a:cs typeface="Calibri" panose="020F0502020204030204"/>
              </a:rPr>
              <a:t>                         Admin will manage the purchase of raw material as per </a:t>
            </a:r>
          </a:p>
          <a:p>
            <a:pPr>
              <a:lnSpc>
                <a:spcPct val="90000"/>
              </a:lnSpc>
              <a:spcAft>
                <a:spcPts val="600"/>
              </a:spcAft>
            </a:pPr>
            <a:r>
              <a:rPr lang="en-US" sz="2500">
                <a:cs typeface="Calibri" panose="020F0502020204030204"/>
              </a:rPr>
              <a:t>              The Requirement of the rollers production and sell order.</a:t>
            </a:r>
            <a:endParaRPr lang="en-US" sz="2500"/>
          </a:p>
          <a:p>
            <a:pPr>
              <a:lnSpc>
                <a:spcPct val="90000"/>
              </a:lnSpc>
              <a:spcAft>
                <a:spcPts val="600"/>
              </a:spcAft>
            </a:pPr>
            <a:r>
              <a:rPr lang="en-US" sz="2500">
                <a:cs typeface="Calibri"/>
              </a:rPr>
              <a:t>                          </a:t>
            </a:r>
            <a:r>
              <a:rPr lang="en-US" sz="2500">
                <a:ea typeface="+mn-lt"/>
                <a:cs typeface="+mn-lt"/>
              </a:rPr>
              <a:t>Stock of raw material &amp; product will be managed by the </a:t>
            </a:r>
          </a:p>
          <a:p>
            <a:pPr>
              <a:lnSpc>
                <a:spcPct val="90000"/>
              </a:lnSpc>
              <a:spcAft>
                <a:spcPts val="600"/>
              </a:spcAft>
            </a:pPr>
            <a:r>
              <a:rPr lang="en-US" sz="2500">
                <a:ea typeface="+mn-lt"/>
                <a:cs typeface="+mn-lt"/>
              </a:rPr>
              <a:t>               System as per transactions.</a:t>
            </a:r>
          </a:p>
          <a:p>
            <a:pPr>
              <a:lnSpc>
                <a:spcPct val="90000"/>
              </a:lnSpc>
              <a:spcAft>
                <a:spcPts val="600"/>
              </a:spcAft>
            </a:pPr>
            <a:endParaRPr lang="en-US" sz="2500">
              <a:cs typeface="Calibri"/>
            </a:endParaRPr>
          </a:p>
          <a:p>
            <a:pPr>
              <a:lnSpc>
                <a:spcPct val="90000"/>
              </a:lnSpc>
              <a:spcAft>
                <a:spcPts val="600"/>
              </a:spcAft>
            </a:pPr>
            <a:r>
              <a:rPr lang="en-US" sz="2500"/>
              <a:t>                         </a:t>
            </a:r>
            <a:endParaRPr lang="en-US" sz="2500">
              <a:cs typeface="Calibri" panose="020F0502020204030204"/>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03564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F9A45A-0932-4DF4-8FB0-56E8A3BB1ED9}"/>
              </a:ext>
            </a:extLst>
          </p:cNvPr>
          <p:cNvSpPr>
            <a:spLocks noGrp="1"/>
          </p:cNvSpPr>
          <p:nvPr>
            <p:ph type="title"/>
          </p:nvPr>
        </p:nvSpPr>
        <p:spPr>
          <a:xfrm>
            <a:off x="1115553" y="3125763"/>
            <a:ext cx="9946944" cy="2500788"/>
          </a:xfrm>
        </p:spPr>
        <p:txBody>
          <a:bodyPr>
            <a:normAutofit fontScale="90000"/>
          </a:bodyPr>
          <a:lstStyle/>
          <a:p>
            <a:r>
              <a:rPr lang="en-GB" sz="2500" b="1">
                <a:latin typeface="Calibri"/>
                <a:cs typeface="Calibri Light"/>
              </a:rPr>
              <a:t>4.</a:t>
            </a:r>
            <a:r>
              <a:rPr lang="en-US" sz="2500" b="1">
                <a:latin typeface="Calibri"/>
                <a:ea typeface="+mj-lt"/>
                <a:cs typeface="+mj-lt"/>
              </a:rPr>
              <a:t>Employee Management:-</a:t>
            </a:r>
            <a:br>
              <a:rPr lang="en-US" sz="2500" b="1">
                <a:latin typeface="Calibri"/>
                <a:ea typeface="+mj-lt"/>
                <a:cs typeface="+mj-lt"/>
              </a:rPr>
            </a:br>
            <a:r>
              <a:rPr lang="en-US" sz="2500" b="1">
                <a:latin typeface="Calibri"/>
                <a:ea typeface="+mj-lt"/>
                <a:cs typeface="+mj-lt"/>
              </a:rPr>
              <a:t>                                                  </a:t>
            </a:r>
            <a:r>
              <a:rPr lang="en-US" sz="2800" b="1">
                <a:latin typeface="Calibri"/>
                <a:ea typeface="+mj-lt"/>
                <a:cs typeface="+mj-lt"/>
              </a:rPr>
              <a:t> </a:t>
            </a:r>
            <a:r>
              <a:rPr lang="en-US" sz="2800">
                <a:latin typeface="Calibri"/>
                <a:ea typeface="+mj-lt"/>
                <a:cs typeface="Calibri"/>
              </a:rPr>
              <a:t>Admin Will give the production work or job work to the employee .As per the customer placed order.</a:t>
            </a:r>
            <a:br>
              <a:rPr lang="en-US" sz="2800">
                <a:latin typeface="Calibri"/>
                <a:ea typeface="+mj-lt"/>
                <a:cs typeface="Calibri"/>
              </a:rPr>
            </a:br>
            <a:r>
              <a:rPr lang="en-US" sz="2800">
                <a:latin typeface="Calibri"/>
                <a:ea typeface="+mj-lt"/>
                <a:cs typeface="Calibri"/>
              </a:rPr>
              <a:t>            And then after the production work or job work order is done .The employee will hand over the complete work to the admin.</a:t>
            </a:r>
            <a:br>
              <a:rPr lang="en-US" sz="2800">
                <a:latin typeface="Calibri"/>
                <a:ea typeface="+mj-lt"/>
                <a:cs typeface="Calibri"/>
              </a:rPr>
            </a:br>
            <a:r>
              <a:rPr lang="en-US" sz="2500">
                <a:latin typeface="Calibri"/>
                <a:ea typeface="+mj-lt"/>
                <a:cs typeface="Calibri"/>
              </a:rPr>
              <a:t> </a:t>
            </a:r>
            <a:br>
              <a:rPr lang="en-US" sz="2500">
                <a:latin typeface="Calibri"/>
                <a:ea typeface="+mj-lt"/>
                <a:cs typeface="Calibri"/>
              </a:rPr>
            </a:br>
            <a:r>
              <a:rPr lang="en-US" sz="2500">
                <a:latin typeface="Calibri"/>
                <a:ea typeface="+mj-lt"/>
                <a:cs typeface="Calibri"/>
              </a:rPr>
              <a:t> </a:t>
            </a:r>
            <a:br>
              <a:rPr lang="en-US" sz="2500">
                <a:latin typeface="Calibri"/>
                <a:ea typeface="+mj-lt"/>
                <a:cs typeface="Calibri"/>
              </a:rPr>
            </a:br>
            <a:r>
              <a:rPr lang="en-US" sz="2500">
                <a:latin typeface="Calibri"/>
                <a:ea typeface="+mj-lt"/>
                <a:cs typeface="Calibri"/>
              </a:rPr>
              <a:t>   </a:t>
            </a:r>
            <a:br>
              <a:rPr lang="en-US" sz="2500" b="1">
                <a:latin typeface="Calibri"/>
                <a:ea typeface="+mj-lt"/>
                <a:cs typeface="+mj-lt"/>
              </a:rPr>
            </a:br>
            <a:br>
              <a:rPr lang="en-US" sz="2500" b="1">
                <a:latin typeface="Calibri"/>
                <a:ea typeface="+mj-lt"/>
                <a:cs typeface="+mj-lt"/>
              </a:rPr>
            </a:br>
            <a:r>
              <a:rPr lang="en-US" sz="2500" b="1">
                <a:latin typeface="Calibri"/>
                <a:ea typeface="+mj-lt"/>
                <a:cs typeface="+mj-lt"/>
              </a:rPr>
              <a:t> </a:t>
            </a:r>
            <a:br>
              <a:rPr lang="en-US" sz="2500" b="1">
                <a:latin typeface="Calibri"/>
                <a:ea typeface="+mj-lt"/>
                <a:cs typeface="+mj-lt"/>
              </a:rPr>
            </a:br>
            <a:br>
              <a:rPr lang="en-US" sz="2500" b="1">
                <a:latin typeface="Calibri"/>
                <a:ea typeface="+mj-lt"/>
                <a:cs typeface="+mj-lt"/>
              </a:rPr>
            </a:br>
            <a:r>
              <a:rPr lang="en-US" sz="2500" b="1">
                <a:latin typeface="Calibri"/>
                <a:ea typeface="+mj-lt"/>
                <a:cs typeface="+mj-lt"/>
              </a:rPr>
              <a:t> </a:t>
            </a:r>
            <a:br>
              <a:rPr lang="en-US" sz="2500" b="1">
                <a:latin typeface="Calibri"/>
                <a:ea typeface="+mj-lt"/>
                <a:cs typeface="+mj-lt"/>
              </a:rPr>
            </a:br>
            <a:r>
              <a:rPr lang="en-US" sz="2500" b="1">
                <a:latin typeface="Calibri"/>
                <a:cs typeface="Calibri Light"/>
              </a:rPr>
              <a:t>                                                 </a:t>
            </a:r>
            <a:endParaRPr lang="en-GB" b="1">
              <a:latin typeface="Calibri"/>
              <a:cs typeface="Calibri Light"/>
            </a:endParaRPr>
          </a:p>
        </p:txBody>
      </p:sp>
    </p:spTree>
    <p:extLst>
      <p:ext uri="{BB962C8B-B14F-4D97-AF65-F5344CB8AC3E}">
        <p14:creationId xmlns:p14="http://schemas.microsoft.com/office/powerpoint/2010/main" val="1983720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51ED0EC-77B1-1D1F-C24C-4F2484084C30}"/>
              </a:ext>
            </a:extLst>
          </p:cNvPr>
          <p:cNvSpPr txBox="1"/>
          <p:nvPr/>
        </p:nvSpPr>
        <p:spPr>
          <a:xfrm>
            <a:off x="1554116" y="1653046"/>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500" b="1"/>
              <a:t>5.Order Management: -</a:t>
            </a:r>
            <a:r>
              <a:rPr lang="en-US" sz="2500"/>
              <a:t> </a:t>
            </a:r>
            <a:endParaRPr lang="en-US" sz="2500">
              <a:cs typeface="Calibri"/>
            </a:endParaRPr>
          </a:p>
          <a:p>
            <a:pPr>
              <a:lnSpc>
                <a:spcPct val="90000"/>
              </a:lnSpc>
              <a:spcAft>
                <a:spcPts val="600"/>
              </a:spcAft>
            </a:pPr>
            <a:r>
              <a:rPr lang="en-US" sz="2500"/>
              <a:t>                                            Admin will manage charge for production &amp; job </a:t>
            </a:r>
            <a:endParaRPr lang="en-US" sz="2500">
              <a:cs typeface="Calibri" panose="020F0502020204030204"/>
            </a:endParaRPr>
          </a:p>
          <a:p>
            <a:pPr>
              <a:lnSpc>
                <a:spcPct val="90000"/>
              </a:lnSpc>
              <a:spcAft>
                <a:spcPts val="600"/>
              </a:spcAft>
            </a:pPr>
            <a:r>
              <a:rPr lang="en-US" sz="2500"/>
              <a:t>         work of different products.</a:t>
            </a:r>
            <a:endParaRPr lang="en-US" sz="2500">
              <a:cs typeface="Calibri" panose="020F0502020204030204"/>
            </a:endParaRPr>
          </a:p>
          <a:p>
            <a:pPr>
              <a:lnSpc>
                <a:spcPct val="90000"/>
              </a:lnSpc>
              <a:spcAft>
                <a:spcPts val="600"/>
              </a:spcAft>
            </a:pPr>
            <a:r>
              <a:rPr lang="en-US" sz="2500"/>
              <a:t>                    At the time of placing order, as per customer requirement </a:t>
            </a:r>
            <a:endParaRPr lang="en-US" sz="2500">
              <a:cs typeface="Calibri" panose="020F0502020204030204"/>
            </a:endParaRPr>
          </a:p>
          <a:p>
            <a:pPr>
              <a:lnSpc>
                <a:spcPct val="90000"/>
              </a:lnSpc>
              <a:spcAft>
                <a:spcPts val="600"/>
              </a:spcAft>
            </a:pPr>
            <a:r>
              <a:rPr lang="en-US" sz="2500"/>
              <a:t>           cost of the order will be calculated as per length, diameter,</a:t>
            </a:r>
            <a:endParaRPr lang="en-US" sz="2500">
              <a:cs typeface="Calibri" panose="020F0502020204030204"/>
            </a:endParaRPr>
          </a:p>
          <a:p>
            <a:pPr>
              <a:lnSpc>
                <a:spcPct val="90000"/>
              </a:lnSpc>
              <a:spcAft>
                <a:spcPts val="600"/>
              </a:spcAft>
            </a:pPr>
            <a:r>
              <a:rPr lang="en-US" sz="2500"/>
              <a:t>           Material by System.</a:t>
            </a:r>
            <a:endParaRPr lang="en-US" sz="2500">
              <a:cs typeface="Calibri" panose="020F0502020204030204"/>
            </a:endParaRPr>
          </a:p>
          <a:p>
            <a:pPr>
              <a:lnSpc>
                <a:spcPct val="90000"/>
              </a:lnSpc>
              <a:spcAft>
                <a:spcPts val="600"/>
              </a:spcAft>
            </a:pPr>
            <a:r>
              <a:rPr lang="en-US" sz="2500"/>
              <a:t>                    Admin will Manage the Job work and Product Work.</a:t>
            </a:r>
            <a:endParaRPr lang="en-US" sz="2500">
              <a:cs typeface="Calibri" panose="020F0502020204030204"/>
            </a:endParaRPr>
          </a:p>
          <a:p>
            <a:pPr>
              <a:lnSpc>
                <a:spcPct val="90000"/>
              </a:lnSpc>
              <a:spcAft>
                <a:spcPts val="600"/>
              </a:spcAft>
            </a:pPr>
            <a:r>
              <a:rPr lang="en-US" sz="2500"/>
              <a:t>                    Customer can place order. Admin will manage order.</a:t>
            </a:r>
            <a:endParaRPr lang="en-US" sz="2500">
              <a:cs typeface="Calibri" panose="020F0502020204030204"/>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60046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F305D7E-5D10-07F4-68C7-832F8D52AF6C}"/>
              </a:ext>
            </a:extLst>
          </p:cNvPr>
          <p:cNvSpPr txBox="1"/>
          <p:nvPr/>
        </p:nvSpPr>
        <p:spPr>
          <a:xfrm>
            <a:off x="1444185" y="2217634"/>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500" b="1"/>
              <a:t>6.Billing and Payment Management: -</a:t>
            </a:r>
            <a:endParaRPr lang="en-US" sz="2500">
              <a:cs typeface="Calibri"/>
            </a:endParaRPr>
          </a:p>
          <a:p>
            <a:pPr>
              <a:lnSpc>
                <a:spcPct val="90000"/>
              </a:lnSpc>
              <a:spcAft>
                <a:spcPts val="600"/>
              </a:spcAft>
            </a:pPr>
            <a:r>
              <a:rPr lang="en-US" sz="2500" b="1"/>
              <a:t>                                                                     </a:t>
            </a:r>
            <a:r>
              <a:rPr lang="en-US" sz="2500"/>
              <a:t>Admin will generate bill as per </a:t>
            </a:r>
            <a:endParaRPr lang="en-US" sz="2500">
              <a:cs typeface="Calibri" panose="020F0502020204030204"/>
            </a:endParaRPr>
          </a:p>
          <a:p>
            <a:pPr>
              <a:lnSpc>
                <a:spcPct val="90000"/>
              </a:lnSpc>
              <a:spcAft>
                <a:spcPts val="600"/>
              </a:spcAft>
            </a:pPr>
            <a:r>
              <a:rPr lang="en-US" sz="2500"/>
              <a:t>           order and actual work done which will be received by customer.</a:t>
            </a:r>
            <a:endParaRPr lang="en-US" sz="2500">
              <a:cs typeface="Calibri" panose="020F0502020204030204"/>
            </a:endParaRPr>
          </a:p>
          <a:p>
            <a:pPr>
              <a:lnSpc>
                <a:spcPct val="90000"/>
              </a:lnSpc>
              <a:spcAft>
                <a:spcPts val="600"/>
              </a:spcAft>
            </a:pPr>
            <a:r>
              <a:rPr lang="en-US" sz="2500"/>
              <a:t>                      Admin will manage payment of customer.    </a:t>
            </a:r>
            <a:endParaRPr lang="en-US" sz="2500">
              <a:cs typeface="Calibri" panose="020F0502020204030204"/>
            </a:endParaRPr>
          </a:p>
        </p:txBody>
      </p:sp>
      <p:sp>
        <p:nvSpPr>
          <p:cNvPr id="9" name="Rectangle 8">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9257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19EF8A8-00EF-BC8C-2DDA-881A8F93C12A}"/>
              </a:ext>
            </a:extLst>
          </p:cNvPr>
          <p:cNvSpPr txBox="1"/>
          <p:nvPr/>
        </p:nvSpPr>
        <p:spPr>
          <a:xfrm>
            <a:off x="2738236" y="2413319"/>
            <a:ext cx="10905066" cy="439398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400050" indent="-342900">
              <a:lnSpc>
                <a:spcPct val="90000"/>
              </a:lnSpc>
              <a:spcBef>
                <a:spcPct val="0"/>
              </a:spcBef>
              <a:spcAft>
                <a:spcPts val="600"/>
              </a:spcAft>
              <a:buFont typeface="Wingdings"/>
              <a:buChar char="Ø"/>
            </a:pPr>
            <a:r>
              <a:rPr lang="en-US" sz="3000" b="1"/>
              <a:t>Unified Modeling Language</a:t>
            </a:r>
            <a:endParaRPr lang="en-US" sz="3000" b="1">
              <a:cs typeface="Calibri" panose="020F0502020204030204"/>
            </a:endParaRPr>
          </a:p>
          <a:p>
            <a:pPr marL="57150">
              <a:lnSpc>
                <a:spcPct val="90000"/>
              </a:lnSpc>
              <a:spcBef>
                <a:spcPct val="0"/>
              </a:spcBef>
              <a:spcAft>
                <a:spcPts val="600"/>
              </a:spcAft>
            </a:pPr>
            <a:r>
              <a:rPr lang="en-US" sz="3000" b="1"/>
              <a:t>                     - Use Case Diagram</a:t>
            </a:r>
            <a:r>
              <a:rPr lang="en-US" sz="2000" b="1"/>
              <a:t>                 </a:t>
            </a:r>
            <a:endParaRPr lang="en-US">
              <a:cs typeface="Calibri" panose="020F0502020204030204"/>
            </a:endParaRPr>
          </a:p>
        </p:txBody>
      </p:sp>
      <p:sp>
        <p:nvSpPr>
          <p:cNvPr id="26" name="Rectangle 2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4">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6">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Rectangle 2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19280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Diagram&#10;&#10;Description automatically generated">
            <a:extLst>
              <a:ext uri="{FF2B5EF4-FFF2-40B4-BE49-F238E27FC236}">
                <a16:creationId xmlns:a16="http://schemas.microsoft.com/office/drawing/2014/main" id="{D69CAABA-43F1-21F4-AC95-1035145FDE61}"/>
              </a:ext>
            </a:extLst>
          </p:cNvPr>
          <p:cNvPicPr>
            <a:picLocks noChangeAspect="1"/>
          </p:cNvPicPr>
          <p:nvPr/>
        </p:nvPicPr>
        <p:blipFill>
          <a:blip r:embed="rId2"/>
          <a:stretch>
            <a:fillRect/>
          </a:stretch>
        </p:blipFill>
        <p:spPr>
          <a:xfrm>
            <a:off x="2301923" y="-2127"/>
            <a:ext cx="6246124" cy="6862253"/>
          </a:xfrm>
          <a:prstGeom prst="rect">
            <a:avLst/>
          </a:prstGeom>
        </p:spPr>
      </p:pic>
    </p:spTree>
    <p:extLst>
      <p:ext uri="{BB962C8B-B14F-4D97-AF65-F5344CB8AC3E}">
        <p14:creationId xmlns:p14="http://schemas.microsoft.com/office/powerpoint/2010/main" val="3997838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1" name="Freeform: Shape 20">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BCD77E5-FDB9-E818-9681-C364DBABC505}"/>
              </a:ext>
            </a:extLst>
          </p:cNvPr>
          <p:cNvSpPr>
            <a:spLocks noGrp="1"/>
          </p:cNvSpPr>
          <p:nvPr>
            <p:ph type="title"/>
          </p:nvPr>
        </p:nvSpPr>
        <p:spPr>
          <a:xfrm>
            <a:off x="3204642" y="2353641"/>
            <a:ext cx="5782716" cy="2150719"/>
          </a:xfrm>
          <a:noFill/>
        </p:spPr>
        <p:txBody>
          <a:bodyPr vert="horz" lIns="91440" tIns="45720" rIns="91440" bIns="45720" rtlCol="0" anchor="ctr">
            <a:normAutofit/>
          </a:bodyPr>
          <a:lstStyle/>
          <a:p>
            <a:pPr marL="571500" indent="-571500" algn="ctr">
              <a:buFont typeface="Wingdings"/>
              <a:buChar char="Ø"/>
            </a:pPr>
            <a:r>
              <a:rPr lang="en-US" sz="3600" b="1" kern="1200">
                <a:solidFill>
                  <a:srgbClr val="080808"/>
                </a:solidFill>
                <a:latin typeface="Calibri"/>
                <a:cs typeface="Calibri"/>
              </a:rPr>
              <a:t>Sequence Diagram:-</a:t>
            </a:r>
            <a:endParaRPr lang="en-US">
              <a:latin typeface="Calibri"/>
              <a:cs typeface="Calibri"/>
            </a:endParaRPr>
          </a:p>
        </p:txBody>
      </p:sp>
      <p:sp>
        <p:nvSpPr>
          <p:cNvPr id="25" name="Freeform: Shape 24">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4166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3F0508-C6FF-C947-0A76-E93D8733A06A}"/>
              </a:ext>
            </a:extLst>
          </p:cNvPr>
          <p:cNvSpPr>
            <a:spLocks noGrp="1"/>
          </p:cNvSpPr>
          <p:nvPr>
            <p:ph type="title"/>
          </p:nvPr>
        </p:nvSpPr>
        <p:spPr>
          <a:xfrm>
            <a:off x="383275" y="262767"/>
            <a:ext cx="3982720" cy="695643"/>
          </a:xfrm>
        </p:spPr>
        <p:txBody>
          <a:bodyPr/>
          <a:lstStyle/>
          <a:p>
            <a:pPr marL="571500" indent="-571500">
              <a:buFont typeface="Wingdings"/>
              <a:buChar char="Ø"/>
            </a:pPr>
            <a:r>
              <a:rPr lang="en-GB" b="1">
                <a:latin typeface="Calibri"/>
                <a:cs typeface="Calibri Light"/>
              </a:rPr>
              <a:t>Registration:-</a:t>
            </a:r>
            <a:endParaRPr lang="en-US" b="1">
              <a:latin typeface="Calibri"/>
              <a:cs typeface="Calibri Light" panose="020F0302020204030204"/>
            </a:endParaRPr>
          </a:p>
        </p:txBody>
      </p:sp>
      <p:pic>
        <p:nvPicPr>
          <p:cNvPr id="2" name="Picture 3">
            <a:extLst>
              <a:ext uri="{FF2B5EF4-FFF2-40B4-BE49-F238E27FC236}">
                <a16:creationId xmlns:a16="http://schemas.microsoft.com/office/drawing/2014/main" id="{3F165B0B-1935-4E5E-3A59-646313A76F89}"/>
              </a:ext>
            </a:extLst>
          </p:cNvPr>
          <p:cNvPicPr>
            <a:picLocks noChangeAspect="1"/>
          </p:cNvPicPr>
          <p:nvPr/>
        </p:nvPicPr>
        <p:blipFill>
          <a:blip r:embed="rId2"/>
          <a:stretch>
            <a:fillRect/>
          </a:stretch>
        </p:blipFill>
        <p:spPr>
          <a:xfrm>
            <a:off x="4610669" y="310882"/>
            <a:ext cx="6655557" cy="6349966"/>
          </a:xfrm>
          <a:prstGeom prst="rect">
            <a:avLst/>
          </a:prstGeom>
        </p:spPr>
      </p:pic>
    </p:spTree>
    <p:extLst>
      <p:ext uri="{BB962C8B-B14F-4D97-AF65-F5344CB8AC3E}">
        <p14:creationId xmlns:p14="http://schemas.microsoft.com/office/powerpoint/2010/main" val="2688101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188034-C406-1FF8-DAB0-44B08DFD15F6}"/>
              </a:ext>
            </a:extLst>
          </p:cNvPr>
          <p:cNvSpPr>
            <a:spLocks noGrp="1"/>
          </p:cNvSpPr>
          <p:nvPr>
            <p:ph type="title"/>
          </p:nvPr>
        </p:nvSpPr>
        <p:spPr>
          <a:xfrm>
            <a:off x="292290" y="296886"/>
            <a:ext cx="2201839" cy="654392"/>
          </a:xfrm>
        </p:spPr>
        <p:txBody>
          <a:bodyPr>
            <a:normAutofit fontScale="90000"/>
          </a:bodyPr>
          <a:lstStyle/>
          <a:p>
            <a:pPr marL="571500" indent="-571500">
              <a:buFont typeface="Wingdings"/>
              <a:buChar char="Ø"/>
            </a:pPr>
            <a:r>
              <a:rPr lang="en-GB" b="1">
                <a:latin typeface="Calibri"/>
                <a:cs typeface="Calibri Light"/>
              </a:rPr>
              <a:t>Login:-</a:t>
            </a:r>
            <a:endParaRPr lang="en-US" b="1">
              <a:latin typeface="Calibri"/>
              <a:cs typeface="Calibri Light" panose="020F0302020204030204"/>
            </a:endParaRPr>
          </a:p>
        </p:txBody>
      </p:sp>
      <p:pic>
        <p:nvPicPr>
          <p:cNvPr id="2" name="Picture 4" descr="Diagram&#10;&#10;Description automatically generated">
            <a:extLst>
              <a:ext uri="{FF2B5EF4-FFF2-40B4-BE49-F238E27FC236}">
                <a16:creationId xmlns:a16="http://schemas.microsoft.com/office/drawing/2014/main" id="{25819702-A883-D863-C713-15145D146F79}"/>
              </a:ext>
            </a:extLst>
          </p:cNvPr>
          <p:cNvPicPr>
            <a:picLocks noChangeAspect="1"/>
          </p:cNvPicPr>
          <p:nvPr/>
        </p:nvPicPr>
        <p:blipFill>
          <a:blip r:embed="rId2"/>
          <a:stretch>
            <a:fillRect/>
          </a:stretch>
        </p:blipFill>
        <p:spPr>
          <a:xfrm>
            <a:off x="2768222" y="589323"/>
            <a:ext cx="8418393" cy="5679355"/>
          </a:xfrm>
          <a:prstGeom prst="rect">
            <a:avLst/>
          </a:prstGeom>
        </p:spPr>
      </p:pic>
    </p:spTree>
    <p:extLst>
      <p:ext uri="{BB962C8B-B14F-4D97-AF65-F5344CB8AC3E}">
        <p14:creationId xmlns:p14="http://schemas.microsoft.com/office/powerpoint/2010/main" val="562666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5FC397-01D1-444E-D759-01EECDEA6498}"/>
              </a:ext>
            </a:extLst>
          </p:cNvPr>
          <p:cNvSpPr>
            <a:spLocks noGrp="1"/>
          </p:cNvSpPr>
          <p:nvPr>
            <p:ph type="title"/>
          </p:nvPr>
        </p:nvSpPr>
        <p:spPr>
          <a:xfrm>
            <a:off x="3131" y="41536"/>
            <a:ext cx="4592738" cy="1091883"/>
          </a:xfrm>
        </p:spPr>
        <p:txBody>
          <a:bodyPr>
            <a:normAutofit fontScale="90000"/>
          </a:bodyPr>
          <a:lstStyle/>
          <a:p>
            <a:pPr marL="571500" indent="-571500">
              <a:buFont typeface="Wingdings"/>
              <a:buChar char="Ø"/>
            </a:pPr>
            <a:r>
              <a:rPr lang="en-GB" b="1">
                <a:latin typeface="Calibri"/>
                <a:cs typeface="Calibri Light"/>
              </a:rPr>
              <a:t>Purchase Order:-</a:t>
            </a:r>
          </a:p>
        </p:txBody>
      </p:sp>
      <p:pic>
        <p:nvPicPr>
          <p:cNvPr id="2" name="Picture 4" descr="Diagram&#10;&#10;Description automatically generated">
            <a:extLst>
              <a:ext uri="{FF2B5EF4-FFF2-40B4-BE49-F238E27FC236}">
                <a16:creationId xmlns:a16="http://schemas.microsoft.com/office/drawing/2014/main" id="{42391CD8-474F-EF9C-8048-BE19440B63DA}"/>
              </a:ext>
            </a:extLst>
          </p:cNvPr>
          <p:cNvPicPr>
            <a:picLocks noChangeAspect="1"/>
          </p:cNvPicPr>
          <p:nvPr/>
        </p:nvPicPr>
        <p:blipFill>
          <a:blip r:embed="rId2"/>
          <a:stretch>
            <a:fillRect/>
          </a:stretch>
        </p:blipFill>
        <p:spPr>
          <a:xfrm>
            <a:off x="3951028" y="255810"/>
            <a:ext cx="7565408" cy="6425994"/>
          </a:xfrm>
          <a:prstGeom prst="rect">
            <a:avLst/>
          </a:prstGeom>
        </p:spPr>
      </p:pic>
    </p:spTree>
    <p:extLst>
      <p:ext uri="{BB962C8B-B14F-4D97-AF65-F5344CB8AC3E}">
        <p14:creationId xmlns:p14="http://schemas.microsoft.com/office/powerpoint/2010/main" val="794250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2351D7-235A-69E8-A286-1F57FCB20D9A}"/>
              </a:ext>
            </a:extLst>
          </p:cNvPr>
          <p:cNvSpPr>
            <a:spLocks noGrp="1"/>
          </p:cNvSpPr>
          <p:nvPr>
            <p:ph type="title"/>
          </p:nvPr>
        </p:nvSpPr>
        <p:spPr>
          <a:xfrm>
            <a:off x="736600" y="182245"/>
            <a:ext cx="6451600" cy="573723"/>
          </a:xfrm>
        </p:spPr>
        <p:txBody>
          <a:bodyPr>
            <a:normAutofit fontScale="90000"/>
          </a:bodyPr>
          <a:lstStyle/>
          <a:p>
            <a:pPr marL="571500" indent="-571500">
              <a:buFont typeface="Wingdings"/>
              <a:buChar char="Ø"/>
            </a:pPr>
            <a:r>
              <a:rPr lang="en-GB" b="1">
                <a:latin typeface="Calibri"/>
                <a:cs typeface="Calibri Light"/>
              </a:rPr>
              <a:t>Billing &amp; Payment :-</a:t>
            </a:r>
            <a:endParaRPr lang="en-US">
              <a:latin typeface="Calibri"/>
            </a:endParaRPr>
          </a:p>
        </p:txBody>
      </p:sp>
      <p:pic>
        <p:nvPicPr>
          <p:cNvPr id="2" name="Picture 4" descr="Diagram&#10;&#10;Description automatically generated">
            <a:extLst>
              <a:ext uri="{FF2B5EF4-FFF2-40B4-BE49-F238E27FC236}">
                <a16:creationId xmlns:a16="http://schemas.microsoft.com/office/drawing/2014/main" id="{CF6CB3DE-3D3A-2460-5E0F-50459EDF7CDC}"/>
              </a:ext>
            </a:extLst>
          </p:cNvPr>
          <p:cNvPicPr>
            <a:picLocks noChangeAspect="1"/>
          </p:cNvPicPr>
          <p:nvPr/>
        </p:nvPicPr>
        <p:blipFill>
          <a:blip r:embed="rId2"/>
          <a:stretch>
            <a:fillRect/>
          </a:stretch>
        </p:blipFill>
        <p:spPr>
          <a:xfrm>
            <a:off x="1812878" y="750947"/>
            <a:ext cx="9373736" cy="5776912"/>
          </a:xfrm>
          <a:prstGeom prst="rect">
            <a:avLst/>
          </a:prstGeom>
        </p:spPr>
      </p:pic>
    </p:spTree>
    <p:extLst>
      <p:ext uri="{BB962C8B-B14F-4D97-AF65-F5344CB8AC3E}">
        <p14:creationId xmlns:p14="http://schemas.microsoft.com/office/powerpoint/2010/main" val="1164299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69802-19CA-C719-2BD2-017B293FACF0}"/>
              </a:ext>
            </a:extLst>
          </p:cNvPr>
          <p:cNvSpPr>
            <a:spLocks noGrp="1"/>
          </p:cNvSpPr>
          <p:nvPr>
            <p:ph type="title"/>
          </p:nvPr>
        </p:nvSpPr>
        <p:spPr>
          <a:xfrm>
            <a:off x="-1634" y="4028"/>
            <a:ext cx="2167719" cy="483951"/>
          </a:xfrm>
        </p:spPr>
        <p:txBody>
          <a:bodyPr>
            <a:normAutofit/>
          </a:bodyPr>
          <a:lstStyle/>
          <a:p>
            <a:pPr marL="342900" indent="-342900">
              <a:buFont typeface="Wingdings"/>
              <a:buChar char="Ø"/>
            </a:pPr>
            <a:r>
              <a:rPr lang="en-GB" sz="2400" b="1" dirty="0">
                <a:cs typeface="Calibri Light" panose="020F0302020204030204"/>
              </a:rPr>
              <a:t>Sales Order:-</a:t>
            </a:r>
          </a:p>
        </p:txBody>
      </p:sp>
      <p:pic>
        <p:nvPicPr>
          <p:cNvPr id="5" name="Picture 5" descr="Diagram&#10;&#10;Description automatically generated">
            <a:extLst>
              <a:ext uri="{FF2B5EF4-FFF2-40B4-BE49-F238E27FC236}">
                <a16:creationId xmlns:a16="http://schemas.microsoft.com/office/drawing/2014/main" id="{81C3BA7C-2492-8BEF-7C3F-25A227BC9CA3}"/>
              </a:ext>
            </a:extLst>
          </p:cNvPr>
          <p:cNvPicPr>
            <a:picLocks noChangeAspect="1"/>
          </p:cNvPicPr>
          <p:nvPr/>
        </p:nvPicPr>
        <p:blipFill>
          <a:blip r:embed="rId2"/>
          <a:stretch>
            <a:fillRect/>
          </a:stretch>
        </p:blipFill>
        <p:spPr>
          <a:xfrm>
            <a:off x="2021857" y="6221"/>
            <a:ext cx="8289026" cy="6846093"/>
          </a:xfrm>
          <a:prstGeom prst="rect">
            <a:avLst/>
          </a:prstGeom>
        </p:spPr>
      </p:pic>
    </p:spTree>
    <p:extLst>
      <p:ext uri="{BB962C8B-B14F-4D97-AF65-F5344CB8AC3E}">
        <p14:creationId xmlns:p14="http://schemas.microsoft.com/office/powerpoint/2010/main" val="1382187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1" name="Freeform: Shape 20">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72D441A9-CC8B-0896-7C31-DF1ACC98D916}"/>
              </a:ext>
            </a:extLst>
          </p:cNvPr>
          <p:cNvSpPr>
            <a:spLocks noGrp="1"/>
          </p:cNvSpPr>
          <p:nvPr>
            <p:ph type="title"/>
          </p:nvPr>
        </p:nvSpPr>
        <p:spPr>
          <a:xfrm>
            <a:off x="3204642" y="2353641"/>
            <a:ext cx="5782716" cy="2150719"/>
          </a:xfrm>
          <a:noFill/>
        </p:spPr>
        <p:txBody>
          <a:bodyPr vert="horz" lIns="91440" tIns="45720" rIns="91440" bIns="45720" rtlCol="0" anchor="ctr">
            <a:normAutofit/>
          </a:bodyPr>
          <a:lstStyle/>
          <a:p>
            <a:pPr marL="571500" indent="-571500" algn="ctr">
              <a:buFont typeface="Wingdings"/>
              <a:buChar char="Ø"/>
            </a:pPr>
            <a:r>
              <a:rPr lang="en-US" b="1" kern="1200">
                <a:solidFill>
                  <a:srgbClr val="080808"/>
                </a:solidFill>
                <a:latin typeface="+mj-lt"/>
                <a:ea typeface="+mj-ea"/>
                <a:cs typeface="+mj-cs"/>
              </a:rPr>
              <a:t>Activity Diagram</a:t>
            </a:r>
            <a:r>
              <a:rPr lang="en-US" b="1">
                <a:solidFill>
                  <a:srgbClr val="080808"/>
                </a:solidFill>
              </a:rPr>
              <a:t>:-</a:t>
            </a:r>
            <a:br>
              <a:rPr lang="en-US" sz="3600" kern="1200"/>
            </a:br>
            <a:endParaRPr lang="en-US" sz="3600" kern="1200">
              <a:solidFill>
                <a:srgbClr val="080808"/>
              </a:solidFill>
              <a:latin typeface="+mj-lt"/>
              <a:cs typeface="Calibri Light" panose="020F0302020204030204"/>
            </a:endParaRPr>
          </a:p>
        </p:txBody>
      </p:sp>
      <p:sp>
        <p:nvSpPr>
          <p:cNvPr id="25" name="Freeform: Shape 24">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6691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DF728-DE89-EAEE-02CC-704850DD1BC6}"/>
              </a:ext>
            </a:extLst>
          </p:cNvPr>
          <p:cNvSpPr>
            <a:spLocks noGrp="1"/>
          </p:cNvSpPr>
          <p:nvPr>
            <p:ph type="title"/>
          </p:nvPr>
        </p:nvSpPr>
        <p:spPr>
          <a:xfrm>
            <a:off x="42081" y="46677"/>
            <a:ext cx="3907809" cy="643175"/>
          </a:xfrm>
        </p:spPr>
        <p:txBody>
          <a:bodyPr/>
          <a:lstStyle/>
          <a:p>
            <a:pPr marL="342900" indent="-342900">
              <a:buFont typeface="Wingdings"/>
              <a:buChar char="Ø"/>
            </a:pPr>
            <a:r>
              <a:rPr lang="en-GB" sz="2400" b="1">
                <a:cs typeface="Calibri Light" panose="020F0302020204030204"/>
              </a:rPr>
              <a:t>Order Activity Diagram:-</a:t>
            </a:r>
            <a:endParaRPr lang="en-GB" sz="2400">
              <a:cs typeface="Calibri Light" panose="020F0302020204030204"/>
            </a:endParaRPr>
          </a:p>
        </p:txBody>
      </p:sp>
      <p:pic>
        <p:nvPicPr>
          <p:cNvPr id="4" name="Picture 4" descr="Diagram&#10;&#10;Description automatically generated">
            <a:extLst>
              <a:ext uri="{FF2B5EF4-FFF2-40B4-BE49-F238E27FC236}">
                <a16:creationId xmlns:a16="http://schemas.microsoft.com/office/drawing/2014/main" id="{F2DB9D6D-31AC-DECB-7814-7FCE52ED7EF3}"/>
              </a:ext>
            </a:extLst>
          </p:cNvPr>
          <p:cNvPicPr>
            <a:picLocks noChangeAspect="1"/>
          </p:cNvPicPr>
          <p:nvPr/>
        </p:nvPicPr>
        <p:blipFill>
          <a:blip r:embed="rId2"/>
          <a:stretch>
            <a:fillRect/>
          </a:stretch>
        </p:blipFill>
        <p:spPr>
          <a:xfrm>
            <a:off x="3672626" y="-1617"/>
            <a:ext cx="4857481" cy="6861235"/>
          </a:xfrm>
          <a:prstGeom prst="rect">
            <a:avLst/>
          </a:prstGeom>
        </p:spPr>
      </p:pic>
    </p:spTree>
    <p:extLst>
      <p:ext uri="{BB962C8B-B14F-4D97-AF65-F5344CB8AC3E}">
        <p14:creationId xmlns:p14="http://schemas.microsoft.com/office/powerpoint/2010/main" val="2388297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1" name="Freeform: Shape 20">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F2C0E416-625F-DAA6-CD06-A27E632CC11C}"/>
              </a:ext>
            </a:extLst>
          </p:cNvPr>
          <p:cNvSpPr>
            <a:spLocks noGrp="1"/>
          </p:cNvSpPr>
          <p:nvPr>
            <p:ph type="title"/>
          </p:nvPr>
        </p:nvSpPr>
        <p:spPr>
          <a:xfrm>
            <a:off x="3204642" y="2353641"/>
            <a:ext cx="5782716" cy="2150719"/>
          </a:xfrm>
          <a:noFill/>
        </p:spPr>
        <p:txBody>
          <a:bodyPr vert="horz" lIns="91440" tIns="45720" rIns="91440" bIns="45720" rtlCol="0" anchor="ctr">
            <a:normAutofit/>
          </a:bodyPr>
          <a:lstStyle/>
          <a:p>
            <a:pPr marL="571500" indent="-571500" algn="ctr">
              <a:buFont typeface="Wingdings"/>
              <a:buChar char="Ø"/>
            </a:pPr>
            <a:r>
              <a:rPr lang="en-US" b="1" kern="1200">
                <a:solidFill>
                  <a:srgbClr val="080808"/>
                </a:solidFill>
                <a:latin typeface="Calibri"/>
                <a:cs typeface="Calibri"/>
              </a:rPr>
              <a:t>State Chart Diagram:-</a:t>
            </a:r>
            <a:endParaRPr lang="en-US" kern="1200">
              <a:solidFill>
                <a:srgbClr val="080808"/>
              </a:solidFill>
              <a:latin typeface="Calibri"/>
              <a:cs typeface="Calibri"/>
            </a:endParaRPr>
          </a:p>
        </p:txBody>
      </p:sp>
      <p:sp>
        <p:nvSpPr>
          <p:cNvPr id="25" name="Freeform: Shape 24">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0805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49A3-9B23-3F84-35CD-1325AE02AFAA}"/>
              </a:ext>
            </a:extLst>
          </p:cNvPr>
          <p:cNvSpPr>
            <a:spLocks noGrp="1"/>
          </p:cNvSpPr>
          <p:nvPr>
            <p:ph type="title"/>
          </p:nvPr>
        </p:nvSpPr>
        <p:spPr>
          <a:xfrm>
            <a:off x="394648" y="319633"/>
            <a:ext cx="3998795" cy="597683"/>
          </a:xfrm>
        </p:spPr>
        <p:txBody>
          <a:bodyPr/>
          <a:lstStyle/>
          <a:p>
            <a:pPr marL="342900" indent="-342900">
              <a:buFont typeface="Wingdings"/>
              <a:buChar char="Ø"/>
            </a:pPr>
            <a:r>
              <a:rPr lang="en-GB" sz="2400" b="1">
                <a:cs typeface="Calibri Light" panose="020F0302020204030204"/>
              </a:rPr>
              <a:t>Order State Chart Diagram:-</a:t>
            </a:r>
          </a:p>
        </p:txBody>
      </p:sp>
      <p:pic>
        <p:nvPicPr>
          <p:cNvPr id="4" name="Picture 4" descr="Diagram&#10;&#10;Description automatically generated">
            <a:extLst>
              <a:ext uri="{FF2B5EF4-FFF2-40B4-BE49-F238E27FC236}">
                <a16:creationId xmlns:a16="http://schemas.microsoft.com/office/drawing/2014/main" id="{809D8832-B25A-2E57-0112-57085C99CB41}"/>
              </a:ext>
            </a:extLst>
          </p:cNvPr>
          <p:cNvPicPr>
            <a:picLocks noChangeAspect="1"/>
          </p:cNvPicPr>
          <p:nvPr/>
        </p:nvPicPr>
        <p:blipFill>
          <a:blip r:embed="rId2"/>
          <a:stretch>
            <a:fillRect/>
          </a:stretch>
        </p:blipFill>
        <p:spPr>
          <a:xfrm>
            <a:off x="2438400" y="975233"/>
            <a:ext cx="8348596" cy="5123398"/>
          </a:xfrm>
          <a:prstGeom prst="rect">
            <a:avLst/>
          </a:prstGeom>
        </p:spPr>
      </p:pic>
    </p:spTree>
    <p:extLst>
      <p:ext uri="{BB962C8B-B14F-4D97-AF65-F5344CB8AC3E}">
        <p14:creationId xmlns:p14="http://schemas.microsoft.com/office/powerpoint/2010/main" val="2113998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1" name="Freeform: Shape 20">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FA027B29-94B9-AC3F-2EF5-2D766F4FEEDF}"/>
              </a:ext>
            </a:extLst>
          </p:cNvPr>
          <p:cNvSpPr>
            <a:spLocks noGrp="1"/>
          </p:cNvSpPr>
          <p:nvPr>
            <p:ph type="title"/>
          </p:nvPr>
        </p:nvSpPr>
        <p:spPr>
          <a:xfrm>
            <a:off x="3003559" y="2353641"/>
            <a:ext cx="6190546" cy="2150719"/>
          </a:xfrm>
          <a:noFill/>
        </p:spPr>
        <p:txBody>
          <a:bodyPr vert="horz" lIns="91440" tIns="45720" rIns="91440" bIns="45720" rtlCol="0" anchor="ctr">
            <a:normAutofit/>
          </a:bodyPr>
          <a:lstStyle/>
          <a:p>
            <a:pPr marL="571500" indent="-571500" algn="ctr">
              <a:buFont typeface="Wingdings"/>
              <a:buChar char="Ø"/>
            </a:pPr>
            <a:r>
              <a:rPr lang="en-US" sz="3600" b="1" dirty="0">
                <a:solidFill>
                  <a:srgbClr val="080808"/>
                </a:solidFill>
              </a:rPr>
              <a:t>Class Diagram</a:t>
            </a:r>
            <a:r>
              <a:rPr lang="en-US" sz="3600" b="1" kern="1200" dirty="0">
                <a:solidFill>
                  <a:srgbClr val="080808"/>
                </a:solidFill>
                <a:latin typeface="+mj-lt"/>
                <a:ea typeface="+mj-ea"/>
                <a:cs typeface="+mj-cs"/>
              </a:rPr>
              <a:t>: -</a:t>
            </a:r>
            <a:endParaRPr lang="en-US" dirty="0">
              <a:cs typeface="Calibri Light" panose="020F0302020204030204"/>
            </a:endParaRPr>
          </a:p>
        </p:txBody>
      </p:sp>
      <p:sp>
        <p:nvSpPr>
          <p:cNvPr id="25" name="Freeform: Shape 24">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29385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3" descr="Diagram, schematic&#10;&#10;Description automatically generated">
            <a:extLst>
              <a:ext uri="{FF2B5EF4-FFF2-40B4-BE49-F238E27FC236}">
                <a16:creationId xmlns:a16="http://schemas.microsoft.com/office/drawing/2014/main" id="{1C2FA985-E5EB-3C16-C934-985C4FFBBE77}"/>
              </a:ext>
            </a:extLst>
          </p:cNvPr>
          <p:cNvPicPr>
            <a:picLocks noChangeAspect="1"/>
          </p:cNvPicPr>
          <p:nvPr/>
        </p:nvPicPr>
        <p:blipFill>
          <a:blip r:embed="rId2"/>
          <a:stretch>
            <a:fillRect/>
          </a:stretch>
        </p:blipFill>
        <p:spPr>
          <a:xfrm>
            <a:off x="2986088" y="-92"/>
            <a:ext cx="6196011" cy="6858184"/>
          </a:xfrm>
          <a:prstGeom prst="rect">
            <a:avLst/>
          </a:prstGeom>
        </p:spPr>
      </p:pic>
    </p:spTree>
    <p:extLst>
      <p:ext uri="{BB962C8B-B14F-4D97-AF65-F5344CB8AC3E}">
        <p14:creationId xmlns:p14="http://schemas.microsoft.com/office/powerpoint/2010/main" val="225831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1" name="Freeform: Shape 20">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C02017B-24B5-E89A-39B7-1D0685788CA2}"/>
              </a:ext>
            </a:extLst>
          </p:cNvPr>
          <p:cNvSpPr>
            <a:spLocks noGrp="1"/>
          </p:cNvSpPr>
          <p:nvPr>
            <p:ph type="title"/>
          </p:nvPr>
        </p:nvSpPr>
        <p:spPr>
          <a:xfrm>
            <a:off x="3204642" y="2353641"/>
            <a:ext cx="5782716" cy="2150719"/>
          </a:xfrm>
          <a:noFill/>
        </p:spPr>
        <p:txBody>
          <a:bodyPr vert="horz" lIns="91440" tIns="45720" rIns="91440" bIns="45720" rtlCol="0" anchor="ctr">
            <a:normAutofit/>
          </a:bodyPr>
          <a:lstStyle/>
          <a:p>
            <a:pPr marL="571500" indent="-571500" algn="ctr">
              <a:buFont typeface="Wingdings"/>
              <a:buChar char="Ø"/>
            </a:pPr>
            <a:r>
              <a:rPr lang="en-US" sz="3600" b="1" dirty="0">
                <a:solidFill>
                  <a:srgbClr val="080808"/>
                </a:solidFill>
              </a:rPr>
              <a:t>Data Dictionary:-</a:t>
            </a:r>
            <a:endParaRPr lang="en-US" sz="3600" kern="1200" dirty="0">
              <a:solidFill>
                <a:srgbClr val="080808"/>
              </a:solidFill>
              <a:latin typeface="+mj-lt"/>
              <a:cs typeface="Calibri Light" panose="020F0302020204030204"/>
            </a:endParaRPr>
          </a:p>
        </p:txBody>
      </p:sp>
      <p:sp>
        <p:nvSpPr>
          <p:cNvPr id="25" name="Freeform: Shape 24">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4526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8ACC-60F9-0A66-AB5D-28BF610A6540}"/>
              </a:ext>
            </a:extLst>
          </p:cNvPr>
          <p:cNvSpPr>
            <a:spLocks noGrp="1"/>
          </p:cNvSpPr>
          <p:nvPr>
            <p:ph type="title"/>
          </p:nvPr>
        </p:nvSpPr>
        <p:spPr>
          <a:xfrm>
            <a:off x="599364" y="592588"/>
            <a:ext cx="4908642" cy="791026"/>
          </a:xfrm>
        </p:spPr>
        <p:txBody>
          <a:bodyPr>
            <a:normAutofit/>
          </a:bodyPr>
          <a:lstStyle/>
          <a:p>
            <a:pPr marL="342900" indent="-342900">
              <a:buFont typeface="Wingdings"/>
              <a:buChar char="Ø"/>
            </a:pPr>
            <a:r>
              <a:rPr lang="en-GB" sz="2400" b="1" dirty="0">
                <a:cs typeface="Calibri Light" panose="020F0302020204030204"/>
              </a:rPr>
              <a:t>State Table With Example:-</a:t>
            </a:r>
          </a:p>
        </p:txBody>
      </p:sp>
      <p:graphicFrame>
        <p:nvGraphicFramePr>
          <p:cNvPr id="3" name="Table 3">
            <a:extLst>
              <a:ext uri="{FF2B5EF4-FFF2-40B4-BE49-F238E27FC236}">
                <a16:creationId xmlns:a16="http://schemas.microsoft.com/office/drawing/2014/main" id="{D41711C7-4113-CBBE-7BE8-BB6C6C9DBC43}"/>
              </a:ext>
            </a:extLst>
          </p:cNvPr>
          <p:cNvGraphicFramePr>
            <a:graphicFrameLocks noGrp="1"/>
          </p:cNvGraphicFramePr>
          <p:nvPr>
            <p:extLst>
              <p:ext uri="{D42A27DB-BD31-4B8C-83A1-F6EECF244321}">
                <p14:modId xmlns:p14="http://schemas.microsoft.com/office/powerpoint/2010/main" val="1927037732"/>
              </p:ext>
            </p:extLst>
          </p:nvPr>
        </p:nvGraphicFramePr>
        <p:xfrm>
          <a:off x="1841082" y="2166764"/>
          <a:ext cx="8454124" cy="1112520"/>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779029407"/>
                    </a:ext>
                  </a:extLst>
                </a:gridCol>
                <a:gridCol w="1633727">
                  <a:extLst>
                    <a:ext uri="{9D8B030D-6E8A-4147-A177-3AD203B41FA5}">
                      <a16:colId xmlns:a16="http://schemas.microsoft.com/office/drawing/2014/main" val="3622095398"/>
                    </a:ext>
                  </a:extLst>
                </a:gridCol>
                <a:gridCol w="1633727">
                  <a:extLst>
                    <a:ext uri="{9D8B030D-6E8A-4147-A177-3AD203B41FA5}">
                      <a16:colId xmlns:a16="http://schemas.microsoft.com/office/drawing/2014/main" val="1939168655"/>
                    </a:ext>
                  </a:extLst>
                </a:gridCol>
                <a:gridCol w="1633727">
                  <a:extLst>
                    <a:ext uri="{9D8B030D-6E8A-4147-A177-3AD203B41FA5}">
                      <a16:colId xmlns:a16="http://schemas.microsoft.com/office/drawing/2014/main" val="2733933869"/>
                    </a:ext>
                  </a:extLst>
                </a:gridCol>
                <a:gridCol w="1919216">
                  <a:extLst>
                    <a:ext uri="{9D8B030D-6E8A-4147-A177-3AD203B41FA5}">
                      <a16:colId xmlns:a16="http://schemas.microsoft.com/office/drawing/2014/main" val="704529679"/>
                    </a:ext>
                  </a:extLst>
                </a:gridCol>
              </a:tblGrid>
              <a:tr h="370840">
                <a:tc>
                  <a:txBody>
                    <a:bodyPr/>
                    <a:lstStyle/>
                    <a:p>
                      <a:pPr algn="ctr"/>
                      <a:r>
                        <a:rPr lang="en-GB"/>
                        <a:t>Fieldname </a:t>
                      </a:r>
                    </a:p>
                  </a:txBody>
                  <a:tcPr/>
                </a:tc>
                <a:tc>
                  <a:txBody>
                    <a:bodyPr/>
                    <a:lstStyle/>
                    <a:p>
                      <a:pPr algn="ctr"/>
                      <a:r>
                        <a:rPr lang="en-GB"/>
                        <a:t>Datatype</a:t>
                      </a:r>
                    </a:p>
                  </a:txBody>
                  <a:tcPr/>
                </a:tc>
                <a:tc>
                  <a:txBody>
                    <a:bodyPr/>
                    <a:lstStyle/>
                    <a:p>
                      <a:pPr algn="ctr"/>
                      <a:r>
                        <a:rPr lang="en-GB"/>
                        <a:t>Size</a:t>
                      </a:r>
                    </a:p>
                  </a:txBody>
                  <a:tcPr/>
                </a:tc>
                <a:tc>
                  <a:txBody>
                    <a:bodyPr/>
                    <a:lstStyle/>
                    <a:p>
                      <a:pPr algn="ctr"/>
                      <a:r>
                        <a:rPr lang="en-GB"/>
                        <a:t>Constraint</a:t>
                      </a:r>
                    </a:p>
                  </a:txBody>
                  <a:tcPr/>
                </a:tc>
                <a:tc>
                  <a:txBody>
                    <a:bodyPr/>
                    <a:lstStyle/>
                    <a:p>
                      <a:pPr algn="ctr"/>
                      <a:r>
                        <a:rPr lang="en-GB"/>
                        <a:t>Description</a:t>
                      </a:r>
                    </a:p>
                  </a:txBody>
                  <a:tcPr/>
                </a:tc>
                <a:extLst>
                  <a:ext uri="{0D108BD9-81ED-4DB2-BD59-A6C34878D82A}">
                    <a16:rowId xmlns:a16="http://schemas.microsoft.com/office/drawing/2014/main" val="2713811417"/>
                  </a:ext>
                </a:extLst>
              </a:tr>
              <a:tr h="370840">
                <a:tc>
                  <a:txBody>
                    <a:bodyPr/>
                    <a:lstStyle/>
                    <a:p>
                      <a:pPr algn="ctr"/>
                      <a:r>
                        <a:rPr lang="en-GB" err="1"/>
                        <a:t>State_id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State id</a:t>
                      </a:r>
                    </a:p>
                  </a:txBody>
                  <a:tcPr/>
                </a:tc>
                <a:extLst>
                  <a:ext uri="{0D108BD9-81ED-4DB2-BD59-A6C34878D82A}">
                    <a16:rowId xmlns:a16="http://schemas.microsoft.com/office/drawing/2014/main" val="1327818033"/>
                  </a:ext>
                </a:extLst>
              </a:tr>
              <a:tr h="370840">
                <a:tc>
                  <a:txBody>
                    <a:bodyPr/>
                    <a:lstStyle/>
                    <a:p>
                      <a:pPr algn="ctr"/>
                      <a:r>
                        <a:rPr lang="en-GB" err="1"/>
                        <a:t>State_name</a:t>
                      </a:r>
                    </a:p>
                  </a:txBody>
                  <a:tcPr/>
                </a:tc>
                <a:tc>
                  <a:txBody>
                    <a:bodyPr/>
                    <a:lstStyle/>
                    <a:p>
                      <a:pPr algn="ctr"/>
                      <a:r>
                        <a:rPr lang="en-GB"/>
                        <a:t>varchar</a:t>
                      </a:r>
                    </a:p>
                  </a:txBody>
                  <a:tcPr/>
                </a:tc>
                <a:tc>
                  <a:txBody>
                    <a:bodyPr/>
                    <a:lstStyle/>
                    <a:p>
                      <a:pPr algn="ctr"/>
                      <a:r>
                        <a:rPr lang="en-GB"/>
                        <a:t>50</a:t>
                      </a:r>
                    </a:p>
                  </a:txBody>
                  <a:tcPr/>
                </a:tc>
                <a:tc>
                  <a:txBody>
                    <a:bodyPr/>
                    <a:lstStyle/>
                    <a:p>
                      <a:pPr algn="ctr"/>
                      <a:r>
                        <a:rPr lang="en-GB"/>
                        <a:t>Not Null</a:t>
                      </a:r>
                    </a:p>
                  </a:txBody>
                  <a:tcPr/>
                </a:tc>
                <a:tc>
                  <a:txBody>
                    <a:bodyPr/>
                    <a:lstStyle/>
                    <a:p>
                      <a:pPr algn="ctr"/>
                      <a:r>
                        <a:rPr lang="en-GB"/>
                        <a:t>Store State Name</a:t>
                      </a:r>
                    </a:p>
                  </a:txBody>
                  <a:tcPr/>
                </a:tc>
                <a:extLst>
                  <a:ext uri="{0D108BD9-81ED-4DB2-BD59-A6C34878D82A}">
                    <a16:rowId xmlns:a16="http://schemas.microsoft.com/office/drawing/2014/main" val="1932500733"/>
                  </a:ext>
                </a:extLst>
              </a:tr>
            </a:tbl>
          </a:graphicData>
        </a:graphic>
      </p:graphicFrame>
      <p:graphicFrame>
        <p:nvGraphicFramePr>
          <p:cNvPr id="4" name="Table 4">
            <a:extLst>
              <a:ext uri="{FF2B5EF4-FFF2-40B4-BE49-F238E27FC236}">
                <a16:creationId xmlns:a16="http://schemas.microsoft.com/office/drawing/2014/main" id="{A8A68B26-2272-24AE-2561-02B4AA7ABEEA}"/>
              </a:ext>
            </a:extLst>
          </p:cNvPr>
          <p:cNvGraphicFramePr>
            <a:graphicFrameLocks noGrp="1"/>
          </p:cNvGraphicFramePr>
          <p:nvPr>
            <p:extLst>
              <p:ext uri="{D42A27DB-BD31-4B8C-83A1-F6EECF244321}">
                <p14:modId xmlns:p14="http://schemas.microsoft.com/office/powerpoint/2010/main" val="2002257269"/>
              </p:ext>
            </p:extLst>
          </p:nvPr>
        </p:nvGraphicFramePr>
        <p:xfrm>
          <a:off x="2547582" y="3491552"/>
          <a:ext cx="6866528" cy="1854200"/>
        </p:xfrm>
        <a:graphic>
          <a:graphicData uri="http://schemas.openxmlformats.org/drawingml/2006/table">
            <a:tbl>
              <a:tblPr firstRow="1" bandRow="1">
                <a:tableStyleId>{5C22544A-7EE6-4342-B048-85BDC9FD1C3A}</a:tableStyleId>
              </a:tblPr>
              <a:tblGrid>
                <a:gridCol w="3212910">
                  <a:extLst>
                    <a:ext uri="{9D8B030D-6E8A-4147-A177-3AD203B41FA5}">
                      <a16:colId xmlns:a16="http://schemas.microsoft.com/office/drawing/2014/main" val="3462131696"/>
                    </a:ext>
                  </a:extLst>
                </a:gridCol>
                <a:gridCol w="3653618">
                  <a:extLst>
                    <a:ext uri="{9D8B030D-6E8A-4147-A177-3AD203B41FA5}">
                      <a16:colId xmlns:a16="http://schemas.microsoft.com/office/drawing/2014/main" val="1990358615"/>
                    </a:ext>
                  </a:extLst>
                </a:gridCol>
              </a:tblGrid>
              <a:tr h="370840">
                <a:tc>
                  <a:txBody>
                    <a:bodyPr/>
                    <a:lstStyle/>
                    <a:p>
                      <a:pPr algn="ctr"/>
                      <a:r>
                        <a:rPr lang="en-GB" dirty="0" err="1"/>
                        <a:t>State_id</a:t>
                      </a:r>
                      <a:r>
                        <a:rPr lang="en-GB" dirty="0"/>
                        <a:t> </a:t>
                      </a:r>
                    </a:p>
                  </a:txBody>
                  <a:tcPr/>
                </a:tc>
                <a:tc>
                  <a:txBody>
                    <a:bodyPr/>
                    <a:lstStyle/>
                    <a:p>
                      <a:pPr algn="ctr"/>
                      <a:r>
                        <a:rPr lang="en-GB" err="1"/>
                        <a:t>State_name</a:t>
                      </a:r>
                      <a:endParaRPr lang="en-GB" dirty="0" err="1"/>
                    </a:p>
                  </a:txBody>
                  <a:tcPr/>
                </a:tc>
                <a:extLst>
                  <a:ext uri="{0D108BD9-81ED-4DB2-BD59-A6C34878D82A}">
                    <a16:rowId xmlns:a16="http://schemas.microsoft.com/office/drawing/2014/main" val="1926753037"/>
                  </a:ext>
                </a:extLst>
              </a:tr>
              <a:tr h="370840">
                <a:tc>
                  <a:txBody>
                    <a:bodyPr/>
                    <a:lstStyle/>
                    <a:p>
                      <a:pPr algn="ctr"/>
                      <a:r>
                        <a:rPr lang="en-GB" dirty="0"/>
                        <a:t>1</a:t>
                      </a:r>
                    </a:p>
                  </a:txBody>
                  <a:tcPr/>
                </a:tc>
                <a:tc>
                  <a:txBody>
                    <a:bodyPr/>
                    <a:lstStyle/>
                    <a:p>
                      <a:pPr algn="ctr"/>
                      <a:r>
                        <a:rPr lang="en-GB" dirty="0"/>
                        <a:t>Gujrat</a:t>
                      </a:r>
                    </a:p>
                  </a:txBody>
                  <a:tcPr/>
                </a:tc>
                <a:extLst>
                  <a:ext uri="{0D108BD9-81ED-4DB2-BD59-A6C34878D82A}">
                    <a16:rowId xmlns:a16="http://schemas.microsoft.com/office/drawing/2014/main" val="1811176141"/>
                  </a:ext>
                </a:extLst>
              </a:tr>
              <a:tr h="370840">
                <a:tc>
                  <a:txBody>
                    <a:bodyPr/>
                    <a:lstStyle/>
                    <a:p>
                      <a:pPr algn="ctr"/>
                      <a:r>
                        <a:rPr lang="en-GB" dirty="0"/>
                        <a:t>2</a:t>
                      </a:r>
                    </a:p>
                  </a:txBody>
                  <a:tcPr/>
                </a:tc>
                <a:tc>
                  <a:txBody>
                    <a:bodyPr/>
                    <a:lstStyle/>
                    <a:p>
                      <a:pPr lvl="0" algn="ctr">
                        <a:buNone/>
                      </a:pPr>
                      <a:r>
                        <a:rPr lang="en-GB" sz="1800" b="0" i="0" u="none" strike="noStrike" noProof="0" dirty="0"/>
                        <a:t>Maharashtra</a:t>
                      </a:r>
                      <a:endParaRPr lang="en-US" dirty="0"/>
                    </a:p>
                  </a:txBody>
                  <a:tcPr/>
                </a:tc>
                <a:extLst>
                  <a:ext uri="{0D108BD9-81ED-4DB2-BD59-A6C34878D82A}">
                    <a16:rowId xmlns:a16="http://schemas.microsoft.com/office/drawing/2014/main" val="746288088"/>
                  </a:ext>
                </a:extLst>
              </a:tr>
              <a:tr h="370840">
                <a:tc>
                  <a:txBody>
                    <a:bodyPr/>
                    <a:lstStyle/>
                    <a:p>
                      <a:pPr algn="ctr"/>
                      <a:r>
                        <a:rPr lang="en-GB" dirty="0"/>
                        <a:t>3</a:t>
                      </a:r>
                    </a:p>
                  </a:txBody>
                  <a:tcPr/>
                </a:tc>
                <a:tc>
                  <a:txBody>
                    <a:bodyPr/>
                    <a:lstStyle/>
                    <a:p>
                      <a:pPr lvl="0" algn="ctr">
                        <a:buNone/>
                      </a:pPr>
                      <a:r>
                        <a:rPr lang="en-GB" sz="1800" b="0" i="0" u="none" strike="noStrike" noProof="0" dirty="0">
                          <a:latin typeface="Calibri"/>
                        </a:rPr>
                        <a:t>Rajasthan</a:t>
                      </a:r>
                    </a:p>
                  </a:txBody>
                  <a:tcPr/>
                </a:tc>
                <a:extLst>
                  <a:ext uri="{0D108BD9-81ED-4DB2-BD59-A6C34878D82A}">
                    <a16:rowId xmlns:a16="http://schemas.microsoft.com/office/drawing/2014/main" val="1353786834"/>
                  </a:ext>
                </a:extLst>
              </a:tr>
              <a:tr h="370840">
                <a:tc>
                  <a:txBody>
                    <a:bodyPr/>
                    <a:lstStyle/>
                    <a:p>
                      <a:pPr algn="ctr"/>
                      <a:r>
                        <a:rPr lang="en-GB" dirty="0"/>
                        <a:t>4</a:t>
                      </a:r>
                    </a:p>
                  </a:txBody>
                  <a:tcPr/>
                </a:tc>
                <a:tc>
                  <a:txBody>
                    <a:bodyPr/>
                    <a:lstStyle/>
                    <a:p>
                      <a:pPr lvl="0" algn="ctr">
                        <a:buNone/>
                      </a:pPr>
                      <a:r>
                        <a:rPr lang="en-GB" sz="1800" b="0" i="0" u="none" strike="noStrike" noProof="0" dirty="0"/>
                        <a:t>Madhya Pradesh</a:t>
                      </a:r>
                    </a:p>
                  </a:txBody>
                  <a:tcPr/>
                </a:tc>
                <a:extLst>
                  <a:ext uri="{0D108BD9-81ED-4DB2-BD59-A6C34878D82A}">
                    <a16:rowId xmlns:a16="http://schemas.microsoft.com/office/drawing/2014/main" val="4255065728"/>
                  </a:ext>
                </a:extLst>
              </a:tr>
            </a:tbl>
          </a:graphicData>
        </a:graphic>
      </p:graphicFrame>
      <p:sp>
        <p:nvSpPr>
          <p:cNvPr id="5" name="TextBox 4">
            <a:extLst>
              <a:ext uri="{FF2B5EF4-FFF2-40B4-BE49-F238E27FC236}">
                <a16:creationId xmlns:a16="http://schemas.microsoft.com/office/drawing/2014/main" id="{A5CCDD7D-7AFB-3D28-87F8-8880C8FB7003}"/>
              </a:ext>
            </a:extLst>
          </p:cNvPr>
          <p:cNvSpPr txBox="1"/>
          <p:nvPr/>
        </p:nvSpPr>
        <p:spPr>
          <a:xfrm>
            <a:off x="1733266" y="1392072"/>
            <a:ext cx="361893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dirty="0">
                <a:latin typeface="Arial"/>
              </a:rPr>
              <a:t>1.State Table: -</a:t>
            </a:r>
            <a:endParaRPr lang="en-GB" sz="1600" b="1" dirty="0">
              <a:latin typeface="Arial"/>
              <a:cs typeface="Arial"/>
            </a:endParaRPr>
          </a:p>
          <a:p>
            <a:r>
              <a:rPr lang="en-GB" sz="1600" b="1" dirty="0">
                <a:latin typeface="Arial"/>
              </a:rPr>
              <a:t>Primary Key: - </a:t>
            </a:r>
            <a:r>
              <a:rPr lang="en-GB" sz="1600" b="1" dirty="0" err="1">
                <a:latin typeface="Arial"/>
              </a:rPr>
              <a:t>State_id</a:t>
            </a:r>
            <a:endParaRPr lang="en-GB" sz="1600" b="1" dirty="0">
              <a:latin typeface="Arial"/>
              <a:cs typeface="Arial"/>
            </a:endParaRPr>
          </a:p>
          <a:p>
            <a:r>
              <a:rPr lang="en-GB" sz="1600" b="1" dirty="0">
                <a:latin typeface="Arial"/>
              </a:rPr>
              <a:t>Description: - It Stores state Detail</a:t>
            </a:r>
            <a:endParaRPr lang="en-GB" sz="1600" b="1" dirty="0">
              <a:latin typeface="Arial"/>
              <a:cs typeface="Arial"/>
            </a:endParaRPr>
          </a:p>
        </p:txBody>
      </p:sp>
    </p:spTree>
    <p:extLst>
      <p:ext uri="{BB962C8B-B14F-4D97-AF65-F5344CB8AC3E}">
        <p14:creationId xmlns:p14="http://schemas.microsoft.com/office/powerpoint/2010/main" val="3267500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8775-776C-5A15-AC96-E7DA825127BA}"/>
              </a:ext>
            </a:extLst>
          </p:cNvPr>
          <p:cNvSpPr>
            <a:spLocks noGrp="1"/>
          </p:cNvSpPr>
          <p:nvPr>
            <p:ph type="title"/>
          </p:nvPr>
        </p:nvSpPr>
        <p:spPr>
          <a:xfrm>
            <a:off x="360528" y="569841"/>
            <a:ext cx="4544705" cy="461206"/>
          </a:xfrm>
        </p:spPr>
        <p:txBody>
          <a:bodyPr>
            <a:normAutofit/>
          </a:bodyPr>
          <a:lstStyle/>
          <a:p>
            <a:pPr marL="342900" indent="-342900">
              <a:buFont typeface="Wingdings"/>
              <a:buChar char="Ø"/>
            </a:pPr>
            <a:r>
              <a:rPr lang="en-GB" sz="2400" b="1" dirty="0">
                <a:cs typeface="Calibri Light" panose="020F0302020204030204"/>
              </a:rPr>
              <a:t>City Table With Example:-</a:t>
            </a:r>
            <a:endParaRPr lang="en-GB" sz="2400" dirty="0">
              <a:cs typeface="Calibri Light" panose="020F0302020204030204"/>
            </a:endParaRPr>
          </a:p>
        </p:txBody>
      </p:sp>
      <p:graphicFrame>
        <p:nvGraphicFramePr>
          <p:cNvPr id="3" name="Table 3">
            <a:extLst>
              <a:ext uri="{FF2B5EF4-FFF2-40B4-BE49-F238E27FC236}">
                <a16:creationId xmlns:a16="http://schemas.microsoft.com/office/drawing/2014/main" id="{EA0A0A01-B36D-CDB5-2E5B-8A92FAA8B242}"/>
              </a:ext>
            </a:extLst>
          </p:cNvPr>
          <p:cNvGraphicFramePr>
            <a:graphicFrameLocks noGrp="1"/>
          </p:cNvGraphicFramePr>
          <p:nvPr>
            <p:extLst>
              <p:ext uri="{D42A27DB-BD31-4B8C-83A1-F6EECF244321}">
                <p14:modId xmlns:p14="http://schemas.microsoft.com/office/powerpoint/2010/main" val="1868159491"/>
              </p:ext>
            </p:extLst>
          </p:nvPr>
        </p:nvGraphicFramePr>
        <p:xfrm>
          <a:off x="1841083" y="2189510"/>
          <a:ext cx="8240878" cy="1483360"/>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143984323"/>
                    </a:ext>
                  </a:extLst>
                </a:gridCol>
                <a:gridCol w="1633727">
                  <a:extLst>
                    <a:ext uri="{9D8B030D-6E8A-4147-A177-3AD203B41FA5}">
                      <a16:colId xmlns:a16="http://schemas.microsoft.com/office/drawing/2014/main" val="1955346001"/>
                    </a:ext>
                  </a:extLst>
                </a:gridCol>
                <a:gridCol w="1633727">
                  <a:extLst>
                    <a:ext uri="{9D8B030D-6E8A-4147-A177-3AD203B41FA5}">
                      <a16:colId xmlns:a16="http://schemas.microsoft.com/office/drawing/2014/main" val="1122053175"/>
                    </a:ext>
                  </a:extLst>
                </a:gridCol>
                <a:gridCol w="1633727">
                  <a:extLst>
                    <a:ext uri="{9D8B030D-6E8A-4147-A177-3AD203B41FA5}">
                      <a16:colId xmlns:a16="http://schemas.microsoft.com/office/drawing/2014/main" val="1525440994"/>
                    </a:ext>
                  </a:extLst>
                </a:gridCol>
                <a:gridCol w="1705970">
                  <a:extLst>
                    <a:ext uri="{9D8B030D-6E8A-4147-A177-3AD203B41FA5}">
                      <a16:colId xmlns:a16="http://schemas.microsoft.com/office/drawing/2014/main" val="1141351898"/>
                    </a:ext>
                  </a:extLst>
                </a:gridCol>
              </a:tblGrid>
              <a:tr h="370840">
                <a:tc>
                  <a:txBody>
                    <a:bodyPr/>
                    <a:lstStyle/>
                    <a:p>
                      <a:pPr algn="ctr"/>
                      <a:r>
                        <a:rPr lang="en-GB"/>
                        <a:t>Fieldname </a:t>
                      </a:r>
                    </a:p>
                  </a:txBody>
                  <a:tcPr/>
                </a:tc>
                <a:tc>
                  <a:txBody>
                    <a:bodyPr/>
                    <a:lstStyle/>
                    <a:p>
                      <a:pPr algn="ctr"/>
                      <a:r>
                        <a:rPr lang="en-GB"/>
                        <a:t>Datatype</a:t>
                      </a:r>
                    </a:p>
                  </a:txBody>
                  <a:tcPr/>
                </a:tc>
                <a:tc>
                  <a:txBody>
                    <a:bodyPr/>
                    <a:lstStyle/>
                    <a:p>
                      <a:pPr algn="ctr"/>
                      <a:r>
                        <a:rPr lang="en-GB"/>
                        <a:t>Size</a:t>
                      </a:r>
                    </a:p>
                  </a:txBody>
                  <a:tcPr/>
                </a:tc>
                <a:tc>
                  <a:txBody>
                    <a:bodyPr/>
                    <a:lstStyle/>
                    <a:p>
                      <a:pPr lvl="0" algn="ctr">
                        <a:buNone/>
                      </a:pPr>
                      <a:r>
                        <a:rPr lang="en-GB" sz="1800" u="none" strike="noStrike" noProof="0"/>
                        <a:t>Constraint</a:t>
                      </a:r>
                      <a:endParaRPr lang="en-US"/>
                    </a:p>
                  </a:txBody>
                  <a:tcPr/>
                </a:tc>
                <a:tc>
                  <a:txBody>
                    <a:bodyPr/>
                    <a:lstStyle/>
                    <a:p>
                      <a:pPr algn="ctr"/>
                      <a:r>
                        <a:rPr lang="en-GB"/>
                        <a:t>Description</a:t>
                      </a:r>
                    </a:p>
                  </a:txBody>
                  <a:tcPr/>
                </a:tc>
                <a:extLst>
                  <a:ext uri="{0D108BD9-81ED-4DB2-BD59-A6C34878D82A}">
                    <a16:rowId xmlns:a16="http://schemas.microsoft.com/office/drawing/2014/main" val="1128725747"/>
                  </a:ext>
                </a:extLst>
              </a:tr>
              <a:tr h="370840">
                <a:tc>
                  <a:txBody>
                    <a:bodyPr/>
                    <a:lstStyle/>
                    <a:p>
                      <a:pPr algn="ctr"/>
                      <a:r>
                        <a:rPr lang="en-GB" err="1"/>
                        <a:t>City_id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City id</a:t>
                      </a:r>
                    </a:p>
                  </a:txBody>
                  <a:tcPr/>
                </a:tc>
                <a:extLst>
                  <a:ext uri="{0D108BD9-81ED-4DB2-BD59-A6C34878D82A}">
                    <a16:rowId xmlns:a16="http://schemas.microsoft.com/office/drawing/2014/main" val="1739459346"/>
                  </a:ext>
                </a:extLst>
              </a:tr>
              <a:tr h="370840">
                <a:tc>
                  <a:txBody>
                    <a:bodyPr/>
                    <a:lstStyle/>
                    <a:p>
                      <a:pPr algn="ctr"/>
                      <a:r>
                        <a:rPr lang="en-GB" err="1"/>
                        <a:t>City_name</a:t>
                      </a:r>
                    </a:p>
                  </a:txBody>
                  <a:tcPr/>
                </a:tc>
                <a:tc>
                  <a:txBody>
                    <a:bodyPr/>
                    <a:lstStyle/>
                    <a:p>
                      <a:pPr algn="ctr"/>
                      <a:r>
                        <a:rPr lang="en-GB"/>
                        <a:t>varchar</a:t>
                      </a:r>
                    </a:p>
                  </a:txBody>
                  <a:tcPr/>
                </a:tc>
                <a:tc>
                  <a:txBody>
                    <a:bodyPr/>
                    <a:lstStyle/>
                    <a:p>
                      <a:pPr algn="ctr"/>
                      <a:r>
                        <a:rPr lang="en-GB"/>
                        <a:t>50</a:t>
                      </a:r>
                    </a:p>
                  </a:txBody>
                  <a:tcPr/>
                </a:tc>
                <a:tc>
                  <a:txBody>
                    <a:bodyPr/>
                    <a:lstStyle/>
                    <a:p>
                      <a:pPr algn="ctr"/>
                      <a:r>
                        <a:rPr lang="en-GB"/>
                        <a:t>Not Null</a:t>
                      </a:r>
                    </a:p>
                  </a:txBody>
                  <a:tcPr/>
                </a:tc>
                <a:tc>
                  <a:txBody>
                    <a:bodyPr/>
                    <a:lstStyle/>
                    <a:p>
                      <a:pPr algn="ctr"/>
                      <a:r>
                        <a:rPr lang="en-GB"/>
                        <a:t>Store City name</a:t>
                      </a:r>
                    </a:p>
                  </a:txBody>
                  <a:tcPr/>
                </a:tc>
                <a:extLst>
                  <a:ext uri="{0D108BD9-81ED-4DB2-BD59-A6C34878D82A}">
                    <a16:rowId xmlns:a16="http://schemas.microsoft.com/office/drawing/2014/main" val="601088430"/>
                  </a:ext>
                </a:extLst>
              </a:tr>
              <a:tr h="370840">
                <a:tc>
                  <a:txBody>
                    <a:bodyPr/>
                    <a:lstStyle/>
                    <a:p>
                      <a:pPr algn="ctr"/>
                      <a:r>
                        <a:rPr lang="en-GB" err="1"/>
                        <a:t>State_id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F.K</a:t>
                      </a:r>
                    </a:p>
                  </a:txBody>
                  <a:tcPr/>
                </a:tc>
                <a:tc>
                  <a:txBody>
                    <a:bodyPr/>
                    <a:lstStyle/>
                    <a:p>
                      <a:pPr algn="ctr"/>
                      <a:r>
                        <a:rPr lang="en-GB"/>
                        <a:t>Store State id</a:t>
                      </a:r>
                    </a:p>
                  </a:txBody>
                  <a:tcPr/>
                </a:tc>
                <a:extLst>
                  <a:ext uri="{0D108BD9-81ED-4DB2-BD59-A6C34878D82A}">
                    <a16:rowId xmlns:a16="http://schemas.microsoft.com/office/drawing/2014/main" val="1585549081"/>
                  </a:ext>
                </a:extLst>
              </a:tr>
            </a:tbl>
          </a:graphicData>
        </a:graphic>
      </p:graphicFrame>
      <p:graphicFrame>
        <p:nvGraphicFramePr>
          <p:cNvPr id="4" name="Table 4">
            <a:extLst>
              <a:ext uri="{FF2B5EF4-FFF2-40B4-BE49-F238E27FC236}">
                <a16:creationId xmlns:a16="http://schemas.microsoft.com/office/drawing/2014/main" id="{03DC1622-2D03-7913-F108-E269874518DB}"/>
              </a:ext>
            </a:extLst>
          </p:cNvPr>
          <p:cNvGraphicFramePr>
            <a:graphicFrameLocks noGrp="1"/>
          </p:cNvGraphicFramePr>
          <p:nvPr>
            <p:extLst>
              <p:ext uri="{D42A27DB-BD31-4B8C-83A1-F6EECF244321}">
                <p14:modId xmlns:p14="http://schemas.microsoft.com/office/powerpoint/2010/main" val="1073277882"/>
              </p:ext>
            </p:extLst>
          </p:nvPr>
        </p:nvGraphicFramePr>
        <p:xfrm>
          <a:off x="1909322" y="3963720"/>
          <a:ext cx="8168640" cy="1854199"/>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3994086899"/>
                    </a:ext>
                  </a:extLst>
                </a:gridCol>
                <a:gridCol w="2722880">
                  <a:extLst>
                    <a:ext uri="{9D8B030D-6E8A-4147-A177-3AD203B41FA5}">
                      <a16:colId xmlns:a16="http://schemas.microsoft.com/office/drawing/2014/main" val="2120511284"/>
                    </a:ext>
                  </a:extLst>
                </a:gridCol>
                <a:gridCol w="2722880">
                  <a:extLst>
                    <a:ext uri="{9D8B030D-6E8A-4147-A177-3AD203B41FA5}">
                      <a16:colId xmlns:a16="http://schemas.microsoft.com/office/drawing/2014/main" val="813270530"/>
                    </a:ext>
                  </a:extLst>
                </a:gridCol>
              </a:tblGrid>
              <a:tr h="370840">
                <a:tc>
                  <a:txBody>
                    <a:bodyPr/>
                    <a:lstStyle/>
                    <a:p>
                      <a:pPr algn="ctr"/>
                      <a:r>
                        <a:rPr lang="en-GB" err="1"/>
                        <a:t>City_id</a:t>
                      </a:r>
                      <a:endParaRPr lang="en-GB" dirty="0" err="1"/>
                    </a:p>
                  </a:txBody>
                  <a:tcPr/>
                </a:tc>
                <a:tc>
                  <a:txBody>
                    <a:bodyPr/>
                    <a:lstStyle/>
                    <a:p>
                      <a:pPr algn="ctr"/>
                      <a:r>
                        <a:rPr lang="en-GB" err="1"/>
                        <a:t>City_name</a:t>
                      </a:r>
                      <a:endParaRPr lang="en-GB" dirty="0" err="1"/>
                    </a:p>
                  </a:txBody>
                  <a:tcPr/>
                </a:tc>
                <a:tc>
                  <a:txBody>
                    <a:bodyPr/>
                    <a:lstStyle/>
                    <a:p>
                      <a:pPr algn="ctr"/>
                      <a:r>
                        <a:rPr lang="en-GB" err="1"/>
                        <a:t>State_id</a:t>
                      </a:r>
                      <a:endParaRPr lang="en-GB" dirty="0" err="1"/>
                    </a:p>
                  </a:txBody>
                  <a:tcPr/>
                </a:tc>
                <a:extLst>
                  <a:ext uri="{0D108BD9-81ED-4DB2-BD59-A6C34878D82A}">
                    <a16:rowId xmlns:a16="http://schemas.microsoft.com/office/drawing/2014/main" val="2640215558"/>
                  </a:ext>
                </a:extLst>
              </a:tr>
              <a:tr h="370840">
                <a:tc>
                  <a:txBody>
                    <a:bodyPr/>
                    <a:lstStyle/>
                    <a:p>
                      <a:pPr algn="ctr"/>
                      <a:r>
                        <a:rPr lang="en-GB" dirty="0"/>
                        <a:t>1</a:t>
                      </a:r>
                    </a:p>
                  </a:txBody>
                  <a:tcPr/>
                </a:tc>
                <a:tc>
                  <a:txBody>
                    <a:bodyPr/>
                    <a:lstStyle/>
                    <a:p>
                      <a:pPr algn="ctr"/>
                      <a:r>
                        <a:rPr lang="en-GB" dirty="0"/>
                        <a:t>Ahmedabad</a:t>
                      </a:r>
                    </a:p>
                  </a:txBody>
                  <a:tcPr/>
                </a:tc>
                <a:tc>
                  <a:txBody>
                    <a:bodyPr/>
                    <a:lstStyle/>
                    <a:p>
                      <a:pPr algn="ctr"/>
                      <a:r>
                        <a:rPr lang="en-GB" dirty="0"/>
                        <a:t>1</a:t>
                      </a:r>
                    </a:p>
                  </a:txBody>
                  <a:tcPr/>
                </a:tc>
                <a:extLst>
                  <a:ext uri="{0D108BD9-81ED-4DB2-BD59-A6C34878D82A}">
                    <a16:rowId xmlns:a16="http://schemas.microsoft.com/office/drawing/2014/main" val="163548451"/>
                  </a:ext>
                </a:extLst>
              </a:tr>
              <a:tr h="370840">
                <a:tc>
                  <a:txBody>
                    <a:bodyPr/>
                    <a:lstStyle/>
                    <a:p>
                      <a:pPr algn="ctr"/>
                      <a:r>
                        <a:rPr lang="en-GB" dirty="0"/>
                        <a:t>2</a:t>
                      </a:r>
                    </a:p>
                  </a:txBody>
                  <a:tcPr/>
                </a:tc>
                <a:tc>
                  <a:txBody>
                    <a:bodyPr/>
                    <a:lstStyle/>
                    <a:p>
                      <a:pPr algn="ctr"/>
                      <a:r>
                        <a:rPr lang="en-GB" dirty="0"/>
                        <a:t>Mumbai</a:t>
                      </a:r>
                    </a:p>
                  </a:txBody>
                  <a:tcPr/>
                </a:tc>
                <a:tc>
                  <a:txBody>
                    <a:bodyPr/>
                    <a:lstStyle/>
                    <a:p>
                      <a:pPr algn="ctr"/>
                      <a:r>
                        <a:rPr lang="en-GB" dirty="0"/>
                        <a:t>2</a:t>
                      </a:r>
                    </a:p>
                  </a:txBody>
                  <a:tcPr/>
                </a:tc>
                <a:extLst>
                  <a:ext uri="{0D108BD9-81ED-4DB2-BD59-A6C34878D82A}">
                    <a16:rowId xmlns:a16="http://schemas.microsoft.com/office/drawing/2014/main" val="3002290035"/>
                  </a:ext>
                </a:extLst>
              </a:tr>
              <a:tr h="370840">
                <a:tc>
                  <a:txBody>
                    <a:bodyPr/>
                    <a:lstStyle/>
                    <a:p>
                      <a:pPr algn="ctr"/>
                      <a:r>
                        <a:rPr lang="en-GB" dirty="0"/>
                        <a:t>3</a:t>
                      </a:r>
                    </a:p>
                  </a:txBody>
                  <a:tcPr/>
                </a:tc>
                <a:tc>
                  <a:txBody>
                    <a:bodyPr/>
                    <a:lstStyle/>
                    <a:p>
                      <a:pPr lvl="0" algn="ctr">
                        <a:buNone/>
                      </a:pPr>
                      <a:r>
                        <a:rPr lang="en-GB" sz="1800" b="0" i="0" u="none" strike="noStrike" noProof="0" dirty="0">
                          <a:latin typeface="Calibri"/>
                        </a:rPr>
                        <a:t>Jaisalmer </a:t>
                      </a:r>
                      <a:endParaRPr lang="en-US" dirty="0"/>
                    </a:p>
                  </a:txBody>
                  <a:tcPr/>
                </a:tc>
                <a:tc>
                  <a:txBody>
                    <a:bodyPr/>
                    <a:lstStyle/>
                    <a:p>
                      <a:pPr algn="ctr"/>
                      <a:r>
                        <a:rPr lang="en-GB" dirty="0"/>
                        <a:t>3</a:t>
                      </a:r>
                    </a:p>
                  </a:txBody>
                  <a:tcPr/>
                </a:tc>
                <a:extLst>
                  <a:ext uri="{0D108BD9-81ED-4DB2-BD59-A6C34878D82A}">
                    <a16:rowId xmlns:a16="http://schemas.microsoft.com/office/drawing/2014/main" val="241106367"/>
                  </a:ext>
                </a:extLst>
              </a:tr>
              <a:tr h="370839">
                <a:tc>
                  <a:txBody>
                    <a:bodyPr/>
                    <a:lstStyle/>
                    <a:p>
                      <a:pPr lvl="0" algn="ctr">
                        <a:buNone/>
                      </a:pPr>
                      <a:r>
                        <a:rPr lang="en-GB" dirty="0"/>
                        <a:t>4</a:t>
                      </a:r>
                    </a:p>
                  </a:txBody>
                  <a:tcPr/>
                </a:tc>
                <a:tc>
                  <a:txBody>
                    <a:bodyPr/>
                    <a:lstStyle/>
                    <a:p>
                      <a:pPr lvl="0" algn="ctr">
                        <a:buNone/>
                      </a:pPr>
                      <a:r>
                        <a:rPr lang="en-GB" dirty="0"/>
                        <a:t>Bhopal</a:t>
                      </a:r>
                    </a:p>
                  </a:txBody>
                  <a:tcPr/>
                </a:tc>
                <a:tc>
                  <a:txBody>
                    <a:bodyPr/>
                    <a:lstStyle/>
                    <a:p>
                      <a:pPr lvl="0" algn="ctr">
                        <a:buNone/>
                      </a:pPr>
                      <a:r>
                        <a:rPr lang="en-GB" dirty="0"/>
                        <a:t>4</a:t>
                      </a:r>
                    </a:p>
                  </a:txBody>
                  <a:tcPr/>
                </a:tc>
                <a:extLst>
                  <a:ext uri="{0D108BD9-81ED-4DB2-BD59-A6C34878D82A}">
                    <a16:rowId xmlns:a16="http://schemas.microsoft.com/office/drawing/2014/main" val="3373905971"/>
                  </a:ext>
                </a:extLst>
              </a:tr>
            </a:tbl>
          </a:graphicData>
        </a:graphic>
      </p:graphicFrame>
      <p:sp>
        <p:nvSpPr>
          <p:cNvPr id="5" name="TextBox 4">
            <a:extLst>
              <a:ext uri="{FF2B5EF4-FFF2-40B4-BE49-F238E27FC236}">
                <a16:creationId xmlns:a16="http://schemas.microsoft.com/office/drawing/2014/main" id="{41B82D32-D844-E30C-7B45-50FE50CB44A8}"/>
              </a:ext>
            </a:extLst>
          </p:cNvPr>
          <p:cNvSpPr txBox="1"/>
          <p:nvPr/>
        </p:nvSpPr>
        <p:spPr>
          <a:xfrm>
            <a:off x="1756012" y="1175982"/>
            <a:ext cx="353931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2.City Table: -</a:t>
            </a:r>
          </a:p>
          <a:p>
            <a:r>
              <a:rPr lang="en-US" sz="1600" b="1" dirty="0">
                <a:latin typeface="Arial"/>
                <a:cs typeface="Arial"/>
              </a:rPr>
              <a:t>Primary Key: - </a:t>
            </a:r>
            <a:r>
              <a:rPr lang="en-US" sz="1600" b="1" dirty="0" err="1">
                <a:latin typeface="Arial"/>
                <a:cs typeface="Arial"/>
              </a:rPr>
              <a:t>City_id</a:t>
            </a:r>
            <a:endParaRPr lang="en-US" sz="1600" b="1">
              <a:latin typeface="Arial"/>
              <a:cs typeface="Arial"/>
            </a:endParaRPr>
          </a:p>
          <a:p>
            <a:r>
              <a:rPr lang="en-US" sz="1600" b="1" dirty="0">
                <a:latin typeface="Arial"/>
                <a:cs typeface="Arial"/>
              </a:rPr>
              <a:t>Foreign Key: - </a:t>
            </a:r>
            <a:r>
              <a:rPr lang="en-US" sz="1600" b="1" dirty="0" err="1">
                <a:latin typeface="Arial"/>
                <a:cs typeface="Arial"/>
              </a:rPr>
              <a:t>State_id</a:t>
            </a:r>
            <a:endParaRPr lang="en-US" sz="1600" b="1">
              <a:latin typeface="Arial"/>
              <a:cs typeface="Arial"/>
            </a:endParaRPr>
          </a:p>
          <a:p>
            <a:r>
              <a:rPr lang="en-US" sz="1600" b="1" dirty="0">
                <a:latin typeface="Arial"/>
                <a:cs typeface="Arial"/>
              </a:rPr>
              <a:t>Description: - It Stores City Detail</a:t>
            </a:r>
          </a:p>
        </p:txBody>
      </p:sp>
    </p:spTree>
    <p:extLst>
      <p:ext uri="{BB962C8B-B14F-4D97-AF65-F5344CB8AC3E}">
        <p14:creationId xmlns:p14="http://schemas.microsoft.com/office/powerpoint/2010/main" val="2459158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FD1DE-8786-559D-03D4-B6F8BFF7607C}"/>
              </a:ext>
            </a:extLst>
          </p:cNvPr>
          <p:cNvSpPr>
            <a:spLocks noGrp="1"/>
          </p:cNvSpPr>
          <p:nvPr>
            <p:ph type="title"/>
          </p:nvPr>
        </p:nvSpPr>
        <p:spPr>
          <a:xfrm>
            <a:off x="838200" y="365125"/>
            <a:ext cx="5045123" cy="734161"/>
          </a:xfrm>
        </p:spPr>
        <p:txBody>
          <a:bodyPr/>
          <a:lstStyle/>
          <a:p>
            <a:pPr marL="342900" indent="-342900">
              <a:buFont typeface="Wingdings"/>
              <a:buChar char="Ø"/>
            </a:pPr>
            <a:r>
              <a:rPr lang="en-GB" sz="2400" b="1" dirty="0">
                <a:cs typeface="Calibri Light" panose="020F0302020204030204"/>
              </a:rPr>
              <a:t>Area Table With Example:-</a:t>
            </a:r>
          </a:p>
        </p:txBody>
      </p:sp>
      <p:graphicFrame>
        <p:nvGraphicFramePr>
          <p:cNvPr id="3" name="Table 3">
            <a:extLst>
              <a:ext uri="{FF2B5EF4-FFF2-40B4-BE49-F238E27FC236}">
                <a16:creationId xmlns:a16="http://schemas.microsoft.com/office/drawing/2014/main" id="{A90FAF5B-B59E-7C2C-A9A7-6659A082C6B3}"/>
              </a:ext>
            </a:extLst>
          </p:cNvPr>
          <p:cNvGraphicFramePr>
            <a:graphicFrameLocks noGrp="1"/>
          </p:cNvGraphicFramePr>
          <p:nvPr>
            <p:extLst>
              <p:ext uri="{D42A27DB-BD31-4B8C-83A1-F6EECF244321}">
                <p14:modId xmlns:p14="http://schemas.microsoft.com/office/powerpoint/2010/main" val="4155457399"/>
              </p:ext>
            </p:extLst>
          </p:nvPr>
        </p:nvGraphicFramePr>
        <p:xfrm>
          <a:off x="1761472" y="2235003"/>
          <a:ext cx="8483713" cy="1483359"/>
        </p:xfrm>
        <a:graphic>
          <a:graphicData uri="http://schemas.openxmlformats.org/drawingml/2006/table">
            <a:tbl>
              <a:tblPr firstRow="1" bandRow="1">
                <a:tableStyleId>{5C22544A-7EE6-4342-B048-85BDC9FD1C3A}</a:tableStyleId>
              </a:tblPr>
              <a:tblGrid>
                <a:gridCol w="1620671">
                  <a:extLst>
                    <a:ext uri="{9D8B030D-6E8A-4147-A177-3AD203B41FA5}">
                      <a16:colId xmlns:a16="http://schemas.microsoft.com/office/drawing/2014/main" val="3155228397"/>
                    </a:ext>
                  </a:extLst>
                </a:gridCol>
                <a:gridCol w="1633726">
                  <a:extLst>
                    <a:ext uri="{9D8B030D-6E8A-4147-A177-3AD203B41FA5}">
                      <a16:colId xmlns:a16="http://schemas.microsoft.com/office/drawing/2014/main" val="2491319650"/>
                    </a:ext>
                  </a:extLst>
                </a:gridCol>
                <a:gridCol w="1633726">
                  <a:extLst>
                    <a:ext uri="{9D8B030D-6E8A-4147-A177-3AD203B41FA5}">
                      <a16:colId xmlns:a16="http://schemas.microsoft.com/office/drawing/2014/main" val="4222152274"/>
                    </a:ext>
                  </a:extLst>
                </a:gridCol>
                <a:gridCol w="1633726">
                  <a:extLst>
                    <a:ext uri="{9D8B030D-6E8A-4147-A177-3AD203B41FA5}">
                      <a16:colId xmlns:a16="http://schemas.microsoft.com/office/drawing/2014/main" val="2411356406"/>
                    </a:ext>
                  </a:extLst>
                </a:gridCol>
                <a:gridCol w="1961864">
                  <a:extLst>
                    <a:ext uri="{9D8B030D-6E8A-4147-A177-3AD203B41FA5}">
                      <a16:colId xmlns:a16="http://schemas.microsoft.com/office/drawing/2014/main" val="3882896607"/>
                    </a:ext>
                  </a:extLst>
                </a:gridCol>
              </a:tblGrid>
              <a:tr h="370840">
                <a:tc>
                  <a:txBody>
                    <a:bodyPr/>
                    <a:lstStyle/>
                    <a:p>
                      <a:pPr algn="ctr"/>
                      <a:r>
                        <a:rPr lang="en-GB" dirty="0"/>
                        <a:t>Fieldname</a:t>
                      </a:r>
                    </a:p>
                  </a:txBody>
                  <a:tcPr/>
                </a:tc>
                <a:tc>
                  <a:txBody>
                    <a:bodyPr/>
                    <a:lstStyle/>
                    <a:p>
                      <a:pPr algn="ctr"/>
                      <a:r>
                        <a:rPr lang="en-GB" dirty="0"/>
                        <a:t>Datatype</a:t>
                      </a:r>
                      <a:endParaRPr lang="en-GB" dirty="0" err="1"/>
                    </a:p>
                  </a:txBody>
                  <a:tcPr/>
                </a:tc>
                <a:tc>
                  <a:txBody>
                    <a:bodyPr/>
                    <a:lstStyle/>
                    <a:p>
                      <a:pPr algn="ctr"/>
                      <a:r>
                        <a:rPr lang="en-GB" dirty="0"/>
                        <a:t>Size</a:t>
                      </a:r>
                    </a:p>
                  </a:txBody>
                  <a:tcPr/>
                </a:tc>
                <a:tc>
                  <a:txBody>
                    <a:bodyPr/>
                    <a:lstStyle/>
                    <a:p>
                      <a:pPr algn="ctr"/>
                      <a:r>
                        <a:rPr lang="en-GB" dirty="0"/>
                        <a:t>Constraint</a:t>
                      </a:r>
                    </a:p>
                  </a:txBody>
                  <a:tcPr/>
                </a:tc>
                <a:tc>
                  <a:txBody>
                    <a:bodyPr/>
                    <a:lstStyle/>
                    <a:p>
                      <a:pPr algn="ctr"/>
                      <a:r>
                        <a:rPr lang="en-GB" dirty="0"/>
                        <a:t>Description</a:t>
                      </a:r>
                    </a:p>
                  </a:txBody>
                  <a:tcPr/>
                </a:tc>
                <a:extLst>
                  <a:ext uri="{0D108BD9-81ED-4DB2-BD59-A6C34878D82A}">
                    <a16:rowId xmlns:a16="http://schemas.microsoft.com/office/drawing/2014/main" val="2521339558"/>
                  </a:ext>
                </a:extLst>
              </a:tr>
              <a:tr h="370840">
                <a:tc>
                  <a:txBody>
                    <a:bodyPr/>
                    <a:lstStyle/>
                    <a:p>
                      <a:pPr algn="ctr"/>
                      <a:r>
                        <a:rPr lang="en-GB" dirty="0" err="1"/>
                        <a:t>Pincode</a:t>
                      </a:r>
                      <a:r>
                        <a:rPr lang="en-GB" dirty="0"/>
                        <a:t> </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Pin code</a:t>
                      </a:r>
                      <a:endParaRPr lang="en-GB" dirty="0" err="1"/>
                    </a:p>
                  </a:txBody>
                  <a:tcPr/>
                </a:tc>
                <a:extLst>
                  <a:ext uri="{0D108BD9-81ED-4DB2-BD59-A6C34878D82A}">
                    <a16:rowId xmlns:a16="http://schemas.microsoft.com/office/drawing/2014/main" val="4252817894"/>
                  </a:ext>
                </a:extLst>
              </a:tr>
              <a:tr h="370840">
                <a:tc>
                  <a:txBody>
                    <a:bodyPr/>
                    <a:lstStyle/>
                    <a:p>
                      <a:pPr algn="ctr"/>
                      <a:r>
                        <a:rPr lang="en-GB" dirty="0" err="1"/>
                        <a:t>Area_name</a:t>
                      </a:r>
                      <a:r>
                        <a:rPr lang="en-GB" dirty="0"/>
                        <a:t> </a:t>
                      </a:r>
                    </a:p>
                  </a:txBody>
                  <a:tcPr/>
                </a:tc>
                <a:tc>
                  <a:txBody>
                    <a:bodyPr/>
                    <a:lstStyle/>
                    <a:p>
                      <a:pPr algn="ctr"/>
                      <a:r>
                        <a:rPr lang="en-GB" dirty="0"/>
                        <a:t>varchar</a:t>
                      </a:r>
                    </a:p>
                  </a:txBody>
                  <a:tcPr/>
                </a:tc>
                <a:tc>
                  <a:txBody>
                    <a:bodyPr/>
                    <a:lstStyle/>
                    <a:p>
                      <a:pPr algn="ctr"/>
                      <a:r>
                        <a:rPr lang="en-GB" dirty="0"/>
                        <a:t>50</a:t>
                      </a:r>
                    </a:p>
                  </a:txBody>
                  <a:tcPr/>
                </a:tc>
                <a:tc>
                  <a:txBody>
                    <a:bodyPr/>
                    <a:lstStyle/>
                    <a:p>
                      <a:pPr algn="ctr"/>
                      <a:r>
                        <a:rPr lang="en-GB" dirty="0"/>
                        <a:t>Not Null</a:t>
                      </a:r>
                    </a:p>
                  </a:txBody>
                  <a:tcPr/>
                </a:tc>
                <a:tc>
                  <a:txBody>
                    <a:bodyPr/>
                    <a:lstStyle/>
                    <a:p>
                      <a:pPr algn="ctr"/>
                      <a:r>
                        <a:rPr lang="en-GB" dirty="0"/>
                        <a:t>Store Area Name</a:t>
                      </a:r>
                    </a:p>
                  </a:txBody>
                  <a:tcPr/>
                </a:tc>
                <a:extLst>
                  <a:ext uri="{0D108BD9-81ED-4DB2-BD59-A6C34878D82A}">
                    <a16:rowId xmlns:a16="http://schemas.microsoft.com/office/drawing/2014/main" val="2109479569"/>
                  </a:ext>
                </a:extLst>
              </a:tr>
              <a:tr h="370839">
                <a:tc>
                  <a:txBody>
                    <a:bodyPr/>
                    <a:lstStyle/>
                    <a:p>
                      <a:pPr lvl="0" algn="ctr">
                        <a:buNone/>
                      </a:pPr>
                      <a:r>
                        <a:rPr lang="en-GB" err="1"/>
                        <a:t>City_id</a:t>
                      </a:r>
                      <a:endParaRPr lang="en-US" err="1"/>
                    </a:p>
                  </a:txBody>
                  <a:tcPr/>
                </a:tc>
                <a:tc>
                  <a:txBody>
                    <a:bodyPr/>
                    <a:lstStyle/>
                    <a:p>
                      <a:pPr lvl="0" algn="ctr">
                        <a:buNone/>
                      </a:pPr>
                      <a:r>
                        <a:rPr lang="en-GB" dirty="0"/>
                        <a:t>Int</a:t>
                      </a:r>
                    </a:p>
                  </a:txBody>
                  <a:tcPr/>
                </a:tc>
                <a:tc>
                  <a:txBody>
                    <a:bodyPr/>
                    <a:lstStyle/>
                    <a:p>
                      <a:pPr lvl="0" algn="ctr">
                        <a:buNone/>
                      </a:pPr>
                      <a:r>
                        <a:rPr lang="en-GB" dirty="0"/>
                        <a:t>11</a:t>
                      </a:r>
                    </a:p>
                  </a:txBody>
                  <a:tcPr/>
                </a:tc>
                <a:tc>
                  <a:txBody>
                    <a:bodyPr/>
                    <a:lstStyle/>
                    <a:p>
                      <a:pPr lvl="0" algn="ctr">
                        <a:buNone/>
                      </a:pPr>
                      <a:r>
                        <a:rPr lang="en-GB" dirty="0"/>
                        <a:t>F.K</a:t>
                      </a:r>
                    </a:p>
                  </a:txBody>
                  <a:tcPr/>
                </a:tc>
                <a:tc>
                  <a:txBody>
                    <a:bodyPr/>
                    <a:lstStyle/>
                    <a:p>
                      <a:pPr lvl="0" algn="ctr">
                        <a:buNone/>
                      </a:pPr>
                      <a:r>
                        <a:rPr lang="en-GB" dirty="0"/>
                        <a:t>Store State id</a:t>
                      </a:r>
                    </a:p>
                  </a:txBody>
                  <a:tcPr/>
                </a:tc>
                <a:extLst>
                  <a:ext uri="{0D108BD9-81ED-4DB2-BD59-A6C34878D82A}">
                    <a16:rowId xmlns:a16="http://schemas.microsoft.com/office/drawing/2014/main" val="2150644729"/>
                  </a:ext>
                </a:extLst>
              </a:tr>
            </a:tbl>
          </a:graphicData>
        </a:graphic>
      </p:graphicFrame>
      <p:graphicFrame>
        <p:nvGraphicFramePr>
          <p:cNvPr id="4" name="Table 4">
            <a:extLst>
              <a:ext uri="{FF2B5EF4-FFF2-40B4-BE49-F238E27FC236}">
                <a16:creationId xmlns:a16="http://schemas.microsoft.com/office/drawing/2014/main" id="{8E0622DD-2236-229D-D786-B3C39D8CC390}"/>
              </a:ext>
            </a:extLst>
          </p:cNvPr>
          <p:cNvGraphicFramePr>
            <a:graphicFrameLocks noGrp="1"/>
          </p:cNvGraphicFramePr>
          <p:nvPr>
            <p:extLst>
              <p:ext uri="{D42A27DB-BD31-4B8C-83A1-F6EECF244321}">
                <p14:modId xmlns:p14="http://schemas.microsoft.com/office/powerpoint/2010/main" val="792234573"/>
              </p:ext>
            </p:extLst>
          </p:nvPr>
        </p:nvGraphicFramePr>
        <p:xfrm>
          <a:off x="1909322" y="3997839"/>
          <a:ext cx="8168640" cy="185420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634612166"/>
                    </a:ext>
                  </a:extLst>
                </a:gridCol>
                <a:gridCol w="2722880">
                  <a:extLst>
                    <a:ext uri="{9D8B030D-6E8A-4147-A177-3AD203B41FA5}">
                      <a16:colId xmlns:a16="http://schemas.microsoft.com/office/drawing/2014/main" val="1751114406"/>
                    </a:ext>
                  </a:extLst>
                </a:gridCol>
                <a:gridCol w="2722880">
                  <a:extLst>
                    <a:ext uri="{9D8B030D-6E8A-4147-A177-3AD203B41FA5}">
                      <a16:colId xmlns:a16="http://schemas.microsoft.com/office/drawing/2014/main" val="3597096778"/>
                    </a:ext>
                  </a:extLst>
                </a:gridCol>
              </a:tblGrid>
              <a:tr h="370840">
                <a:tc>
                  <a:txBody>
                    <a:bodyPr/>
                    <a:lstStyle/>
                    <a:p>
                      <a:pPr algn="ctr"/>
                      <a:r>
                        <a:rPr lang="en-GB" dirty="0"/>
                        <a:t>Pin code</a:t>
                      </a:r>
                      <a:endParaRPr lang="en-GB" dirty="0" err="1"/>
                    </a:p>
                  </a:txBody>
                  <a:tcPr/>
                </a:tc>
                <a:tc>
                  <a:txBody>
                    <a:bodyPr/>
                    <a:lstStyle/>
                    <a:p>
                      <a:pPr algn="ctr"/>
                      <a:r>
                        <a:rPr lang="en-GB" err="1"/>
                        <a:t>Area_name</a:t>
                      </a:r>
                      <a:endParaRPr lang="en-GB" dirty="0" err="1"/>
                    </a:p>
                  </a:txBody>
                  <a:tcPr/>
                </a:tc>
                <a:tc>
                  <a:txBody>
                    <a:bodyPr/>
                    <a:lstStyle/>
                    <a:p>
                      <a:pPr algn="ctr"/>
                      <a:r>
                        <a:rPr lang="en-GB" err="1"/>
                        <a:t>City_id</a:t>
                      </a:r>
                      <a:endParaRPr lang="en-GB" dirty="0" err="1"/>
                    </a:p>
                  </a:txBody>
                  <a:tcPr/>
                </a:tc>
                <a:extLst>
                  <a:ext uri="{0D108BD9-81ED-4DB2-BD59-A6C34878D82A}">
                    <a16:rowId xmlns:a16="http://schemas.microsoft.com/office/drawing/2014/main" val="3069241377"/>
                  </a:ext>
                </a:extLst>
              </a:tr>
              <a:tr h="370840">
                <a:tc>
                  <a:txBody>
                    <a:bodyPr/>
                    <a:lstStyle/>
                    <a:p>
                      <a:pPr lvl="0" algn="ctr">
                        <a:buNone/>
                      </a:pPr>
                      <a:r>
                        <a:rPr lang="en-GB" dirty="0"/>
                        <a:t>382415</a:t>
                      </a:r>
                      <a:endParaRPr lang="en-US" dirty="0"/>
                    </a:p>
                  </a:txBody>
                  <a:tcPr/>
                </a:tc>
                <a:tc>
                  <a:txBody>
                    <a:bodyPr/>
                    <a:lstStyle/>
                    <a:p>
                      <a:pPr algn="ctr"/>
                      <a:r>
                        <a:rPr lang="en-GB" err="1"/>
                        <a:t>Odhav</a:t>
                      </a:r>
                      <a:endParaRPr lang="en-GB" dirty="0" err="1"/>
                    </a:p>
                  </a:txBody>
                  <a:tcPr/>
                </a:tc>
                <a:tc>
                  <a:txBody>
                    <a:bodyPr/>
                    <a:lstStyle/>
                    <a:p>
                      <a:pPr algn="ctr"/>
                      <a:r>
                        <a:rPr lang="en-GB" dirty="0"/>
                        <a:t>1</a:t>
                      </a:r>
                    </a:p>
                  </a:txBody>
                  <a:tcPr/>
                </a:tc>
                <a:extLst>
                  <a:ext uri="{0D108BD9-81ED-4DB2-BD59-A6C34878D82A}">
                    <a16:rowId xmlns:a16="http://schemas.microsoft.com/office/drawing/2014/main" val="694867790"/>
                  </a:ext>
                </a:extLst>
              </a:tr>
              <a:tr h="370840">
                <a:tc>
                  <a:txBody>
                    <a:bodyPr/>
                    <a:lstStyle/>
                    <a:p>
                      <a:pPr lvl="0" algn="ctr">
                        <a:buNone/>
                      </a:pPr>
                      <a:r>
                        <a:rPr lang="en-GB" dirty="0"/>
                        <a:t>400092</a:t>
                      </a:r>
                    </a:p>
                  </a:txBody>
                  <a:tcPr/>
                </a:tc>
                <a:tc>
                  <a:txBody>
                    <a:bodyPr/>
                    <a:lstStyle/>
                    <a:p>
                      <a:pPr lvl="0" algn="ctr">
                        <a:buNone/>
                      </a:pPr>
                      <a:r>
                        <a:rPr lang="en-GB" sz="1800" b="0" i="0" u="none" strike="noStrike" noProof="0" dirty="0"/>
                        <a:t>Borivali West</a:t>
                      </a:r>
                      <a:endParaRPr lang="en-US" dirty="0"/>
                    </a:p>
                  </a:txBody>
                  <a:tcPr/>
                </a:tc>
                <a:tc>
                  <a:txBody>
                    <a:bodyPr/>
                    <a:lstStyle/>
                    <a:p>
                      <a:pPr algn="ctr"/>
                      <a:r>
                        <a:rPr lang="en-GB" dirty="0"/>
                        <a:t>2</a:t>
                      </a:r>
                    </a:p>
                  </a:txBody>
                  <a:tcPr/>
                </a:tc>
                <a:extLst>
                  <a:ext uri="{0D108BD9-81ED-4DB2-BD59-A6C34878D82A}">
                    <a16:rowId xmlns:a16="http://schemas.microsoft.com/office/drawing/2014/main" val="1935626868"/>
                  </a:ext>
                </a:extLst>
              </a:tr>
              <a:tr h="370840">
                <a:tc>
                  <a:txBody>
                    <a:bodyPr/>
                    <a:lstStyle/>
                    <a:p>
                      <a:pPr lvl="0" algn="ctr">
                        <a:buNone/>
                      </a:pPr>
                      <a:r>
                        <a:rPr lang="en-GB" dirty="0"/>
                        <a:t>345023</a:t>
                      </a:r>
                      <a:endParaRPr lang="en-US"/>
                    </a:p>
                  </a:txBody>
                  <a:tcPr/>
                </a:tc>
                <a:tc>
                  <a:txBody>
                    <a:bodyPr/>
                    <a:lstStyle/>
                    <a:p>
                      <a:pPr lvl="0" algn="ctr">
                        <a:buNone/>
                      </a:pPr>
                      <a:r>
                        <a:rPr lang="en-GB" sz="1800" b="0" i="0" u="none" strike="noStrike" noProof="0" dirty="0" err="1">
                          <a:latin typeface="Calibri"/>
                        </a:rPr>
                        <a:t>Ajasar</a:t>
                      </a:r>
                      <a:endParaRPr lang="en-US"/>
                    </a:p>
                  </a:txBody>
                  <a:tcPr/>
                </a:tc>
                <a:tc>
                  <a:txBody>
                    <a:bodyPr/>
                    <a:lstStyle/>
                    <a:p>
                      <a:pPr algn="ctr"/>
                      <a:r>
                        <a:rPr lang="en-GB" dirty="0"/>
                        <a:t>3</a:t>
                      </a:r>
                    </a:p>
                  </a:txBody>
                  <a:tcPr/>
                </a:tc>
                <a:extLst>
                  <a:ext uri="{0D108BD9-81ED-4DB2-BD59-A6C34878D82A}">
                    <a16:rowId xmlns:a16="http://schemas.microsoft.com/office/drawing/2014/main" val="1808411470"/>
                  </a:ext>
                </a:extLst>
              </a:tr>
              <a:tr h="370840">
                <a:tc>
                  <a:txBody>
                    <a:bodyPr/>
                    <a:lstStyle/>
                    <a:p>
                      <a:pPr lvl="0" algn="ctr">
                        <a:buNone/>
                      </a:pPr>
                      <a:r>
                        <a:rPr lang="en-GB" dirty="0"/>
                        <a:t>462021</a:t>
                      </a:r>
                    </a:p>
                  </a:txBody>
                  <a:tcPr/>
                </a:tc>
                <a:tc>
                  <a:txBody>
                    <a:bodyPr/>
                    <a:lstStyle/>
                    <a:p>
                      <a:pPr lvl="0" algn="ctr">
                        <a:buNone/>
                      </a:pPr>
                      <a:r>
                        <a:rPr lang="en-GB" sz="1800" b="0" i="0" u="none" strike="noStrike" noProof="0" dirty="0">
                          <a:latin typeface="Calibri"/>
                        </a:rPr>
                        <a:t>Anand Nagar</a:t>
                      </a:r>
                      <a:endParaRPr lang="en-US" dirty="0"/>
                    </a:p>
                  </a:txBody>
                  <a:tcPr/>
                </a:tc>
                <a:tc>
                  <a:txBody>
                    <a:bodyPr/>
                    <a:lstStyle/>
                    <a:p>
                      <a:pPr algn="ctr"/>
                      <a:r>
                        <a:rPr lang="en-GB" dirty="0"/>
                        <a:t>4</a:t>
                      </a:r>
                    </a:p>
                  </a:txBody>
                  <a:tcPr/>
                </a:tc>
                <a:extLst>
                  <a:ext uri="{0D108BD9-81ED-4DB2-BD59-A6C34878D82A}">
                    <a16:rowId xmlns:a16="http://schemas.microsoft.com/office/drawing/2014/main" val="2975270865"/>
                  </a:ext>
                </a:extLst>
              </a:tr>
            </a:tbl>
          </a:graphicData>
        </a:graphic>
      </p:graphicFrame>
      <p:sp>
        <p:nvSpPr>
          <p:cNvPr id="5" name="TextBox 4">
            <a:extLst>
              <a:ext uri="{FF2B5EF4-FFF2-40B4-BE49-F238E27FC236}">
                <a16:creationId xmlns:a16="http://schemas.microsoft.com/office/drawing/2014/main" id="{FEBD38F7-1FBE-E496-5A64-02CE40739291}"/>
              </a:ext>
            </a:extLst>
          </p:cNvPr>
          <p:cNvSpPr txBox="1"/>
          <p:nvPr/>
        </p:nvSpPr>
        <p:spPr>
          <a:xfrm>
            <a:off x="1710519" y="1232848"/>
            <a:ext cx="352794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3.Area Tabel: -</a:t>
            </a:r>
          </a:p>
          <a:p>
            <a:r>
              <a:rPr lang="en-US" sz="1600" b="1" dirty="0">
                <a:latin typeface="Arial"/>
                <a:cs typeface="Arial"/>
              </a:rPr>
              <a:t>Primary Key: - Pin code</a:t>
            </a:r>
          </a:p>
          <a:p>
            <a:r>
              <a:rPr lang="en-US" sz="1600" b="1" dirty="0">
                <a:latin typeface="Arial"/>
                <a:cs typeface="Arial"/>
              </a:rPr>
              <a:t>Foreign Key: - </a:t>
            </a:r>
            <a:r>
              <a:rPr lang="en-US" sz="1600" b="1" dirty="0" err="1">
                <a:latin typeface="Arial"/>
                <a:cs typeface="Arial"/>
              </a:rPr>
              <a:t>City_id</a:t>
            </a:r>
            <a:endParaRPr lang="en-US" sz="1600" b="1">
              <a:latin typeface="Arial"/>
              <a:cs typeface="Arial"/>
            </a:endParaRPr>
          </a:p>
          <a:p>
            <a:r>
              <a:rPr lang="en-US" sz="1600" b="1" dirty="0">
                <a:latin typeface="Arial"/>
                <a:cs typeface="Arial"/>
              </a:rPr>
              <a:t>Description: - It Stores Area Detail</a:t>
            </a:r>
          </a:p>
        </p:txBody>
      </p:sp>
    </p:spTree>
    <p:extLst>
      <p:ext uri="{BB962C8B-B14F-4D97-AF65-F5344CB8AC3E}">
        <p14:creationId xmlns:p14="http://schemas.microsoft.com/office/powerpoint/2010/main" val="1921041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8AD73-CCFE-09D9-B8E1-99FCB8A68ED6}"/>
              </a:ext>
            </a:extLst>
          </p:cNvPr>
          <p:cNvSpPr>
            <a:spLocks noGrp="1"/>
          </p:cNvSpPr>
          <p:nvPr>
            <p:ph type="title"/>
          </p:nvPr>
        </p:nvSpPr>
        <p:spPr>
          <a:xfrm>
            <a:off x="107515" y="427132"/>
            <a:ext cx="5409062" cy="597683"/>
          </a:xfrm>
        </p:spPr>
        <p:txBody>
          <a:bodyPr/>
          <a:lstStyle/>
          <a:p>
            <a:pPr marL="342900" indent="-342900">
              <a:buFont typeface="Wingdings"/>
              <a:buChar char="Ø"/>
            </a:pPr>
            <a:r>
              <a:rPr lang="en-GB" sz="2400" b="1" dirty="0">
                <a:cs typeface="Calibri Light" panose="020F0302020204030204"/>
              </a:rPr>
              <a:t>Customer Table:-</a:t>
            </a:r>
          </a:p>
        </p:txBody>
      </p:sp>
      <p:graphicFrame>
        <p:nvGraphicFramePr>
          <p:cNvPr id="3" name="Table 3">
            <a:extLst>
              <a:ext uri="{FF2B5EF4-FFF2-40B4-BE49-F238E27FC236}">
                <a16:creationId xmlns:a16="http://schemas.microsoft.com/office/drawing/2014/main" id="{B84AACAF-2815-4CC3-DAEF-872243B97A43}"/>
              </a:ext>
            </a:extLst>
          </p:cNvPr>
          <p:cNvGraphicFramePr>
            <a:graphicFrameLocks noGrp="1"/>
          </p:cNvGraphicFramePr>
          <p:nvPr>
            <p:extLst>
              <p:ext uri="{D42A27DB-BD31-4B8C-83A1-F6EECF244321}">
                <p14:modId xmlns:p14="http://schemas.microsoft.com/office/powerpoint/2010/main" val="2576180062"/>
              </p:ext>
            </p:extLst>
          </p:nvPr>
        </p:nvGraphicFramePr>
        <p:xfrm>
          <a:off x="1008780" y="2207634"/>
          <a:ext cx="10291880" cy="4084432"/>
        </p:xfrm>
        <a:graphic>
          <a:graphicData uri="http://schemas.openxmlformats.org/drawingml/2006/table">
            <a:tbl>
              <a:tblPr firstRow="1" bandRow="1">
                <a:tableStyleId>{5C22544A-7EE6-4342-B048-85BDC9FD1C3A}</a:tableStyleId>
              </a:tblPr>
              <a:tblGrid>
                <a:gridCol w="2405993">
                  <a:extLst>
                    <a:ext uri="{9D8B030D-6E8A-4147-A177-3AD203B41FA5}">
                      <a16:colId xmlns:a16="http://schemas.microsoft.com/office/drawing/2014/main" val="295903546"/>
                    </a:ext>
                  </a:extLst>
                </a:gridCol>
                <a:gridCol w="2004995">
                  <a:extLst>
                    <a:ext uri="{9D8B030D-6E8A-4147-A177-3AD203B41FA5}">
                      <a16:colId xmlns:a16="http://schemas.microsoft.com/office/drawing/2014/main" val="106416810"/>
                    </a:ext>
                  </a:extLst>
                </a:gridCol>
                <a:gridCol w="1011212">
                  <a:extLst>
                    <a:ext uri="{9D8B030D-6E8A-4147-A177-3AD203B41FA5}">
                      <a16:colId xmlns:a16="http://schemas.microsoft.com/office/drawing/2014/main" val="2548871181"/>
                    </a:ext>
                  </a:extLst>
                </a:gridCol>
                <a:gridCol w="1481951">
                  <a:extLst>
                    <a:ext uri="{9D8B030D-6E8A-4147-A177-3AD203B41FA5}">
                      <a16:colId xmlns:a16="http://schemas.microsoft.com/office/drawing/2014/main" val="3519382556"/>
                    </a:ext>
                  </a:extLst>
                </a:gridCol>
                <a:gridCol w="3387729">
                  <a:extLst>
                    <a:ext uri="{9D8B030D-6E8A-4147-A177-3AD203B41FA5}">
                      <a16:colId xmlns:a16="http://schemas.microsoft.com/office/drawing/2014/main" val="3359157698"/>
                    </a:ext>
                  </a:extLst>
                </a:gridCol>
              </a:tblGrid>
              <a:tr h="510554">
                <a:tc>
                  <a:txBody>
                    <a:bodyPr/>
                    <a:lstStyle/>
                    <a:p>
                      <a:pPr algn="ctr"/>
                      <a:r>
                        <a:rPr lang="en-GB" dirty="0"/>
                        <a:t>Fieldname</a:t>
                      </a:r>
                    </a:p>
                  </a:txBody>
                  <a:tcPr/>
                </a:tc>
                <a:tc>
                  <a:txBody>
                    <a:bodyPr/>
                    <a:lstStyle/>
                    <a:p>
                      <a:pPr algn="ctr"/>
                      <a:r>
                        <a:rPr lang="en-GB" dirty="0"/>
                        <a:t>Datatype</a:t>
                      </a:r>
                    </a:p>
                  </a:txBody>
                  <a:tcPr/>
                </a:tc>
                <a:tc>
                  <a:txBody>
                    <a:bodyPr/>
                    <a:lstStyle/>
                    <a:p>
                      <a:pPr algn="ctr"/>
                      <a:r>
                        <a:rPr lang="en-GB" dirty="0"/>
                        <a:t>Size</a:t>
                      </a:r>
                    </a:p>
                  </a:txBody>
                  <a:tcPr/>
                </a:tc>
                <a:tc>
                  <a:txBody>
                    <a:bodyPr/>
                    <a:lstStyle/>
                    <a:p>
                      <a:pPr algn="ctr"/>
                      <a:r>
                        <a:rPr lang="en-GB" dirty="0"/>
                        <a:t>Constraint</a:t>
                      </a:r>
                    </a:p>
                  </a:txBody>
                  <a:tcPr/>
                </a:tc>
                <a:tc>
                  <a:txBody>
                    <a:bodyPr/>
                    <a:lstStyle/>
                    <a:p>
                      <a:pPr algn="ctr"/>
                      <a:r>
                        <a:rPr lang="en-GB" dirty="0"/>
                        <a:t>Description</a:t>
                      </a:r>
                    </a:p>
                  </a:txBody>
                  <a:tcPr/>
                </a:tc>
                <a:extLst>
                  <a:ext uri="{0D108BD9-81ED-4DB2-BD59-A6C34878D82A}">
                    <a16:rowId xmlns:a16="http://schemas.microsoft.com/office/drawing/2014/main" val="2982899887"/>
                  </a:ext>
                </a:extLst>
              </a:tr>
              <a:tr h="510554">
                <a:tc>
                  <a:txBody>
                    <a:bodyPr/>
                    <a:lstStyle/>
                    <a:p>
                      <a:pPr algn="ctr"/>
                      <a:r>
                        <a:rPr lang="en-GB" err="1"/>
                        <a:t>Customer_id</a:t>
                      </a:r>
                      <a:endParaRPr lang="en-GB" dirty="0" err="1"/>
                    </a:p>
                  </a:txBody>
                  <a:tcPr/>
                </a:tc>
                <a:tc>
                  <a:txBody>
                    <a:bodyPr/>
                    <a:lstStyle/>
                    <a:p>
                      <a:pPr algn="ctr"/>
                      <a:r>
                        <a:rPr lang="en-GB" dirty="0"/>
                        <a:t>Int</a:t>
                      </a:r>
                    </a:p>
                  </a:txBody>
                  <a:tcPr/>
                </a:tc>
                <a:tc>
                  <a:txBody>
                    <a:bodyPr/>
                    <a:lstStyle/>
                    <a:p>
                      <a:pPr lvl="0" algn="ctr">
                        <a:buNone/>
                      </a:pPr>
                      <a:r>
                        <a:rPr lang="en-GB" dirty="0"/>
                        <a:t>11</a:t>
                      </a:r>
                    </a:p>
                  </a:txBody>
                  <a:tcPr/>
                </a:tc>
                <a:tc>
                  <a:txBody>
                    <a:bodyPr/>
                    <a:lstStyle/>
                    <a:p>
                      <a:pPr algn="ctr"/>
                      <a:r>
                        <a:rPr lang="en-GB" dirty="0"/>
                        <a:t>P.K</a:t>
                      </a:r>
                    </a:p>
                  </a:txBody>
                  <a:tcPr/>
                </a:tc>
                <a:tc>
                  <a:txBody>
                    <a:bodyPr/>
                    <a:lstStyle/>
                    <a:p>
                      <a:pPr algn="ctr"/>
                      <a:r>
                        <a:rPr lang="en-GB" dirty="0"/>
                        <a:t>Store Customer Id </a:t>
                      </a:r>
                    </a:p>
                  </a:txBody>
                  <a:tcPr/>
                </a:tc>
                <a:extLst>
                  <a:ext uri="{0D108BD9-81ED-4DB2-BD59-A6C34878D82A}">
                    <a16:rowId xmlns:a16="http://schemas.microsoft.com/office/drawing/2014/main" val="2076637625"/>
                  </a:ext>
                </a:extLst>
              </a:tr>
              <a:tr h="510554">
                <a:tc>
                  <a:txBody>
                    <a:bodyPr/>
                    <a:lstStyle/>
                    <a:p>
                      <a:pPr algn="ctr"/>
                      <a:r>
                        <a:rPr lang="en-GB" err="1"/>
                        <a:t>Customer_name</a:t>
                      </a:r>
                      <a:endParaRPr lang="en-GB" dirty="0" err="1"/>
                    </a:p>
                  </a:txBody>
                  <a:tcPr/>
                </a:tc>
                <a:tc>
                  <a:txBody>
                    <a:bodyPr/>
                    <a:lstStyle/>
                    <a:p>
                      <a:pPr algn="ctr"/>
                      <a:r>
                        <a:rPr lang="en-GB" dirty="0"/>
                        <a:t>varchar</a:t>
                      </a:r>
                    </a:p>
                  </a:txBody>
                  <a:tcPr/>
                </a:tc>
                <a:tc>
                  <a:txBody>
                    <a:bodyPr/>
                    <a:lstStyle/>
                    <a:p>
                      <a:pPr algn="ctr"/>
                      <a:r>
                        <a:rPr lang="en-GB" dirty="0"/>
                        <a:t>40</a:t>
                      </a:r>
                    </a:p>
                  </a:txBody>
                  <a:tcPr/>
                </a:tc>
                <a:tc>
                  <a:txBody>
                    <a:bodyPr/>
                    <a:lstStyle/>
                    <a:p>
                      <a:pPr algn="ctr"/>
                      <a:r>
                        <a:rPr lang="en-GB" dirty="0"/>
                        <a:t>Not Null</a:t>
                      </a:r>
                    </a:p>
                  </a:txBody>
                  <a:tcPr/>
                </a:tc>
                <a:tc>
                  <a:txBody>
                    <a:bodyPr/>
                    <a:lstStyle/>
                    <a:p>
                      <a:pPr algn="ctr"/>
                      <a:r>
                        <a:rPr lang="en-GB" dirty="0"/>
                        <a:t>Store Customer Name </a:t>
                      </a:r>
                    </a:p>
                  </a:txBody>
                  <a:tcPr/>
                </a:tc>
                <a:extLst>
                  <a:ext uri="{0D108BD9-81ED-4DB2-BD59-A6C34878D82A}">
                    <a16:rowId xmlns:a16="http://schemas.microsoft.com/office/drawing/2014/main" val="2966611904"/>
                  </a:ext>
                </a:extLst>
              </a:tr>
              <a:tr h="510554">
                <a:tc>
                  <a:txBody>
                    <a:bodyPr/>
                    <a:lstStyle/>
                    <a:p>
                      <a:pPr algn="ctr"/>
                      <a:r>
                        <a:rPr lang="en-GB" err="1"/>
                        <a:t>Customer_address</a:t>
                      </a:r>
                      <a:endParaRPr lang="en-GB" dirty="0" err="1"/>
                    </a:p>
                  </a:txBody>
                  <a:tcPr/>
                </a:tc>
                <a:tc>
                  <a:txBody>
                    <a:bodyPr/>
                    <a:lstStyle/>
                    <a:p>
                      <a:pPr algn="ctr"/>
                      <a:r>
                        <a:rPr lang="en-GB" dirty="0"/>
                        <a:t>varchar</a:t>
                      </a:r>
                      <a:endParaRPr lang="en-GB" dirty="0" err="1"/>
                    </a:p>
                  </a:txBody>
                  <a:tcPr/>
                </a:tc>
                <a:tc>
                  <a:txBody>
                    <a:bodyPr/>
                    <a:lstStyle/>
                    <a:p>
                      <a:pPr algn="ctr"/>
                      <a:r>
                        <a:rPr lang="en-GB" dirty="0"/>
                        <a:t>80</a:t>
                      </a:r>
                    </a:p>
                  </a:txBody>
                  <a:tcPr/>
                </a:tc>
                <a:tc>
                  <a:txBody>
                    <a:bodyPr/>
                    <a:lstStyle/>
                    <a:p>
                      <a:pPr lvl="0" algn="ctr">
                        <a:buNone/>
                      </a:pPr>
                      <a:r>
                        <a:rPr lang="en-GB" sz="1800" u="none" strike="noStrike" noProof="0" dirty="0"/>
                        <a:t>Not Null</a:t>
                      </a:r>
                      <a:endParaRPr lang="en-US" dirty="0"/>
                    </a:p>
                  </a:txBody>
                  <a:tcPr/>
                </a:tc>
                <a:tc>
                  <a:txBody>
                    <a:bodyPr/>
                    <a:lstStyle/>
                    <a:p>
                      <a:pPr algn="ctr"/>
                      <a:r>
                        <a:rPr lang="en-GB" dirty="0"/>
                        <a:t>Store Customer Address</a:t>
                      </a:r>
                    </a:p>
                  </a:txBody>
                  <a:tcPr/>
                </a:tc>
                <a:extLst>
                  <a:ext uri="{0D108BD9-81ED-4DB2-BD59-A6C34878D82A}">
                    <a16:rowId xmlns:a16="http://schemas.microsoft.com/office/drawing/2014/main" val="820555807"/>
                  </a:ext>
                </a:extLst>
              </a:tr>
              <a:tr h="510554">
                <a:tc>
                  <a:txBody>
                    <a:bodyPr/>
                    <a:lstStyle/>
                    <a:p>
                      <a:pPr algn="ctr"/>
                      <a:r>
                        <a:rPr lang="en-GB" dirty="0"/>
                        <a:t>Contact no.</a:t>
                      </a:r>
                    </a:p>
                  </a:txBody>
                  <a:tcPr/>
                </a:tc>
                <a:tc>
                  <a:txBody>
                    <a:bodyPr/>
                    <a:lstStyle/>
                    <a:p>
                      <a:pPr algn="ctr"/>
                      <a:r>
                        <a:rPr lang="en-GB" dirty="0"/>
                        <a:t>varchar</a:t>
                      </a:r>
                    </a:p>
                  </a:txBody>
                  <a:tcPr/>
                </a:tc>
                <a:tc>
                  <a:txBody>
                    <a:bodyPr/>
                    <a:lstStyle/>
                    <a:p>
                      <a:pPr algn="ctr"/>
                      <a:r>
                        <a:rPr lang="en-GB" dirty="0"/>
                        <a:t>30</a:t>
                      </a:r>
                    </a:p>
                  </a:txBody>
                  <a:tcPr/>
                </a:tc>
                <a:tc>
                  <a:txBody>
                    <a:bodyPr/>
                    <a:lstStyle/>
                    <a:p>
                      <a:pPr lvl="0" algn="ctr">
                        <a:buNone/>
                      </a:pPr>
                      <a:r>
                        <a:rPr lang="en-GB" sz="1800" u="none" strike="noStrike" noProof="0" dirty="0"/>
                        <a:t>Not Null</a:t>
                      </a:r>
                      <a:endParaRPr lang="en-US" dirty="0"/>
                    </a:p>
                  </a:txBody>
                  <a:tcPr/>
                </a:tc>
                <a:tc>
                  <a:txBody>
                    <a:bodyPr/>
                    <a:lstStyle/>
                    <a:p>
                      <a:pPr algn="ctr"/>
                      <a:r>
                        <a:rPr lang="en-GB" dirty="0"/>
                        <a:t>Store Customer Contact No.</a:t>
                      </a:r>
                    </a:p>
                  </a:txBody>
                  <a:tcPr/>
                </a:tc>
                <a:extLst>
                  <a:ext uri="{0D108BD9-81ED-4DB2-BD59-A6C34878D82A}">
                    <a16:rowId xmlns:a16="http://schemas.microsoft.com/office/drawing/2014/main" val="1475298861"/>
                  </a:ext>
                </a:extLst>
              </a:tr>
              <a:tr h="510554">
                <a:tc>
                  <a:txBody>
                    <a:bodyPr/>
                    <a:lstStyle/>
                    <a:p>
                      <a:pPr algn="ctr"/>
                      <a:r>
                        <a:rPr lang="en-GB" dirty="0"/>
                        <a:t>Password</a:t>
                      </a:r>
                    </a:p>
                  </a:txBody>
                  <a:tcPr/>
                </a:tc>
                <a:tc>
                  <a:txBody>
                    <a:bodyPr/>
                    <a:lstStyle/>
                    <a:p>
                      <a:pPr algn="ctr"/>
                      <a:r>
                        <a:rPr lang="en-GB" dirty="0"/>
                        <a:t>varchar</a:t>
                      </a:r>
                    </a:p>
                  </a:txBody>
                  <a:tcPr/>
                </a:tc>
                <a:tc>
                  <a:txBody>
                    <a:bodyPr/>
                    <a:lstStyle/>
                    <a:p>
                      <a:pPr algn="ctr"/>
                      <a:r>
                        <a:rPr lang="en-GB" dirty="0"/>
                        <a:t>20</a:t>
                      </a:r>
                    </a:p>
                  </a:txBody>
                  <a:tcPr/>
                </a:tc>
                <a:tc>
                  <a:txBody>
                    <a:bodyPr/>
                    <a:lstStyle/>
                    <a:p>
                      <a:pPr lvl="0" algn="ctr">
                        <a:buNone/>
                      </a:pPr>
                      <a:r>
                        <a:rPr lang="en-GB" sz="1800" u="none" strike="noStrike" noProof="0" dirty="0"/>
                        <a:t>Not Null</a:t>
                      </a:r>
                      <a:endParaRPr lang="en-US" dirty="0"/>
                    </a:p>
                  </a:txBody>
                  <a:tcPr/>
                </a:tc>
                <a:tc>
                  <a:txBody>
                    <a:bodyPr/>
                    <a:lstStyle/>
                    <a:p>
                      <a:pPr algn="ctr"/>
                      <a:r>
                        <a:rPr lang="en-GB" dirty="0"/>
                        <a:t>Store Customer Password </a:t>
                      </a:r>
                    </a:p>
                  </a:txBody>
                  <a:tcPr/>
                </a:tc>
                <a:extLst>
                  <a:ext uri="{0D108BD9-81ED-4DB2-BD59-A6C34878D82A}">
                    <a16:rowId xmlns:a16="http://schemas.microsoft.com/office/drawing/2014/main" val="2226089808"/>
                  </a:ext>
                </a:extLst>
              </a:tr>
              <a:tr h="510554">
                <a:tc>
                  <a:txBody>
                    <a:bodyPr/>
                    <a:lstStyle/>
                    <a:p>
                      <a:pPr algn="ctr"/>
                      <a:r>
                        <a:rPr lang="en-GB" err="1"/>
                        <a:t>Email_id</a:t>
                      </a:r>
                      <a:endParaRPr lang="en-GB" dirty="0" err="1"/>
                    </a:p>
                  </a:txBody>
                  <a:tcPr/>
                </a:tc>
                <a:tc>
                  <a:txBody>
                    <a:bodyPr/>
                    <a:lstStyle/>
                    <a:p>
                      <a:pPr algn="ctr"/>
                      <a:r>
                        <a:rPr lang="en-GB" dirty="0"/>
                        <a:t>varchar</a:t>
                      </a:r>
                    </a:p>
                  </a:txBody>
                  <a:tcPr/>
                </a:tc>
                <a:tc>
                  <a:txBody>
                    <a:bodyPr/>
                    <a:lstStyle/>
                    <a:p>
                      <a:pPr algn="ctr"/>
                      <a:r>
                        <a:rPr lang="en-GB" dirty="0"/>
                        <a:t>40</a:t>
                      </a:r>
                    </a:p>
                  </a:txBody>
                  <a:tcPr/>
                </a:tc>
                <a:tc>
                  <a:txBody>
                    <a:bodyPr/>
                    <a:lstStyle/>
                    <a:p>
                      <a:pPr lvl="0" algn="ctr">
                        <a:buNone/>
                      </a:pPr>
                      <a:r>
                        <a:rPr lang="en-GB" sz="1800" u="none" strike="noStrike" noProof="0" dirty="0"/>
                        <a:t>Not Null</a:t>
                      </a:r>
                      <a:endParaRPr lang="en-US" dirty="0"/>
                    </a:p>
                  </a:txBody>
                  <a:tcPr/>
                </a:tc>
                <a:tc>
                  <a:txBody>
                    <a:bodyPr/>
                    <a:lstStyle/>
                    <a:p>
                      <a:pPr algn="ctr"/>
                      <a:r>
                        <a:rPr lang="en-GB" dirty="0"/>
                        <a:t>Store Customer Email id</a:t>
                      </a:r>
                    </a:p>
                  </a:txBody>
                  <a:tcPr/>
                </a:tc>
                <a:extLst>
                  <a:ext uri="{0D108BD9-81ED-4DB2-BD59-A6C34878D82A}">
                    <a16:rowId xmlns:a16="http://schemas.microsoft.com/office/drawing/2014/main" val="3937944689"/>
                  </a:ext>
                </a:extLst>
              </a:tr>
              <a:tr h="510554">
                <a:tc>
                  <a:txBody>
                    <a:bodyPr/>
                    <a:lstStyle/>
                    <a:p>
                      <a:pPr algn="ctr"/>
                      <a:r>
                        <a:rPr lang="en-GB" dirty="0" err="1"/>
                        <a:t>Pincode</a:t>
                      </a:r>
                    </a:p>
                  </a:txBody>
                  <a:tcPr/>
                </a:tc>
                <a:tc>
                  <a:txBody>
                    <a:bodyPr/>
                    <a:lstStyle/>
                    <a:p>
                      <a:pPr algn="ctr"/>
                      <a:r>
                        <a:rPr lang="en-GB" dirty="0"/>
                        <a:t>Int</a:t>
                      </a:r>
                    </a:p>
                  </a:txBody>
                  <a:tcPr/>
                </a:tc>
                <a:tc>
                  <a:txBody>
                    <a:bodyPr/>
                    <a:lstStyle/>
                    <a:p>
                      <a:pPr algn="ctr"/>
                      <a:r>
                        <a:rPr lang="en-GB" dirty="0"/>
                        <a:t>11</a:t>
                      </a:r>
                    </a:p>
                  </a:txBody>
                  <a:tcPr/>
                </a:tc>
                <a:tc>
                  <a:txBody>
                    <a:bodyPr/>
                    <a:lstStyle/>
                    <a:p>
                      <a:pPr lvl="0" algn="ctr">
                        <a:buNone/>
                      </a:pPr>
                      <a:r>
                        <a:rPr lang="en-GB" sz="1800" u="none" strike="noStrike" noProof="0" dirty="0"/>
                        <a:t>F.K</a:t>
                      </a:r>
                      <a:endParaRPr lang="en-US" dirty="0"/>
                    </a:p>
                  </a:txBody>
                  <a:tcPr/>
                </a:tc>
                <a:tc>
                  <a:txBody>
                    <a:bodyPr/>
                    <a:lstStyle/>
                    <a:p>
                      <a:pPr algn="ctr"/>
                      <a:r>
                        <a:rPr lang="en-GB" dirty="0"/>
                        <a:t>Store Customer Pin code </a:t>
                      </a:r>
                    </a:p>
                  </a:txBody>
                  <a:tcPr/>
                </a:tc>
                <a:extLst>
                  <a:ext uri="{0D108BD9-81ED-4DB2-BD59-A6C34878D82A}">
                    <a16:rowId xmlns:a16="http://schemas.microsoft.com/office/drawing/2014/main" val="677434144"/>
                  </a:ext>
                </a:extLst>
              </a:tr>
            </a:tbl>
          </a:graphicData>
        </a:graphic>
      </p:graphicFrame>
      <p:sp>
        <p:nvSpPr>
          <p:cNvPr id="5" name="TextBox 4">
            <a:extLst>
              <a:ext uri="{FF2B5EF4-FFF2-40B4-BE49-F238E27FC236}">
                <a16:creationId xmlns:a16="http://schemas.microsoft.com/office/drawing/2014/main" id="{B289652F-149D-4BA2-B9B6-BE6884A13B2B}"/>
              </a:ext>
            </a:extLst>
          </p:cNvPr>
          <p:cNvSpPr txBox="1"/>
          <p:nvPr/>
        </p:nvSpPr>
        <p:spPr>
          <a:xfrm>
            <a:off x="948519" y="1141863"/>
            <a:ext cx="417621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4.Customer Table: -</a:t>
            </a:r>
          </a:p>
          <a:p>
            <a:r>
              <a:rPr lang="en-US" sz="1600" b="1" dirty="0">
                <a:latin typeface="Arial"/>
                <a:cs typeface="Arial"/>
              </a:rPr>
              <a:t>Primary Key: - </a:t>
            </a:r>
            <a:r>
              <a:rPr lang="en-US" sz="1600" b="1" dirty="0" err="1">
                <a:latin typeface="Arial"/>
                <a:cs typeface="Arial"/>
              </a:rPr>
              <a:t>Customer_id</a:t>
            </a:r>
            <a:endParaRPr lang="en-US" sz="1600" b="1">
              <a:latin typeface="Arial"/>
              <a:cs typeface="Arial"/>
            </a:endParaRPr>
          </a:p>
          <a:p>
            <a:r>
              <a:rPr lang="en-US" sz="1600" b="1" dirty="0">
                <a:latin typeface="Arial"/>
                <a:cs typeface="Arial"/>
              </a:rPr>
              <a:t>Foreign Key: - Pin code</a:t>
            </a:r>
          </a:p>
          <a:p>
            <a:r>
              <a:rPr lang="en-US" sz="1600" b="1" dirty="0">
                <a:latin typeface="Arial"/>
                <a:cs typeface="Arial"/>
              </a:rPr>
              <a:t>Description: - It Stores Customer Details</a:t>
            </a:r>
          </a:p>
        </p:txBody>
      </p:sp>
    </p:spTree>
    <p:extLst>
      <p:ext uri="{BB962C8B-B14F-4D97-AF65-F5344CB8AC3E}">
        <p14:creationId xmlns:p14="http://schemas.microsoft.com/office/powerpoint/2010/main" val="3177753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9D1F1-7D75-90B1-C5FB-E650EAE7A7FF}"/>
              </a:ext>
            </a:extLst>
          </p:cNvPr>
          <p:cNvSpPr>
            <a:spLocks noGrp="1"/>
          </p:cNvSpPr>
          <p:nvPr>
            <p:ph type="title"/>
          </p:nvPr>
        </p:nvSpPr>
        <p:spPr>
          <a:xfrm>
            <a:off x="838200" y="365125"/>
            <a:ext cx="6726477" cy="1106358"/>
          </a:xfrm>
        </p:spPr>
        <p:txBody>
          <a:bodyPr/>
          <a:lstStyle/>
          <a:p>
            <a:pPr marL="342900" indent="-342900">
              <a:buFont typeface="Wingdings"/>
              <a:buChar char="Ø"/>
            </a:pPr>
            <a:r>
              <a:rPr lang="en-GB" sz="2400" b="1" dirty="0">
                <a:cs typeface="Calibri Light"/>
              </a:rPr>
              <a:t>Customer Example:-</a:t>
            </a:r>
            <a:endParaRPr lang="en-GB" dirty="0">
              <a:cs typeface="Calibri Light" panose="020F0302020204030204"/>
            </a:endParaRPr>
          </a:p>
        </p:txBody>
      </p:sp>
      <p:graphicFrame>
        <p:nvGraphicFramePr>
          <p:cNvPr id="3" name="Table 3">
            <a:extLst>
              <a:ext uri="{FF2B5EF4-FFF2-40B4-BE49-F238E27FC236}">
                <a16:creationId xmlns:a16="http://schemas.microsoft.com/office/drawing/2014/main" id="{EDB03043-3511-0A34-1A72-96B8650C4E3C}"/>
              </a:ext>
            </a:extLst>
          </p:cNvPr>
          <p:cNvGraphicFramePr>
            <a:graphicFrameLocks noGrp="1"/>
          </p:cNvGraphicFramePr>
          <p:nvPr>
            <p:extLst>
              <p:ext uri="{D42A27DB-BD31-4B8C-83A1-F6EECF244321}">
                <p14:modId xmlns:p14="http://schemas.microsoft.com/office/powerpoint/2010/main" val="592863737"/>
              </p:ext>
            </p:extLst>
          </p:nvPr>
        </p:nvGraphicFramePr>
        <p:xfrm>
          <a:off x="351982" y="1849719"/>
          <a:ext cx="11378350" cy="3198332"/>
        </p:xfrm>
        <a:graphic>
          <a:graphicData uri="http://schemas.openxmlformats.org/drawingml/2006/table">
            <a:tbl>
              <a:tblPr firstRow="1" bandRow="1">
                <a:tableStyleId>{5C22544A-7EE6-4342-B048-85BDC9FD1C3A}</a:tableStyleId>
              </a:tblPr>
              <a:tblGrid>
                <a:gridCol w="1481770">
                  <a:extLst>
                    <a:ext uri="{9D8B030D-6E8A-4147-A177-3AD203B41FA5}">
                      <a16:colId xmlns:a16="http://schemas.microsoft.com/office/drawing/2014/main" val="3496505114"/>
                    </a:ext>
                  </a:extLst>
                </a:gridCol>
                <a:gridCol w="1889596">
                  <a:extLst>
                    <a:ext uri="{9D8B030D-6E8A-4147-A177-3AD203B41FA5}">
                      <a16:colId xmlns:a16="http://schemas.microsoft.com/office/drawing/2014/main" val="4105410009"/>
                    </a:ext>
                  </a:extLst>
                </a:gridCol>
                <a:gridCol w="2175074">
                  <a:extLst>
                    <a:ext uri="{9D8B030D-6E8A-4147-A177-3AD203B41FA5}">
                      <a16:colId xmlns:a16="http://schemas.microsoft.com/office/drawing/2014/main" val="3082122424"/>
                    </a:ext>
                  </a:extLst>
                </a:gridCol>
                <a:gridCol w="1468718">
                  <a:extLst>
                    <a:ext uri="{9D8B030D-6E8A-4147-A177-3AD203B41FA5}">
                      <a16:colId xmlns:a16="http://schemas.microsoft.com/office/drawing/2014/main" val="3745073059"/>
                    </a:ext>
                  </a:extLst>
                </a:gridCol>
                <a:gridCol w="1349632">
                  <a:extLst>
                    <a:ext uri="{9D8B030D-6E8A-4147-A177-3AD203B41FA5}">
                      <a16:colId xmlns:a16="http://schemas.microsoft.com/office/drawing/2014/main" val="444956803"/>
                    </a:ext>
                  </a:extLst>
                </a:gridCol>
                <a:gridCol w="2050914">
                  <a:extLst>
                    <a:ext uri="{9D8B030D-6E8A-4147-A177-3AD203B41FA5}">
                      <a16:colId xmlns:a16="http://schemas.microsoft.com/office/drawing/2014/main" val="801837355"/>
                    </a:ext>
                  </a:extLst>
                </a:gridCol>
                <a:gridCol w="962646">
                  <a:extLst>
                    <a:ext uri="{9D8B030D-6E8A-4147-A177-3AD203B41FA5}">
                      <a16:colId xmlns:a16="http://schemas.microsoft.com/office/drawing/2014/main" val="2878543478"/>
                    </a:ext>
                  </a:extLst>
                </a:gridCol>
              </a:tblGrid>
              <a:tr h="639563">
                <a:tc>
                  <a:txBody>
                    <a:bodyPr/>
                    <a:lstStyle/>
                    <a:p>
                      <a:pPr lvl="0" algn="ctr">
                        <a:buNone/>
                      </a:pPr>
                      <a:r>
                        <a:rPr lang="en-GB" err="1"/>
                        <a:t>Customer_id</a:t>
                      </a:r>
                      <a:endParaRPr lang="en-US"/>
                    </a:p>
                  </a:txBody>
                  <a:tcPr/>
                </a:tc>
                <a:tc>
                  <a:txBody>
                    <a:bodyPr/>
                    <a:lstStyle/>
                    <a:p>
                      <a:pPr lvl="0" algn="ctr">
                        <a:buNone/>
                      </a:pPr>
                      <a:r>
                        <a:rPr lang="en-GB" err="1"/>
                        <a:t>Customer_name</a:t>
                      </a:r>
                      <a:endParaRPr lang="en-GB"/>
                    </a:p>
                  </a:txBody>
                  <a:tcPr/>
                </a:tc>
                <a:tc>
                  <a:txBody>
                    <a:bodyPr/>
                    <a:lstStyle/>
                    <a:p>
                      <a:pPr lvl="0" algn="ctr">
                        <a:buNone/>
                      </a:pPr>
                      <a:r>
                        <a:rPr lang="en-GB" err="1"/>
                        <a:t>Customer_address</a:t>
                      </a:r>
                      <a:endParaRPr lang="en-GB"/>
                    </a:p>
                  </a:txBody>
                  <a:tcPr/>
                </a:tc>
                <a:tc>
                  <a:txBody>
                    <a:bodyPr/>
                    <a:lstStyle/>
                    <a:p>
                      <a:pPr lvl="0" algn="ctr">
                        <a:buNone/>
                      </a:pPr>
                      <a:r>
                        <a:rPr lang="en-GB"/>
                        <a:t>Contact no.</a:t>
                      </a:r>
                      <a:endParaRPr lang="en-US"/>
                    </a:p>
                  </a:txBody>
                  <a:tcPr/>
                </a:tc>
                <a:tc>
                  <a:txBody>
                    <a:bodyPr/>
                    <a:lstStyle/>
                    <a:p>
                      <a:pPr lvl="0" algn="ctr">
                        <a:buNone/>
                      </a:pPr>
                      <a:r>
                        <a:rPr lang="en-GB"/>
                        <a:t>Password</a:t>
                      </a:r>
                      <a:endParaRPr lang="en-US"/>
                    </a:p>
                  </a:txBody>
                  <a:tcPr/>
                </a:tc>
                <a:tc>
                  <a:txBody>
                    <a:bodyPr/>
                    <a:lstStyle/>
                    <a:p>
                      <a:pPr lvl="0" algn="ctr">
                        <a:buNone/>
                      </a:pPr>
                      <a:r>
                        <a:rPr lang="en-GB" err="1"/>
                        <a:t>Email_id</a:t>
                      </a:r>
                      <a:endParaRPr lang="en-GB"/>
                    </a:p>
                  </a:txBody>
                  <a:tcPr/>
                </a:tc>
                <a:tc>
                  <a:txBody>
                    <a:bodyPr/>
                    <a:lstStyle/>
                    <a:p>
                      <a:pPr lvl="0" algn="ctr">
                        <a:buNone/>
                      </a:pPr>
                      <a:r>
                        <a:rPr lang="en-GB"/>
                        <a:t>Pin code</a:t>
                      </a:r>
                    </a:p>
                  </a:txBody>
                  <a:tcPr/>
                </a:tc>
                <a:extLst>
                  <a:ext uri="{0D108BD9-81ED-4DB2-BD59-A6C34878D82A}">
                    <a16:rowId xmlns:a16="http://schemas.microsoft.com/office/drawing/2014/main" val="1505268342"/>
                  </a:ext>
                </a:extLst>
              </a:tr>
              <a:tr h="639563">
                <a:tc>
                  <a:txBody>
                    <a:bodyPr/>
                    <a:lstStyle/>
                    <a:p>
                      <a:pPr lvl="0" algn="ctr">
                        <a:buNone/>
                      </a:pPr>
                      <a:r>
                        <a:rPr lang="en-GB"/>
                        <a:t>1.</a:t>
                      </a:r>
                      <a:endParaRPr lang="en-US"/>
                    </a:p>
                  </a:txBody>
                  <a:tcPr/>
                </a:tc>
                <a:tc>
                  <a:txBody>
                    <a:bodyPr/>
                    <a:lstStyle/>
                    <a:p>
                      <a:pPr lvl="0" algn="ctr">
                        <a:buNone/>
                      </a:pPr>
                      <a:r>
                        <a:rPr lang="en-GB"/>
                        <a:t>Suresh</a:t>
                      </a:r>
                      <a:endParaRPr lang="en-US"/>
                    </a:p>
                  </a:txBody>
                  <a:tcPr/>
                </a:tc>
                <a:tc>
                  <a:txBody>
                    <a:bodyPr/>
                    <a:lstStyle/>
                    <a:p>
                      <a:pPr lvl="0" algn="ctr">
                        <a:buNone/>
                      </a:pPr>
                      <a:r>
                        <a:rPr lang="en-GB"/>
                        <a:t>Ahmedabad</a:t>
                      </a:r>
                      <a:endParaRPr lang="en-US"/>
                    </a:p>
                  </a:txBody>
                  <a:tcPr/>
                </a:tc>
                <a:tc>
                  <a:txBody>
                    <a:bodyPr/>
                    <a:lstStyle/>
                    <a:p>
                      <a:pPr lvl="0" algn="ctr">
                        <a:buNone/>
                      </a:pPr>
                      <a:r>
                        <a:rPr lang="en-GB"/>
                        <a:t>9924565266</a:t>
                      </a:r>
                      <a:endParaRPr lang="en-US"/>
                    </a:p>
                  </a:txBody>
                  <a:tcPr/>
                </a:tc>
                <a:tc>
                  <a:txBody>
                    <a:bodyPr/>
                    <a:lstStyle/>
                    <a:p>
                      <a:pPr lvl="0" algn="ctr">
                        <a:buNone/>
                      </a:pPr>
                      <a:r>
                        <a:rPr lang="en-GB"/>
                        <a:t>********</a:t>
                      </a:r>
                    </a:p>
                  </a:txBody>
                  <a:tcPr/>
                </a:tc>
                <a:tc>
                  <a:txBody>
                    <a:bodyPr/>
                    <a:lstStyle/>
                    <a:p>
                      <a:pPr lvl="0" algn="ctr">
                        <a:buNone/>
                      </a:pPr>
                      <a:r>
                        <a:rPr lang="en-GB"/>
                        <a:t>hjus5@gmail.com</a:t>
                      </a:r>
                      <a:endParaRPr lang="en-US"/>
                    </a:p>
                  </a:txBody>
                  <a:tcPr/>
                </a:tc>
                <a:tc>
                  <a:txBody>
                    <a:bodyPr/>
                    <a:lstStyle/>
                    <a:p>
                      <a:pPr lvl="0" algn="ctr">
                        <a:buNone/>
                      </a:pPr>
                      <a:r>
                        <a:rPr lang="en-GB"/>
                        <a:t>382415</a:t>
                      </a:r>
                      <a:endParaRPr lang="en-US"/>
                    </a:p>
                  </a:txBody>
                  <a:tcPr/>
                </a:tc>
                <a:extLst>
                  <a:ext uri="{0D108BD9-81ED-4DB2-BD59-A6C34878D82A}">
                    <a16:rowId xmlns:a16="http://schemas.microsoft.com/office/drawing/2014/main" val="4029104071"/>
                  </a:ext>
                </a:extLst>
              </a:tr>
              <a:tr h="639563">
                <a:tc>
                  <a:txBody>
                    <a:bodyPr/>
                    <a:lstStyle/>
                    <a:p>
                      <a:pPr lvl="0" algn="ctr">
                        <a:buNone/>
                      </a:pPr>
                      <a:r>
                        <a:rPr lang="en-GB"/>
                        <a:t>2.</a:t>
                      </a:r>
                      <a:endParaRPr lang="en-US"/>
                    </a:p>
                  </a:txBody>
                  <a:tcPr/>
                </a:tc>
                <a:tc>
                  <a:txBody>
                    <a:bodyPr/>
                    <a:lstStyle/>
                    <a:p>
                      <a:pPr lvl="0" algn="ctr">
                        <a:buNone/>
                      </a:pPr>
                      <a:r>
                        <a:rPr lang="en-GB"/>
                        <a:t>Mukesh</a:t>
                      </a:r>
                      <a:endParaRPr lang="en-US"/>
                    </a:p>
                  </a:txBody>
                  <a:tcPr/>
                </a:tc>
                <a:tc>
                  <a:txBody>
                    <a:bodyPr/>
                    <a:lstStyle/>
                    <a:p>
                      <a:pPr lvl="0" algn="ctr">
                        <a:buNone/>
                      </a:pPr>
                      <a:r>
                        <a:rPr lang="en-GB"/>
                        <a:t>Vadodara</a:t>
                      </a:r>
                    </a:p>
                  </a:txBody>
                  <a:tcPr/>
                </a:tc>
                <a:tc>
                  <a:txBody>
                    <a:bodyPr/>
                    <a:lstStyle/>
                    <a:p>
                      <a:pPr lvl="0" algn="ctr">
                        <a:buNone/>
                      </a:pPr>
                      <a:r>
                        <a:rPr lang="en-GB"/>
                        <a:t>8746252255</a:t>
                      </a:r>
                      <a:endParaRPr lang="en-US"/>
                    </a:p>
                  </a:txBody>
                  <a:tcPr/>
                </a:tc>
                <a:tc>
                  <a:txBody>
                    <a:bodyPr/>
                    <a:lstStyle/>
                    <a:p>
                      <a:pPr lvl="0" algn="ctr">
                        <a:buNone/>
                      </a:pPr>
                      <a:r>
                        <a:rPr lang="en-GB"/>
                        <a:t>********</a:t>
                      </a:r>
                    </a:p>
                  </a:txBody>
                  <a:tcPr/>
                </a:tc>
                <a:tc>
                  <a:txBody>
                    <a:bodyPr/>
                    <a:lstStyle/>
                    <a:p>
                      <a:pPr lvl="0" algn="ctr">
                        <a:buNone/>
                      </a:pPr>
                      <a:r>
                        <a:rPr lang="en-GB"/>
                        <a:t>jsiaj3@gmail.com</a:t>
                      </a:r>
                      <a:endParaRPr lang="en-US"/>
                    </a:p>
                  </a:txBody>
                  <a:tcPr/>
                </a:tc>
                <a:tc>
                  <a:txBody>
                    <a:bodyPr/>
                    <a:lstStyle/>
                    <a:p>
                      <a:pPr lvl="0" algn="ctr">
                        <a:buNone/>
                      </a:pPr>
                      <a:r>
                        <a:rPr lang="en-GB"/>
                        <a:t>390002</a:t>
                      </a:r>
                      <a:endParaRPr lang="en-US"/>
                    </a:p>
                  </a:txBody>
                  <a:tcPr/>
                </a:tc>
                <a:extLst>
                  <a:ext uri="{0D108BD9-81ED-4DB2-BD59-A6C34878D82A}">
                    <a16:rowId xmlns:a16="http://schemas.microsoft.com/office/drawing/2014/main" val="144450357"/>
                  </a:ext>
                </a:extLst>
              </a:tr>
              <a:tr h="639563">
                <a:tc>
                  <a:txBody>
                    <a:bodyPr/>
                    <a:lstStyle/>
                    <a:p>
                      <a:pPr lvl="0" algn="ctr">
                        <a:buNone/>
                      </a:pPr>
                      <a:r>
                        <a:rPr lang="en-GB"/>
                        <a:t>3.</a:t>
                      </a:r>
                      <a:endParaRPr lang="en-US"/>
                    </a:p>
                  </a:txBody>
                  <a:tcPr/>
                </a:tc>
                <a:tc>
                  <a:txBody>
                    <a:bodyPr/>
                    <a:lstStyle/>
                    <a:p>
                      <a:pPr lvl="0" algn="ctr">
                        <a:buNone/>
                      </a:pPr>
                      <a:r>
                        <a:rPr lang="en-GB"/>
                        <a:t>Rajesh</a:t>
                      </a:r>
                      <a:endParaRPr lang="en-US"/>
                    </a:p>
                  </a:txBody>
                  <a:tcPr/>
                </a:tc>
                <a:tc>
                  <a:txBody>
                    <a:bodyPr/>
                    <a:lstStyle/>
                    <a:p>
                      <a:pPr lvl="0" algn="ctr">
                        <a:buNone/>
                      </a:pPr>
                      <a:r>
                        <a:rPr lang="en-GB"/>
                        <a:t>Anand</a:t>
                      </a:r>
                    </a:p>
                  </a:txBody>
                  <a:tcPr/>
                </a:tc>
                <a:tc>
                  <a:txBody>
                    <a:bodyPr/>
                    <a:lstStyle/>
                    <a:p>
                      <a:pPr lvl="0" algn="ctr">
                        <a:buNone/>
                      </a:pPr>
                      <a:r>
                        <a:rPr lang="en-GB"/>
                        <a:t>5442115451</a:t>
                      </a:r>
                      <a:endParaRPr lang="en-US"/>
                    </a:p>
                  </a:txBody>
                  <a:tcPr/>
                </a:tc>
                <a:tc>
                  <a:txBody>
                    <a:bodyPr/>
                    <a:lstStyle/>
                    <a:p>
                      <a:pPr lvl="0" algn="ctr">
                        <a:buNone/>
                      </a:pPr>
                      <a:r>
                        <a:rPr lang="en-GB"/>
                        <a:t>********</a:t>
                      </a:r>
                    </a:p>
                  </a:txBody>
                  <a:tcPr/>
                </a:tc>
                <a:tc>
                  <a:txBody>
                    <a:bodyPr/>
                    <a:lstStyle/>
                    <a:p>
                      <a:pPr lvl="0" algn="ctr">
                        <a:buNone/>
                      </a:pPr>
                      <a:r>
                        <a:rPr lang="en-GB"/>
                        <a:t>abcd1@gmail.com</a:t>
                      </a:r>
                      <a:endParaRPr lang="en-US"/>
                    </a:p>
                  </a:txBody>
                  <a:tcPr/>
                </a:tc>
                <a:tc>
                  <a:txBody>
                    <a:bodyPr/>
                    <a:lstStyle/>
                    <a:p>
                      <a:pPr lvl="0" algn="ctr">
                        <a:buNone/>
                      </a:pPr>
                      <a:r>
                        <a:rPr lang="en-GB"/>
                        <a:t>398210</a:t>
                      </a:r>
                      <a:endParaRPr lang="en-US"/>
                    </a:p>
                  </a:txBody>
                  <a:tcPr/>
                </a:tc>
                <a:extLst>
                  <a:ext uri="{0D108BD9-81ED-4DB2-BD59-A6C34878D82A}">
                    <a16:rowId xmlns:a16="http://schemas.microsoft.com/office/drawing/2014/main" val="2834269569"/>
                  </a:ext>
                </a:extLst>
              </a:tr>
              <a:tr h="639563">
                <a:tc>
                  <a:txBody>
                    <a:bodyPr/>
                    <a:lstStyle/>
                    <a:p>
                      <a:pPr lvl="0" algn="ctr">
                        <a:buNone/>
                      </a:pPr>
                      <a:r>
                        <a:rPr lang="en-GB"/>
                        <a:t>4.</a:t>
                      </a:r>
                      <a:endParaRPr lang="en-US"/>
                    </a:p>
                  </a:txBody>
                  <a:tcPr/>
                </a:tc>
                <a:tc>
                  <a:txBody>
                    <a:bodyPr/>
                    <a:lstStyle/>
                    <a:p>
                      <a:pPr lvl="0" algn="ctr">
                        <a:buNone/>
                      </a:pPr>
                      <a:r>
                        <a:rPr lang="en-GB"/>
                        <a:t>Mahesh</a:t>
                      </a:r>
                      <a:endParaRPr lang="en-US"/>
                    </a:p>
                  </a:txBody>
                  <a:tcPr/>
                </a:tc>
                <a:tc>
                  <a:txBody>
                    <a:bodyPr/>
                    <a:lstStyle/>
                    <a:p>
                      <a:pPr lvl="0" algn="ctr">
                        <a:buNone/>
                      </a:pPr>
                      <a:r>
                        <a:rPr lang="en-GB"/>
                        <a:t>Rajkot</a:t>
                      </a:r>
                    </a:p>
                  </a:txBody>
                  <a:tcPr/>
                </a:tc>
                <a:tc>
                  <a:txBody>
                    <a:bodyPr/>
                    <a:lstStyle/>
                    <a:p>
                      <a:pPr lvl="0" algn="ctr">
                        <a:buNone/>
                      </a:pPr>
                      <a:r>
                        <a:rPr lang="en-GB"/>
                        <a:t>5541575518</a:t>
                      </a:r>
                      <a:endParaRPr lang="en-US"/>
                    </a:p>
                  </a:txBody>
                  <a:tcPr/>
                </a:tc>
                <a:tc>
                  <a:txBody>
                    <a:bodyPr/>
                    <a:lstStyle/>
                    <a:p>
                      <a:pPr lvl="0" algn="ctr">
                        <a:buNone/>
                      </a:pPr>
                      <a:r>
                        <a:rPr lang="en-GB"/>
                        <a:t>********</a:t>
                      </a:r>
                    </a:p>
                  </a:txBody>
                  <a:tcPr/>
                </a:tc>
                <a:tc>
                  <a:txBody>
                    <a:bodyPr/>
                    <a:lstStyle/>
                    <a:p>
                      <a:pPr lvl="0" algn="ctr">
                        <a:buNone/>
                      </a:pPr>
                      <a:r>
                        <a:rPr lang="en-GB"/>
                        <a:t>ab45@gmail.com</a:t>
                      </a:r>
                      <a:endParaRPr lang="en-US"/>
                    </a:p>
                  </a:txBody>
                  <a:tcPr/>
                </a:tc>
                <a:tc>
                  <a:txBody>
                    <a:bodyPr/>
                    <a:lstStyle/>
                    <a:p>
                      <a:pPr lvl="0" algn="ctr">
                        <a:buNone/>
                      </a:pPr>
                      <a:r>
                        <a:rPr lang="en-GB"/>
                        <a:t>398312</a:t>
                      </a:r>
                    </a:p>
                  </a:txBody>
                  <a:tcPr/>
                </a:tc>
                <a:extLst>
                  <a:ext uri="{0D108BD9-81ED-4DB2-BD59-A6C34878D82A}">
                    <a16:rowId xmlns:a16="http://schemas.microsoft.com/office/drawing/2014/main" val="3800300932"/>
                  </a:ext>
                </a:extLst>
              </a:tr>
            </a:tbl>
          </a:graphicData>
        </a:graphic>
      </p:graphicFrame>
    </p:spTree>
    <p:extLst>
      <p:ext uri="{BB962C8B-B14F-4D97-AF65-F5344CB8AC3E}">
        <p14:creationId xmlns:p14="http://schemas.microsoft.com/office/powerpoint/2010/main" val="36793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08C91-B736-1626-5A04-BCC0C2F2CE54}"/>
              </a:ext>
            </a:extLst>
          </p:cNvPr>
          <p:cNvSpPr>
            <a:spLocks noGrp="1"/>
          </p:cNvSpPr>
          <p:nvPr>
            <p:ph type="title"/>
          </p:nvPr>
        </p:nvSpPr>
        <p:spPr>
          <a:xfrm>
            <a:off x="361741" y="647179"/>
            <a:ext cx="4942765" cy="700041"/>
          </a:xfrm>
        </p:spPr>
        <p:txBody>
          <a:bodyPr/>
          <a:lstStyle/>
          <a:p>
            <a:pPr marL="342900" indent="-342900">
              <a:buFont typeface="Wingdings"/>
              <a:buChar char="Ø"/>
            </a:pPr>
            <a:r>
              <a:rPr lang="en-GB" sz="2400" b="1" dirty="0">
                <a:cs typeface="Calibri Light" panose="020F0302020204030204"/>
              </a:rPr>
              <a:t>Admin Table With Example:-</a:t>
            </a:r>
          </a:p>
        </p:txBody>
      </p:sp>
      <p:graphicFrame>
        <p:nvGraphicFramePr>
          <p:cNvPr id="3" name="Table 3">
            <a:extLst>
              <a:ext uri="{FF2B5EF4-FFF2-40B4-BE49-F238E27FC236}">
                <a16:creationId xmlns:a16="http://schemas.microsoft.com/office/drawing/2014/main" id="{612A7CA5-69C4-18A7-6D01-86A763D3476D}"/>
              </a:ext>
            </a:extLst>
          </p:cNvPr>
          <p:cNvGraphicFramePr>
            <a:graphicFrameLocks noGrp="1"/>
          </p:cNvGraphicFramePr>
          <p:nvPr>
            <p:extLst>
              <p:ext uri="{D42A27DB-BD31-4B8C-83A1-F6EECF244321}">
                <p14:modId xmlns:p14="http://schemas.microsoft.com/office/powerpoint/2010/main" val="1646820178"/>
              </p:ext>
            </p:extLst>
          </p:nvPr>
        </p:nvGraphicFramePr>
        <p:xfrm>
          <a:off x="1516570" y="2613500"/>
          <a:ext cx="8837963" cy="1854200"/>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1764291047"/>
                    </a:ext>
                  </a:extLst>
                </a:gridCol>
                <a:gridCol w="1633726">
                  <a:extLst>
                    <a:ext uri="{9D8B030D-6E8A-4147-A177-3AD203B41FA5}">
                      <a16:colId xmlns:a16="http://schemas.microsoft.com/office/drawing/2014/main" val="3864768574"/>
                    </a:ext>
                  </a:extLst>
                </a:gridCol>
                <a:gridCol w="1633726">
                  <a:extLst>
                    <a:ext uri="{9D8B030D-6E8A-4147-A177-3AD203B41FA5}">
                      <a16:colId xmlns:a16="http://schemas.microsoft.com/office/drawing/2014/main" val="1237239261"/>
                    </a:ext>
                  </a:extLst>
                </a:gridCol>
                <a:gridCol w="1633726">
                  <a:extLst>
                    <a:ext uri="{9D8B030D-6E8A-4147-A177-3AD203B41FA5}">
                      <a16:colId xmlns:a16="http://schemas.microsoft.com/office/drawing/2014/main" val="3260194125"/>
                    </a:ext>
                  </a:extLst>
                </a:gridCol>
                <a:gridCol w="2303059">
                  <a:extLst>
                    <a:ext uri="{9D8B030D-6E8A-4147-A177-3AD203B41FA5}">
                      <a16:colId xmlns:a16="http://schemas.microsoft.com/office/drawing/2014/main" val="720796042"/>
                    </a:ext>
                  </a:extLst>
                </a:gridCol>
              </a:tblGrid>
              <a:tr h="370840">
                <a:tc>
                  <a:txBody>
                    <a:bodyPr/>
                    <a:lstStyle/>
                    <a:p>
                      <a:pPr algn="ctr"/>
                      <a:r>
                        <a:rPr lang="en-GB"/>
                        <a:t>Fieldname </a:t>
                      </a:r>
                    </a:p>
                  </a:txBody>
                  <a:tcPr/>
                </a:tc>
                <a:tc>
                  <a:txBody>
                    <a:bodyPr/>
                    <a:lstStyle/>
                    <a:p>
                      <a:pPr algn="ctr"/>
                      <a:r>
                        <a:rPr lang="en-GB"/>
                        <a:t>Datatype</a:t>
                      </a:r>
                    </a:p>
                  </a:txBody>
                  <a:tcPr/>
                </a:tc>
                <a:tc>
                  <a:txBody>
                    <a:bodyPr/>
                    <a:lstStyle/>
                    <a:p>
                      <a:pPr algn="ctr"/>
                      <a:r>
                        <a:rPr lang="en-GB"/>
                        <a:t>Size</a:t>
                      </a:r>
                    </a:p>
                  </a:txBody>
                  <a:tcPr/>
                </a:tc>
                <a:tc>
                  <a:txBody>
                    <a:bodyPr/>
                    <a:lstStyle/>
                    <a:p>
                      <a:pPr algn="ctr"/>
                      <a:r>
                        <a:rPr lang="en-GB"/>
                        <a:t>Constraint</a:t>
                      </a:r>
                    </a:p>
                  </a:txBody>
                  <a:tcPr/>
                </a:tc>
                <a:tc>
                  <a:txBody>
                    <a:bodyPr/>
                    <a:lstStyle/>
                    <a:p>
                      <a:pPr algn="ctr"/>
                      <a:r>
                        <a:rPr lang="en-GB"/>
                        <a:t>Description</a:t>
                      </a:r>
                    </a:p>
                  </a:txBody>
                  <a:tcPr/>
                </a:tc>
                <a:extLst>
                  <a:ext uri="{0D108BD9-81ED-4DB2-BD59-A6C34878D82A}">
                    <a16:rowId xmlns:a16="http://schemas.microsoft.com/office/drawing/2014/main" val="3428088230"/>
                  </a:ext>
                </a:extLst>
              </a:tr>
              <a:tr h="370840">
                <a:tc>
                  <a:txBody>
                    <a:bodyPr/>
                    <a:lstStyle/>
                    <a:p>
                      <a:pPr algn="ctr"/>
                      <a:r>
                        <a:rPr lang="en-GB" err="1"/>
                        <a:t>Admin_id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Admin id</a:t>
                      </a:r>
                    </a:p>
                  </a:txBody>
                  <a:tcPr/>
                </a:tc>
                <a:extLst>
                  <a:ext uri="{0D108BD9-81ED-4DB2-BD59-A6C34878D82A}">
                    <a16:rowId xmlns:a16="http://schemas.microsoft.com/office/drawing/2014/main" val="143501984"/>
                  </a:ext>
                </a:extLst>
              </a:tr>
              <a:tr h="370840">
                <a:tc>
                  <a:txBody>
                    <a:bodyPr/>
                    <a:lstStyle/>
                    <a:p>
                      <a:pPr algn="ctr"/>
                      <a:r>
                        <a:rPr lang="en-GB" err="1"/>
                        <a:t>Admin_name</a:t>
                      </a:r>
                    </a:p>
                  </a:txBody>
                  <a:tcPr/>
                </a:tc>
                <a:tc>
                  <a:txBody>
                    <a:bodyPr/>
                    <a:lstStyle/>
                    <a:p>
                      <a:pPr algn="ctr"/>
                      <a:r>
                        <a:rPr lang="en-GB"/>
                        <a:t>varchar</a:t>
                      </a:r>
                    </a:p>
                  </a:txBody>
                  <a:tcPr/>
                </a:tc>
                <a:tc>
                  <a:txBody>
                    <a:bodyPr/>
                    <a:lstStyle/>
                    <a:p>
                      <a:pPr algn="ctr"/>
                      <a:r>
                        <a:rPr lang="en-GB"/>
                        <a:t>40</a:t>
                      </a:r>
                    </a:p>
                  </a:txBody>
                  <a:tcPr/>
                </a:tc>
                <a:tc>
                  <a:txBody>
                    <a:bodyPr/>
                    <a:lstStyle/>
                    <a:p>
                      <a:pPr algn="ctr"/>
                      <a:r>
                        <a:rPr lang="en-GB"/>
                        <a:t>Not Null</a:t>
                      </a:r>
                    </a:p>
                  </a:txBody>
                  <a:tcPr/>
                </a:tc>
                <a:tc>
                  <a:txBody>
                    <a:bodyPr/>
                    <a:lstStyle/>
                    <a:p>
                      <a:pPr algn="ctr"/>
                      <a:r>
                        <a:rPr lang="en-GB"/>
                        <a:t>Store Admin Name</a:t>
                      </a:r>
                    </a:p>
                  </a:txBody>
                  <a:tcPr/>
                </a:tc>
                <a:extLst>
                  <a:ext uri="{0D108BD9-81ED-4DB2-BD59-A6C34878D82A}">
                    <a16:rowId xmlns:a16="http://schemas.microsoft.com/office/drawing/2014/main" val="3868551800"/>
                  </a:ext>
                </a:extLst>
              </a:tr>
              <a:tr h="370840">
                <a:tc>
                  <a:txBody>
                    <a:bodyPr/>
                    <a:lstStyle/>
                    <a:p>
                      <a:pPr algn="ctr"/>
                      <a:r>
                        <a:rPr lang="en-GB" err="1"/>
                        <a:t>Email_id</a:t>
                      </a:r>
                    </a:p>
                  </a:txBody>
                  <a:tcPr/>
                </a:tc>
                <a:tc>
                  <a:txBody>
                    <a:bodyPr/>
                    <a:lstStyle/>
                    <a:p>
                      <a:pPr algn="ctr"/>
                      <a:r>
                        <a:rPr lang="en-GB"/>
                        <a:t>varchar</a:t>
                      </a:r>
                    </a:p>
                  </a:txBody>
                  <a:tcPr/>
                </a:tc>
                <a:tc>
                  <a:txBody>
                    <a:bodyPr/>
                    <a:lstStyle/>
                    <a:p>
                      <a:pPr algn="ctr"/>
                      <a:r>
                        <a:rPr lang="en-GB"/>
                        <a:t>40</a:t>
                      </a:r>
                    </a:p>
                  </a:txBody>
                  <a:tcPr/>
                </a:tc>
                <a:tc>
                  <a:txBody>
                    <a:bodyPr/>
                    <a:lstStyle/>
                    <a:p>
                      <a:pPr lvl="0" algn="ctr">
                        <a:buNone/>
                      </a:pPr>
                      <a:r>
                        <a:rPr lang="en-GB" sz="1800" u="none" strike="noStrike" noProof="0"/>
                        <a:t>Not Null</a:t>
                      </a:r>
                      <a:endParaRPr lang="en-US"/>
                    </a:p>
                  </a:txBody>
                  <a:tcPr/>
                </a:tc>
                <a:tc>
                  <a:txBody>
                    <a:bodyPr/>
                    <a:lstStyle/>
                    <a:p>
                      <a:pPr algn="ctr"/>
                      <a:r>
                        <a:rPr lang="en-GB"/>
                        <a:t>Store Admin Email id</a:t>
                      </a:r>
                    </a:p>
                  </a:txBody>
                  <a:tcPr/>
                </a:tc>
                <a:extLst>
                  <a:ext uri="{0D108BD9-81ED-4DB2-BD59-A6C34878D82A}">
                    <a16:rowId xmlns:a16="http://schemas.microsoft.com/office/drawing/2014/main" val="548623105"/>
                  </a:ext>
                </a:extLst>
              </a:tr>
              <a:tr h="370840">
                <a:tc>
                  <a:txBody>
                    <a:bodyPr/>
                    <a:lstStyle/>
                    <a:p>
                      <a:pPr algn="ctr"/>
                      <a:r>
                        <a:rPr lang="en-GB"/>
                        <a:t>Password</a:t>
                      </a:r>
                    </a:p>
                  </a:txBody>
                  <a:tcPr/>
                </a:tc>
                <a:tc>
                  <a:txBody>
                    <a:bodyPr/>
                    <a:lstStyle/>
                    <a:p>
                      <a:pPr algn="ctr"/>
                      <a:r>
                        <a:rPr lang="en-GB"/>
                        <a:t>varchar</a:t>
                      </a:r>
                    </a:p>
                  </a:txBody>
                  <a:tcPr/>
                </a:tc>
                <a:tc>
                  <a:txBody>
                    <a:bodyPr/>
                    <a:lstStyle/>
                    <a:p>
                      <a:pPr algn="ctr"/>
                      <a:r>
                        <a:rPr lang="en-GB"/>
                        <a:t>20</a:t>
                      </a:r>
                    </a:p>
                  </a:txBody>
                  <a:tcPr/>
                </a:tc>
                <a:tc>
                  <a:txBody>
                    <a:bodyPr/>
                    <a:lstStyle/>
                    <a:p>
                      <a:pPr lvl="0" algn="ctr">
                        <a:buNone/>
                      </a:pPr>
                      <a:r>
                        <a:rPr lang="en-GB" sz="1800" u="none" strike="noStrike" noProof="0"/>
                        <a:t>Not Null</a:t>
                      </a:r>
                      <a:endParaRPr lang="en-US"/>
                    </a:p>
                  </a:txBody>
                  <a:tcPr/>
                </a:tc>
                <a:tc>
                  <a:txBody>
                    <a:bodyPr/>
                    <a:lstStyle/>
                    <a:p>
                      <a:pPr algn="ctr"/>
                      <a:r>
                        <a:rPr lang="en-GB"/>
                        <a:t>Store Admin Password</a:t>
                      </a:r>
                    </a:p>
                  </a:txBody>
                  <a:tcPr/>
                </a:tc>
                <a:extLst>
                  <a:ext uri="{0D108BD9-81ED-4DB2-BD59-A6C34878D82A}">
                    <a16:rowId xmlns:a16="http://schemas.microsoft.com/office/drawing/2014/main" val="1769491715"/>
                  </a:ext>
                </a:extLst>
              </a:tr>
            </a:tbl>
          </a:graphicData>
        </a:graphic>
      </p:graphicFrame>
      <p:graphicFrame>
        <p:nvGraphicFramePr>
          <p:cNvPr id="4" name="Table 4">
            <a:extLst>
              <a:ext uri="{FF2B5EF4-FFF2-40B4-BE49-F238E27FC236}">
                <a16:creationId xmlns:a16="http://schemas.microsoft.com/office/drawing/2014/main" id="{ACA76B8F-7ABC-1718-1D98-2CE122E46009}"/>
              </a:ext>
            </a:extLst>
          </p:cNvPr>
          <p:cNvGraphicFramePr>
            <a:graphicFrameLocks noGrp="1"/>
          </p:cNvGraphicFramePr>
          <p:nvPr>
            <p:extLst>
              <p:ext uri="{D42A27DB-BD31-4B8C-83A1-F6EECF244321}">
                <p14:modId xmlns:p14="http://schemas.microsoft.com/office/powerpoint/2010/main" val="1980143082"/>
              </p:ext>
            </p:extLst>
          </p:nvPr>
        </p:nvGraphicFramePr>
        <p:xfrm>
          <a:off x="1906137" y="4761355"/>
          <a:ext cx="8168640" cy="74168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3085926698"/>
                    </a:ext>
                  </a:extLst>
                </a:gridCol>
                <a:gridCol w="2042160">
                  <a:extLst>
                    <a:ext uri="{9D8B030D-6E8A-4147-A177-3AD203B41FA5}">
                      <a16:colId xmlns:a16="http://schemas.microsoft.com/office/drawing/2014/main" val="3798978916"/>
                    </a:ext>
                  </a:extLst>
                </a:gridCol>
                <a:gridCol w="2042160">
                  <a:extLst>
                    <a:ext uri="{9D8B030D-6E8A-4147-A177-3AD203B41FA5}">
                      <a16:colId xmlns:a16="http://schemas.microsoft.com/office/drawing/2014/main" val="2139436326"/>
                    </a:ext>
                  </a:extLst>
                </a:gridCol>
                <a:gridCol w="2042160">
                  <a:extLst>
                    <a:ext uri="{9D8B030D-6E8A-4147-A177-3AD203B41FA5}">
                      <a16:colId xmlns:a16="http://schemas.microsoft.com/office/drawing/2014/main" val="656732173"/>
                    </a:ext>
                  </a:extLst>
                </a:gridCol>
              </a:tblGrid>
              <a:tr h="370840">
                <a:tc>
                  <a:txBody>
                    <a:bodyPr/>
                    <a:lstStyle/>
                    <a:p>
                      <a:pPr algn="ctr"/>
                      <a:r>
                        <a:rPr lang="en-GB" err="1"/>
                        <a:t>Admin_id</a:t>
                      </a:r>
                    </a:p>
                  </a:txBody>
                  <a:tcPr/>
                </a:tc>
                <a:tc>
                  <a:txBody>
                    <a:bodyPr/>
                    <a:lstStyle/>
                    <a:p>
                      <a:pPr algn="ctr"/>
                      <a:r>
                        <a:rPr lang="en-GB" err="1"/>
                        <a:t>Admin_name</a:t>
                      </a:r>
                    </a:p>
                  </a:txBody>
                  <a:tcPr/>
                </a:tc>
                <a:tc>
                  <a:txBody>
                    <a:bodyPr/>
                    <a:lstStyle/>
                    <a:p>
                      <a:pPr algn="ctr"/>
                      <a:r>
                        <a:rPr lang="en-GB" err="1"/>
                        <a:t>Email_id</a:t>
                      </a:r>
                    </a:p>
                  </a:txBody>
                  <a:tcPr/>
                </a:tc>
                <a:tc>
                  <a:txBody>
                    <a:bodyPr/>
                    <a:lstStyle/>
                    <a:p>
                      <a:pPr algn="ctr"/>
                      <a:r>
                        <a:rPr lang="en-GB"/>
                        <a:t>Password</a:t>
                      </a:r>
                    </a:p>
                  </a:txBody>
                  <a:tcPr/>
                </a:tc>
                <a:extLst>
                  <a:ext uri="{0D108BD9-81ED-4DB2-BD59-A6C34878D82A}">
                    <a16:rowId xmlns:a16="http://schemas.microsoft.com/office/drawing/2014/main" val="1382342285"/>
                  </a:ext>
                </a:extLst>
              </a:tr>
              <a:tr h="370840">
                <a:tc>
                  <a:txBody>
                    <a:bodyPr/>
                    <a:lstStyle/>
                    <a:p>
                      <a:pPr algn="ctr"/>
                      <a:r>
                        <a:rPr lang="en-GB"/>
                        <a:t>1</a:t>
                      </a:r>
                    </a:p>
                  </a:txBody>
                  <a:tcPr/>
                </a:tc>
                <a:tc>
                  <a:txBody>
                    <a:bodyPr/>
                    <a:lstStyle/>
                    <a:p>
                      <a:pPr algn="ctr"/>
                      <a:r>
                        <a:rPr lang="en-GB"/>
                        <a:t>Lalit</a:t>
                      </a:r>
                    </a:p>
                  </a:txBody>
                  <a:tcPr/>
                </a:tc>
                <a:tc>
                  <a:txBody>
                    <a:bodyPr/>
                    <a:lstStyle/>
                    <a:p>
                      <a:pPr algn="ctr"/>
                      <a:r>
                        <a:rPr lang="en-GB"/>
                        <a:t>ad44@gmail.com</a:t>
                      </a:r>
                    </a:p>
                  </a:txBody>
                  <a:tcPr/>
                </a:tc>
                <a:tc>
                  <a:txBody>
                    <a:bodyPr/>
                    <a:lstStyle/>
                    <a:p>
                      <a:pPr algn="ctr"/>
                      <a:r>
                        <a:rPr lang="en-GB"/>
                        <a:t>********</a:t>
                      </a:r>
                    </a:p>
                  </a:txBody>
                  <a:tcPr/>
                </a:tc>
                <a:extLst>
                  <a:ext uri="{0D108BD9-81ED-4DB2-BD59-A6C34878D82A}">
                    <a16:rowId xmlns:a16="http://schemas.microsoft.com/office/drawing/2014/main" val="4003641867"/>
                  </a:ext>
                </a:extLst>
              </a:tr>
            </a:tbl>
          </a:graphicData>
        </a:graphic>
      </p:graphicFrame>
      <p:sp>
        <p:nvSpPr>
          <p:cNvPr id="6" name="TextBox 5">
            <a:extLst>
              <a:ext uri="{FF2B5EF4-FFF2-40B4-BE49-F238E27FC236}">
                <a16:creationId xmlns:a16="http://schemas.microsoft.com/office/drawing/2014/main" id="{E37D1A7B-E112-9F84-3A0F-A677A18A1A25}"/>
              </a:ext>
            </a:extLst>
          </p:cNvPr>
          <p:cNvSpPr txBox="1"/>
          <p:nvPr/>
        </p:nvSpPr>
        <p:spPr>
          <a:xfrm>
            <a:off x="1448937" y="1801505"/>
            <a:ext cx="409660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5.Admin Table: -</a:t>
            </a:r>
          </a:p>
          <a:p>
            <a:r>
              <a:rPr lang="en-US" sz="1600" b="1">
                <a:latin typeface="Arial"/>
                <a:cs typeface="Arial"/>
              </a:rPr>
              <a:t>Primary Key: - Admin_id</a:t>
            </a:r>
          </a:p>
          <a:p>
            <a:r>
              <a:rPr lang="en-US" sz="1600" b="1">
                <a:latin typeface="Arial"/>
                <a:cs typeface="Arial"/>
              </a:rPr>
              <a:t>Description: - It Stores Admin`s Details</a:t>
            </a:r>
          </a:p>
        </p:txBody>
      </p:sp>
    </p:spTree>
    <p:extLst>
      <p:ext uri="{BB962C8B-B14F-4D97-AF65-F5344CB8AC3E}">
        <p14:creationId xmlns:p14="http://schemas.microsoft.com/office/powerpoint/2010/main" val="4083732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F16CB-2C50-7E44-E263-D239D136E2FD}"/>
              </a:ext>
            </a:extLst>
          </p:cNvPr>
          <p:cNvSpPr>
            <a:spLocks noGrp="1"/>
          </p:cNvSpPr>
          <p:nvPr>
            <p:ph type="title"/>
          </p:nvPr>
        </p:nvSpPr>
        <p:spPr>
          <a:xfrm>
            <a:off x="497006" y="535722"/>
            <a:ext cx="5340824" cy="745534"/>
          </a:xfrm>
        </p:spPr>
        <p:txBody>
          <a:bodyPr/>
          <a:lstStyle/>
          <a:p>
            <a:pPr marL="342900" indent="-342900">
              <a:buFont typeface="Wingdings"/>
              <a:buChar char="Ø"/>
            </a:pPr>
            <a:r>
              <a:rPr lang="en-GB" sz="2400" b="1" dirty="0">
                <a:cs typeface="Calibri Light" panose="020F0302020204030204"/>
              </a:rPr>
              <a:t>Supplier Table With Example:-</a:t>
            </a:r>
          </a:p>
        </p:txBody>
      </p:sp>
      <p:graphicFrame>
        <p:nvGraphicFramePr>
          <p:cNvPr id="3" name="Table 3">
            <a:extLst>
              <a:ext uri="{FF2B5EF4-FFF2-40B4-BE49-F238E27FC236}">
                <a16:creationId xmlns:a16="http://schemas.microsoft.com/office/drawing/2014/main" id="{7BB157B3-F9F6-1695-3B98-2F80A9239A74}"/>
              </a:ext>
            </a:extLst>
          </p:cNvPr>
          <p:cNvGraphicFramePr>
            <a:graphicFrameLocks noGrp="1"/>
          </p:cNvGraphicFramePr>
          <p:nvPr>
            <p:extLst>
              <p:ext uri="{D42A27DB-BD31-4B8C-83A1-F6EECF244321}">
                <p14:modId xmlns:p14="http://schemas.microsoft.com/office/powerpoint/2010/main" val="3290062861"/>
              </p:ext>
            </p:extLst>
          </p:nvPr>
        </p:nvGraphicFramePr>
        <p:xfrm>
          <a:off x="1441427" y="2263877"/>
          <a:ext cx="9144246" cy="2225038"/>
        </p:xfrm>
        <a:graphic>
          <a:graphicData uri="http://schemas.openxmlformats.org/drawingml/2006/table">
            <a:tbl>
              <a:tblPr firstRow="1" bandRow="1">
                <a:tableStyleId>{B301B821-A1FF-4177-AEE7-76D212191A09}</a:tableStyleId>
              </a:tblPr>
              <a:tblGrid>
                <a:gridCol w="1839760">
                  <a:extLst>
                    <a:ext uri="{9D8B030D-6E8A-4147-A177-3AD203B41FA5}">
                      <a16:colId xmlns:a16="http://schemas.microsoft.com/office/drawing/2014/main" val="4044255219"/>
                    </a:ext>
                  </a:extLst>
                </a:gridCol>
                <a:gridCol w="1433534">
                  <a:extLst>
                    <a:ext uri="{9D8B030D-6E8A-4147-A177-3AD203B41FA5}">
                      <a16:colId xmlns:a16="http://schemas.microsoft.com/office/drawing/2014/main" val="128249645"/>
                    </a:ext>
                  </a:extLst>
                </a:gridCol>
                <a:gridCol w="1633726">
                  <a:extLst>
                    <a:ext uri="{9D8B030D-6E8A-4147-A177-3AD203B41FA5}">
                      <a16:colId xmlns:a16="http://schemas.microsoft.com/office/drawing/2014/main" val="587577616"/>
                    </a:ext>
                  </a:extLst>
                </a:gridCol>
                <a:gridCol w="1633726">
                  <a:extLst>
                    <a:ext uri="{9D8B030D-6E8A-4147-A177-3AD203B41FA5}">
                      <a16:colId xmlns:a16="http://schemas.microsoft.com/office/drawing/2014/main" val="1267965339"/>
                    </a:ext>
                  </a:extLst>
                </a:gridCol>
                <a:gridCol w="2603500">
                  <a:extLst>
                    <a:ext uri="{9D8B030D-6E8A-4147-A177-3AD203B41FA5}">
                      <a16:colId xmlns:a16="http://schemas.microsoft.com/office/drawing/2014/main" val="1025547429"/>
                    </a:ext>
                  </a:extLst>
                </a:gridCol>
              </a:tblGrid>
              <a:tr h="370840">
                <a:tc>
                  <a:txBody>
                    <a:bodyPr/>
                    <a:lstStyle/>
                    <a:p>
                      <a:pPr lvl="0" algn="ctr">
                        <a:buNone/>
                      </a:pPr>
                      <a:r>
                        <a:rPr lang="en-GB" dirty="0"/>
                        <a:t>Fieldname </a:t>
                      </a:r>
                    </a:p>
                  </a:txBody>
                  <a:tcPr/>
                </a:tc>
                <a:tc>
                  <a:txBody>
                    <a:bodyPr/>
                    <a:lstStyle/>
                    <a:p>
                      <a:pPr algn="ctr"/>
                      <a:r>
                        <a:rPr lang="en-GB" dirty="0"/>
                        <a:t>Datatype</a:t>
                      </a:r>
                    </a:p>
                  </a:txBody>
                  <a:tcPr/>
                </a:tc>
                <a:tc>
                  <a:txBody>
                    <a:bodyPr/>
                    <a:lstStyle/>
                    <a:p>
                      <a:pPr algn="ctr"/>
                      <a:r>
                        <a:rPr lang="en-GB" dirty="0"/>
                        <a:t>Size </a:t>
                      </a:r>
                    </a:p>
                  </a:txBody>
                  <a:tcPr/>
                </a:tc>
                <a:tc>
                  <a:txBody>
                    <a:bodyPr/>
                    <a:lstStyle/>
                    <a:p>
                      <a:pPr lvl="0" algn="ctr">
                        <a:buNone/>
                      </a:pPr>
                      <a:r>
                        <a:rPr lang="en-GB" sz="1800" u="none" strike="noStrike" noProof="0" dirty="0"/>
                        <a:t>Constraint</a:t>
                      </a:r>
                    </a:p>
                  </a:txBody>
                  <a:tcPr/>
                </a:tc>
                <a:tc>
                  <a:txBody>
                    <a:bodyPr/>
                    <a:lstStyle/>
                    <a:p>
                      <a:pPr algn="ctr"/>
                      <a:r>
                        <a:rPr lang="en-GB" dirty="0"/>
                        <a:t>Description</a:t>
                      </a:r>
                    </a:p>
                  </a:txBody>
                  <a:tcPr/>
                </a:tc>
                <a:extLst>
                  <a:ext uri="{0D108BD9-81ED-4DB2-BD59-A6C34878D82A}">
                    <a16:rowId xmlns:a16="http://schemas.microsoft.com/office/drawing/2014/main" val="4070629055"/>
                  </a:ext>
                </a:extLst>
              </a:tr>
              <a:tr h="370840">
                <a:tc>
                  <a:txBody>
                    <a:bodyPr/>
                    <a:lstStyle/>
                    <a:p>
                      <a:pPr lvl="0" algn="ctr">
                        <a:buNone/>
                      </a:pPr>
                      <a:r>
                        <a:rPr lang="en-GB" dirty="0"/>
                        <a:t>Supplier _ id</a:t>
                      </a:r>
                      <a:endParaRPr lang="en-US" dirty="0"/>
                    </a:p>
                  </a:txBody>
                  <a:tcPr/>
                </a:tc>
                <a:tc>
                  <a:txBody>
                    <a:bodyPr/>
                    <a:lstStyle/>
                    <a:p>
                      <a:pPr algn="ctr"/>
                      <a:r>
                        <a:rPr lang="en-GB" dirty="0"/>
                        <a:t>Int</a:t>
                      </a:r>
                    </a:p>
                  </a:txBody>
                  <a:tcPr/>
                </a:tc>
                <a:tc>
                  <a:txBody>
                    <a:bodyPr/>
                    <a:lstStyle/>
                    <a:p>
                      <a:pPr algn="ctr"/>
                      <a:r>
                        <a:rPr lang="en-GB" dirty="0"/>
                        <a:t>20</a:t>
                      </a:r>
                    </a:p>
                  </a:txBody>
                  <a:tcPr/>
                </a:tc>
                <a:tc>
                  <a:txBody>
                    <a:bodyPr/>
                    <a:lstStyle/>
                    <a:p>
                      <a:pPr algn="ctr"/>
                      <a:r>
                        <a:rPr lang="en-GB" dirty="0"/>
                        <a:t>P.K</a:t>
                      </a:r>
                    </a:p>
                  </a:txBody>
                  <a:tcPr/>
                </a:tc>
                <a:tc>
                  <a:txBody>
                    <a:bodyPr/>
                    <a:lstStyle/>
                    <a:p>
                      <a:pPr algn="ctr"/>
                      <a:r>
                        <a:rPr lang="en-GB" dirty="0"/>
                        <a:t>Store Supplier id</a:t>
                      </a:r>
                    </a:p>
                  </a:txBody>
                  <a:tcPr/>
                </a:tc>
                <a:extLst>
                  <a:ext uri="{0D108BD9-81ED-4DB2-BD59-A6C34878D82A}">
                    <a16:rowId xmlns:a16="http://schemas.microsoft.com/office/drawing/2014/main" val="4279642028"/>
                  </a:ext>
                </a:extLst>
              </a:tr>
              <a:tr h="370840">
                <a:tc>
                  <a:txBody>
                    <a:bodyPr/>
                    <a:lstStyle/>
                    <a:p>
                      <a:pPr algn="ctr"/>
                      <a:r>
                        <a:rPr lang="en-GB" dirty="0"/>
                        <a:t>Supplier _ name</a:t>
                      </a:r>
                    </a:p>
                  </a:txBody>
                  <a:tcPr/>
                </a:tc>
                <a:tc>
                  <a:txBody>
                    <a:bodyPr/>
                    <a:lstStyle/>
                    <a:p>
                      <a:pPr algn="ctr"/>
                      <a:r>
                        <a:rPr lang="en-GB" dirty="0"/>
                        <a:t>varchar</a:t>
                      </a:r>
                    </a:p>
                  </a:txBody>
                  <a:tcPr/>
                </a:tc>
                <a:tc>
                  <a:txBody>
                    <a:bodyPr/>
                    <a:lstStyle/>
                    <a:p>
                      <a:pPr algn="ctr"/>
                      <a:r>
                        <a:rPr lang="en-GB" dirty="0"/>
                        <a:t>50</a:t>
                      </a:r>
                    </a:p>
                  </a:txBody>
                  <a:tcPr/>
                </a:tc>
                <a:tc>
                  <a:txBody>
                    <a:bodyPr/>
                    <a:lstStyle/>
                    <a:p>
                      <a:pPr algn="ctr"/>
                      <a:r>
                        <a:rPr lang="en-GB" dirty="0"/>
                        <a:t>Not Null</a:t>
                      </a:r>
                    </a:p>
                  </a:txBody>
                  <a:tcPr/>
                </a:tc>
                <a:tc>
                  <a:txBody>
                    <a:bodyPr/>
                    <a:lstStyle/>
                    <a:p>
                      <a:pPr algn="ctr"/>
                      <a:r>
                        <a:rPr lang="en-GB" dirty="0"/>
                        <a:t>Store Supplier name</a:t>
                      </a:r>
                    </a:p>
                  </a:txBody>
                  <a:tcPr/>
                </a:tc>
                <a:extLst>
                  <a:ext uri="{0D108BD9-81ED-4DB2-BD59-A6C34878D82A}">
                    <a16:rowId xmlns:a16="http://schemas.microsoft.com/office/drawing/2014/main" val="1943075684"/>
                  </a:ext>
                </a:extLst>
              </a:tr>
              <a:tr h="370839">
                <a:tc>
                  <a:txBody>
                    <a:bodyPr/>
                    <a:lstStyle/>
                    <a:p>
                      <a:pPr lvl="0" algn="ctr">
                        <a:buNone/>
                      </a:pPr>
                      <a:r>
                        <a:rPr lang="en-GB" err="1"/>
                        <a:t>Supplier_address</a:t>
                      </a:r>
                      <a:endParaRPr lang="en-GB" dirty="0" err="1"/>
                    </a:p>
                  </a:txBody>
                  <a:tcPr/>
                </a:tc>
                <a:tc>
                  <a:txBody>
                    <a:bodyPr/>
                    <a:lstStyle/>
                    <a:p>
                      <a:pPr lvl="0" algn="ctr">
                        <a:buNone/>
                      </a:pPr>
                      <a:r>
                        <a:rPr lang="en-GB" dirty="0"/>
                        <a:t>varchar</a:t>
                      </a:r>
                    </a:p>
                  </a:txBody>
                  <a:tcPr/>
                </a:tc>
                <a:tc>
                  <a:txBody>
                    <a:bodyPr/>
                    <a:lstStyle/>
                    <a:p>
                      <a:pPr lvl="0" algn="ctr">
                        <a:buNone/>
                      </a:pPr>
                      <a:r>
                        <a:rPr lang="en-GB" dirty="0"/>
                        <a:t>80</a:t>
                      </a:r>
                    </a:p>
                  </a:txBody>
                  <a:tcPr/>
                </a:tc>
                <a:tc>
                  <a:txBody>
                    <a:bodyPr/>
                    <a:lstStyle/>
                    <a:p>
                      <a:pPr lvl="0" algn="ctr">
                        <a:buNone/>
                      </a:pPr>
                      <a:r>
                        <a:rPr lang="en-GB" dirty="0"/>
                        <a:t>Not Null</a:t>
                      </a:r>
                    </a:p>
                  </a:txBody>
                  <a:tcPr/>
                </a:tc>
                <a:tc>
                  <a:txBody>
                    <a:bodyPr/>
                    <a:lstStyle/>
                    <a:p>
                      <a:pPr lvl="0" algn="ctr">
                        <a:buNone/>
                      </a:pPr>
                      <a:r>
                        <a:rPr lang="en-GB" dirty="0"/>
                        <a:t>Store Supplier Address</a:t>
                      </a:r>
                    </a:p>
                  </a:txBody>
                  <a:tcPr/>
                </a:tc>
                <a:extLst>
                  <a:ext uri="{0D108BD9-81ED-4DB2-BD59-A6C34878D82A}">
                    <a16:rowId xmlns:a16="http://schemas.microsoft.com/office/drawing/2014/main" val="681454631"/>
                  </a:ext>
                </a:extLst>
              </a:tr>
              <a:tr h="370840">
                <a:tc>
                  <a:txBody>
                    <a:bodyPr/>
                    <a:lstStyle/>
                    <a:p>
                      <a:pPr algn="ctr"/>
                      <a:r>
                        <a:rPr lang="en-GB" err="1"/>
                        <a:t>Supplier_contact</a:t>
                      </a:r>
                      <a:endParaRPr lang="en-GB" dirty="0" err="1"/>
                    </a:p>
                  </a:txBody>
                  <a:tcPr/>
                </a:tc>
                <a:tc>
                  <a:txBody>
                    <a:bodyPr/>
                    <a:lstStyle/>
                    <a:p>
                      <a:pPr algn="ctr"/>
                      <a:r>
                        <a:rPr lang="en-GB" dirty="0"/>
                        <a:t>varchar</a:t>
                      </a:r>
                    </a:p>
                  </a:txBody>
                  <a:tcPr/>
                </a:tc>
                <a:tc>
                  <a:txBody>
                    <a:bodyPr/>
                    <a:lstStyle/>
                    <a:p>
                      <a:pPr algn="ctr"/>
                      <a:r>
                        <a:rPr lang="en-GB" dirty="0"/>
                        <a:t>20</a:t>
                      </a:r>
                    </a:p>
                  </a:txBody>
                  <a:tcPr/>
                </a:tc>
                <a:tc>
                  <a:txBody>
                    <a:bodyPr/>
                    <a:lstStyle/>
                    <a:p>
                      <a:pPr algn="ctr"/>
                      <a:r>
                        <a:rPr lang="en-GB" dirty="0"/>
                        <a:t>Not Null</a:t>
                      </a:r>
                    </a:p>
                  </a:txBody>
                  <a:tcPr/>
                </a:tc>
                <a:tc>
                  <a:txBody>
                    <a:bodyPr/>
                    <a:lstStyle/>
                    <a:p>
                      <a:pPr algn="ctr"/>
                      <a:r>
                        <a:rPr lang="en-GB" dirty="0"/>
                        <a:t>Store Supplier Contact</a:t>
                      </a:r>
                    </a:p>
                  </a:txBody>
                  <a:tcPr/>
                </a:tc>
                <a:extLst>
                  <a:ext uri="{0D108BD9-81ED-4DB2-BD59-A6C34878D82A}">
                    <a16:rowId xmlns:a16="http://schemas.microsoft.com/office/drawing/2014/main" val="2603278988"/>
                  </a:ext>
                </a:extLst>
              </a:tr>
              <a:tr h="370839">
                <a:tc>
                  <a:txBody>
                    <a:bodyPr/>
                    <a:lstStyle/>
                    <a:p>
                      <a:pPr lvl="0" algn="ctr">
                        <a:buNone/>
                      </a:pPr>
                      <a:r>
                        <a:rPr lang="en-GB" dirty="0" err="1"/>
                        <a:t>Supplier_email</a:t>
                      </a:r>
                      <a:r>
                        <a:rPr lang="en-GB" dirty="0"/>
                        <a:t> id</a:t>
                      </a:r>
                      <a:endParaRPr lang="en-GB" dirty="0" err="1"/>
                    </a:p>
                  </a:txBody>
                  <a:tcPr/>
                </a:tc>
                <a:tc>
                  <a:txBody>
                    <a:bodyPr/>
                    <a:lstStyle/>
                    <a:p>
                      <a:pPr lvl="0" algn="ctr">
                        <a:buNone/>
                      </a:pPr>
                      <a:r>
                        <a:rPr lang="en-GB" dirty="0"/>
                        <a:t>varchar</a:t>
                      </a:r>
                    </a:p>
                  </a:txBody>
                  <a:tcPr/>
                </a:tc>
                <a:tc>
                  <a:txBody>
                    <a:bodyPr/>
                    <a:lstStyle/>
                    <a:p>
                      <a:pPr lvl="0" algn="ctr">
                        <a:buNone/>
                      </a:pPr>
                      <a:r>
                        <a:rPr lang="en-GB" dirty="0"/>
                        <a:t>40</a:t>
                      </a:r>
                    </a:p>
                  </a:txBody>
                  <a:tcPr/>
                </a:tc>
                <a:tc>
                  <a:txBody>
                    <a:bodyPr/>
                    <a:lstStyle/>
                    <a:p>
                      <a:pPr lvl="0" algn="ctr">
                        <a:buNone/>
                      </a:pPr>
                      <a:r>
                        <a:rPr lang="en-GB" dirty="0"/>
                        <a:t>Not Null</a:t>
                      </a:r>
                    </a:p>
                  </a:txBody>
                  <a:tcPr/>
                </a:tc>
                <a:tc>
                  <a:txBody>
                    <a:bodyPr/>
                    <a:lstStyle/>
                    <a:p>
                      <a:pPr lvl="0" algn="ctr">
                        <a:buNone/>
                      </a:pPr>
                      <a:r>
                        <a:rPr lang="en-GB" dirty="0"/>
                        <a:t>Store Supplier Email id</a:t>
                      </a:r>
                    </a:p>
                  </a:txBody>
                  <a:tcPr/>
                </a:tc>
                <a:extLst>
                  <a:ext uri="{0D108BD9-81ED-4DB2-BD59-A6C34878D82A}">
                    <a16:rowId xmlns:a16="http://schemas.microsoft.com/office/drawing/2014/main" val="1484974306"/>
                  </a:ext>
                </a:extLst>
              </a:tr>
            </a:tbl>
          </a:graphicData>
        </a:graphic>
      </p:graphicFrame>
      <p:graphicFrame>
        <p:nvGraphicFramePr>
          <p:cNvPr id="4" name="Table 4">
            <a:extLst>
              <a:ext uri="{FF2B5EF4-FFF2-40B4-BE49-F238E27FC236}">
                <a16:creationId xmlns:a16="http://schemas.microsoft.com/office/drawing/2014/main" id="{F85901A2-7183-72BA-DD12-A88110A758C7}"/>
              </a:ext>
            </a:extLst>
          </p:cNvPr>
          <p:cNvGraphicFramePr>
            <a:graphicFrameLocks noGrp="1"/>
          </p:cNvGraphicFramePr>
          <p:nvPr>
            <p:extLst>
              <p:ext uri="{D42A27DB-BD31-4B8C-83A1-F6EECF244321}">
                <p14:modId xmlns:p14="http://schemas.microsoft.com/office/powerpoint/2010/main" val="359709735"/>
              </p:ext>
            </p:extLst>
          </p:nvPr>
        </p:nvGraphicFramePr>
        <p:xfrm>
          <a:off x="1818185" y="4618858"/>
          <a:ext cx="8581563" cy="1747520"/>
        </p:xfrm>
        <a:graphic>
          <a:graphicData uri="http://schemas.openxmlformats.org/drawingml/2006/table">
            <a:tbl>
              <a:tblPr firstRow="1" bandRow="1">
                <a:tableStyleId>{5C22544A-7EE6-4342-B048-85BDC9FD1C3A}</a:tableStyleId>
              </a:tblPr>
              <a:tblGrid>
                <a:gridCol w="1269997">
                  <a:extLst>
                    <a:ext uri="{9D8B030D-6E8A-4147-A177-3AD203B41FA5}">
                      <a16:colId xmlns:a16="http://schemas.microsoft.com/office/drawing/2014/main" val="2134346159"/>
                    </a:ext>
                  </a:extLst>
                </a:gridCol>
                <a:gridCol w="1651000">
                  <a:extLst>
                    <a:ext uri="{9D8B030D-6E8A-4147-A177-3AD203B41FA5}">
                      <a16:colId xmlns:a16="http://schemas.microsoft.com/office/drawing/2014/main" val="567168950"/>
                    </a:ext>
                  </a:extLst>
                </a:gridCol>
                <a:gridCol w="1917700">
                  <a:extLst>
                    <a:ext uri="{9D8B030D-6E8A-4147-A177-3AD203B41FA5}">
                      <a16:colId xmlns:a16="http://schemas.microsoft.com/office/drawing/2014/main" val="2277461631"/>
                    </a:ext>
                  </a:extLst>
                </a:gridCol>
                <a:gridCol w="1837867">
                  <a:extLst>
                    <a:ext uri="{9D8B030D-6E8A-4147-A177-3AD203B41FA5}">
                      <a16:colId xmlns:a16="http://schemas.microsoft.com/office/drawing/2014/main" val="249829498"/>
                    </a:ext>
                  </a:extLst>
                </a:gridCol>
                <a:gridCol w="1904999">
                  <a:extLst>
                    <a:ext uri="{9D8B030D-6E8A-4147-A177-3AD203B41FA5}">
                      <a16:colId xmlns:a16="http://schemas.microsoft.com/office/drawing/2014/main" val="182193202"/>
                    </a:ext>
                  </a:extLst>
                </a:gridCol>
              </a:tblGrid>
              <a:tr h="381000">
                <a:tc>
                  <a:txBody>
                    <a:bodyPr/>
                    <a:lstStyle/>
                    <a:p>
                      <a:pPr algn="ctr"/>
                      <a:r>
                        <a:rPr lang="en-GB" dirty="0" err="1"/>
                        <a:t>Supplier_id</a:t>
                      </a:r>
                      <a:r>
                        <a:rPr lang="en-GB" dirty="0"/>
                        <a:t> </a:t>
                      </a:r>
                    </a:p>
                  </a:txBody>
                  <a:tcPr/>
                </a:tc>
                <a:tc>
                  <a:txBody>
                    <a:bodyPr/>
                    <a:lstStyle/>
                    <a:p>
                      <a:pPr algn="ctr"/>
                      <a:r>
                        <a:rPr lang="en-GB" err="1"/>
                        <a:t>Supplier_name</a:t>
                      </a:r>
                      <a:endParaRPr lang="en-GB" dirty="0" err="1"/>
                    </a:p>
                  </a:txBody>
                  <a:tcPr/>
                </a:tc>
                <a:tc>
                  <a:txBody>
                    <a:bodyPr/>
                    <a:lstStyle/>
                    <a:p>
                      <a:pPr lvl="0" algn="ctr">
                        <a:buNone/>
                      </a:pPr>
                      <a:r>
                        <a:rPr lang="en-GB" err="1"/>
                        <a:t>Supplier_address</a:t>
                      </a:r>
                      <a:endParaRPr lang="en-GB" dirty="0" err="1"/>
                    </a:p>
                  </a:txBody>
                  <a:tcPr/>
                </a:tc>
                <a:tc>
                  <a:txBody>
                    <a:bodyPr/>
                    <a:lstStyle/>
                    <a:p>
                      <a:pPr algn="ctr"/>
                      <a:r>
                        <a:rPr lang="en-GB" err="1"/>
                        <a:t>Supplier_contact</a:t>
                      </a:r>
                      <a:endParaRPr lang="en-GB" dirty="0" err="1"/>
                    </a:p>
                  </a:txBody>
                  <a:tcPr/>
                </a:tc>
                <a:tc>
                  <a:txBody>
                    <a:bodyPr/>
                    <a:lstStyle/>
                    <a:p>
                      <a:pPr lvl="0" algn="ctr">
                        <a:buNone/>
                      </a:pPr>
                      <a:r>
                        <a:rPr lang="en-GB" dirty="0" err="1"/>
                        <a:t>Supplier_email</a:t>
                      </a:r>
                      <a:r>
                        <a:rPr lang="en-GB" dirty="0"/>
                        <a:t> id</a:t>
                      </a:r>
                      <a:endParaRPr lang="en-GB" dirty="0" err="1"/>
                    </a:p>
                  </a:txBody>
                  <a:tcPr/>
                </a:tc>
                <a:extLst>
                  <a:ext uri="{0D108BD9-81ED-4DB2-BD59-A6C34878D82A}">
                    <a16:rowId xmlns:a16="http://schemas.microsoft.com/office/drawing/2014/main" val="2493504639"/>
                  </a:ext>
                </a:extLst>
              </a:tr>
              <a:tr h="370840">
                <a:tc>
                  <a:txBody>
                    <a:bodyPr/>
                    <a:lstStyle/>
                    <a:p>
                      <a:pPr algn="ctr"/>
                      <a:r>
                        <a:rPr lang="en-GB" dirty="0"/>
                        <a:t>1</a:t>
                      </a:r>
                    </a:p>
                  </a:txBody>
                  <a:tcPr/>
                </a:tc>
                <a:tc>
                  <a:txBody>
                    <a:bodyPr/>
                    <a:lstStyle/>
                    <a:p>
                      <a:pPr algn="ctr"/>
                      <a:r>
                        <a:rPr lang="en-GB" dirty="0"/>
                        <a:t>Ashok</a:t>
                      </a:r>
                    </a:p>
                  </a:txBody>
                  <a:tcPr/>
                </a:tc>
                <a:tc>
                  <a:txBody>
                    <a:bodyPr/>
                    <a:lstStyle/>
                    <a:p>
                      <a:pPr lvl="0" algn="ctr">
                        <a:buNone/>
                      </a:pPr>
                      <a:r>
                        <a:rPr lang="en-GB" dirty="0"/>
                        <a:t>Ahmedabad</a:t>
                      </a:r>
                    </a:p>
                  </a:txBody>
                  <a:tcPr/>
                </a:tc>
                <a:tc>
                  <a:txBody>
                    <a:bodyPr/>
                    <a:lstStyle/>
                    <a:p>
                      <a:pPr algn="ctr"/>
                      <a:r>
                        <a:rPr lang="en-GB" dirty="0"/>
                        <a:t>8188465694</a:t>
                      </a:r>
                    </a:p>
                  </a:txBody>
                  <a:tcPr/>
                </a:tc>
                <a:tc>
                  <a:txBody>
                    <a:bodyPr/>
                    <a:lstStyle/>
                    <a:p>
                      <a:pPr lvl="0" algn="ctr">
                        <a:buNone/>
                      </a:pPr>
                      <a:r>
                        <a:rPr lang="en-GB" dirty="0"/>
                        <a:t>ask94@gmail.com</a:t>
                      </a:r>
                    </a:p>
                  </a:txBody>
                  <a:tcPr/>
                </a:tc>
                <a:extLst>
                  <a:ext uri="{0D108BD9-81ED-4DB2-BD59-A6C34878D82A}">
                    <a16:rowId xmlns:a16="http://schemas.microsoft.com/office/drawing/2014/main" val="1951879123"/>
                  </a:ext>
                </a:extLst>
              </a:tr>
              <a:tr h="355410">
                <a:tc>
                  <a:txBody>
                    <a:bodyPr/>
                    <a:lstStyle/>
                    <a:p>
                      <a:pPr algn="ctr"/>
                      <a:r>
                        <a:rPr lang="en-GB" dirty="0"/>
                        <a:t>2</a:t>
                      </a:r>
                    </a:p>
                  </a:txBody>
                  <a:tcPr/>
                </a:tc>
                <a:tc>
                  <a:txBody>
                    <a:bodyPr/>
                    <a:lstStyle/>
                    <a:p>
                      <a:pPr algn="ctr"/>
                      <a:r>
                        <a:rPr lang="en-GB" dirty="0"/>
                        <a:t>Ranjit</a:t>
                      </a:r>
                    </a:p>
                  </a:txBody>
                  <a:tcPr/>
                </a:tc>
                <a:tc>
                  <a:txBody>
                    <a:bodyPr/>
                    <a:lstStyle/>
                    <a:p>
                      <a:pPr lvl="0" algn="ctr">
                        <a:buNone/>
                      </a:pPr>
                      <a:r>
                        <a:rPr lang="en-GB" dirty="0"/>
                        <a:t>Anand</a:t>
                      </a:r>
                    </a:p>
                  </a:txBody>
                  <a:tcPr/>
                </a:tc>
                <a:tc>
                  <a:txBody>
                    <a:bodyPr/>
                    <a:lstStyle/>
                    <a:p>
                      <a:pPr algn="ctr"/>
                      <a:r>
                        <a:rPr lang="en-GB" dirty="0"/>
                        <a:t>4545552945</a:t>
                      </a:r>
                    </a:p>
                  </a:txBody>
                  <a:tcPr/>
                </a:tc>
                <a:tc>
                  <a:txBody>
                    <a:bodyPr/>
                    <a:lstStyle/>
                    <a:p>
                      <a:pPr lvl="0" algn="ctr">
                        <a:buNone/>
                      </a:pPr>
                      <a:r>
                        <a:rPr lang="en-GB" dirty="0"/>
                        <a:t>an45@gmail.com</a:t>
                      </a:r>
                    </a:p>
                  </a:txBody>
                  <a:tcPr/>
                </a:tc>
                <a:extLst>
                  <a:ext uri="{0D108BD9-81ED-4DB2-BD59-A6C34878D82A}">
                    <a16:rowId xmlns:a16="http://schemas.microsoft.com/office/drawing/2014/main" val="2229095805"/>
                  </a:ext>
                </a:extLst>
              </a:tr>
              <a:tr h="370840">
                <a:tc>
                  <a:txBody>
                    <a:bodyPr/>
                    <a:lstStyle/>
                    <a:p>
                      <a:pPr algn="ctr"/>
                      <a:r>
                        <a:rPr lang="en-GB" dirty="0"/>
                        <a:t>3</a:t>
                      </a:r>
                    </a:p>
                  </a:txBody>
                  <a:tcPr/>
                </a:tc>
                <a:tc>
                  <a:txBody>
                    <a:bodyPr/>
                    <a:lstStyle/>
                    <a:p>
                      <a:pPr algn="ctr"/>
                      <a:r>
                        <a:rPr lang="en-GB" dirty="0"/>
                        <a:t>Ramesh</a:t>
                      </a:r>
                      <a:endParaRPr lang="en-GB" dirty="0" err="1"/>
                    </a:p>
                  </a:txBody>
                  <a:tcPr/>
                </a:tc>
                <a:tc>
                  <a:txBody>
                    <a:bodyPr/>
                    <a:lstStyle/>
                    <a:p>
                      <a:pPr lvl="0" algn="ctr">
                        <a:buNone/>
                      </a:pPr>
                      <a:r>
                        <a:rPr lang="en-GB" dirty="0"/>
                        <a:t>Rajkot</a:t>
                      </a:r>
                    </a:p>
                  </a:txBody>
                  <a:tcPr/>
                </a:tc>
                <a:tc>
                  <a:txBody>
                    <a:bodyPr/>
                    <a:lstStyle/>
                    <a:p>
                      <a:pPr algn="ctr"/>
                      <a:r>
                        <a:rPr lang="en-GB" dirty="0"/>
                        <a:t>4854888715</a:t>
                      </a:r>
                    </a:p>
                  </a:txBody>
                  <a:tcPr/>
                </a:tc>
                <a:tc>
                  <a:txBody>
                    <a:bodyPr/>
                    <a:lstStyle/>
                    <a:p>
                      <a:pPr lvl="0" algn="ctr">
                        <a:buNone/>
                      </a:pPr>
                      <a:r>
                        <a:rPr lang="en-GB" dirty="0"/>
                        <a:t>sh15@gmail.com</a:t>
                      </a:r>
                    </a:p>
                  </a:txBody>
                  <a:tcPr/>
                </a:tc>
                <a:extLst>
                  <a:ext uri="{0D108BD9-81ED-4DB2-BD59-A6C34878D82A}">
                    <a16:rowId xmlns:a16="http://schemas.microsoft.com/office/drawing/2014/main" val="1373389285"/>
                  </a:ext>
                </a:extLst>
              </a:tr>
            </a:tbl>
          </a:graphicData>
        </a:graphic>
      </p:graphicFrame>
      <p:sp>
        <p:nvSpPr>
          <p:cNvPr id="6" name="TextBox 5">
            <a:extLst>
              <a:ext uri="{FF2B5EF4-FFF2-40B4-BE49-F238E27FC236}">
                <a16:creationId xmlns:a16="http://schemas.microsoft.com/office/drawing/2014/main" id="{4FE615EA-1E72-53AD-70A3-9AA0A5E48386}"/>
              </a:ext>
            </a:extLst>
          </p:cNvPr>
          <p:cNvSpPr txBox="1"/>
          <p:nvPr/>
        </p:nvSpPr>
        <p:spPr>
          <a:xfrm>
            <a:off x="1369325" y="1483057"/>
            <a:ext cx="415346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6.Supplier Table: -</a:t>
            </a:r>
          </a:p>
          <a:p>
            <a:r>
              <a:rPr lang="en-US" sz="1600" b="1">
                <a:latin typeface="Arial"/>
                <a:cs typeface="Arial"/>
              </a:rPr>
              <a:t>Primary Key: - Supplier_id</a:t>
            </a:r>
          </a:p>
          <a:p>
            <a:r>
              <a:rPr lang="en-US" sz="1600" b="1">
                <a:latin typeface="Arial"/>
                <a:cs typeface="Arial"/>
              </a:rPr>
              <a:t>Description: - It Stores Supplier Details</a:t>
            </a:r>
          </a:p>
        </p:txBody>
      </p:sp>
    </p:spTree>
    <p:extLst>
      <p:ext uri="{BB962C8B-B14F-4D97-AF65-F5344CB8AC3E}">
        <p14:creationId xmlns:p14="http://schemas.microsoft.com/office/powerpoint/2010/main" val="1870728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B60DF-8078-9331-5D25-4A578AA7A86B}"/>
              </a:ext>
            </a:extLst>
          </p:cNvPr>
          <p:cNvSpPr>
            <a:spLocks noGrp="1"/>
          </p:cNvSpPr>
          <p:nvPr>
            <p:ph type="title"/>
          </p:nvPr>
        </p:nvSpPr>
        <p:spPr>
          <a:xfrm>
            <a:off x="330200" y="40005"/>
            <a:ext cx="4511040" cy="827723"/>
          </a:xfrm>
        </p:spPr>
        <p:txBody>
          <a:bodyPr>
            <a:normAutofit/>
          </a:bodyPr>
          <a:lstStyle/>
          <a:p>
            <a:pPr marL="342900" indent="-342900">
              <a:buFont typeface="Wingdings"/>
              <a:buChar char="Ø"/>
            </a:pPr>
            <a:r>
              <a:rPr lang="en-GB" sz="2400" b="1" dirty="0">
                <a:cs typeface="Calibri Light" panose="020F0302020204030204"/>
              </a:rPr>
              <a:t>Material Table With Example</a:t>
            </a:r>
            <a:r>
              <a:rPr lang="en-GB" b="1" dirty="0">
                <a:cs typeface="Calibri Light" panose="020F0302020204030204"/>
              </a:rPr>
              <a:t> </a:t>
            </a:r>
            <a:r>
              <a:rPr lang="en-GB" sz="2400" b="1" dirty="0">
                <a:cs typeface="Calibri Light" panose="020F0302020204030204"/>
              </a:rPr>
              <a:t>:-</a:t>
            </a:r>
            <a:endParaRPr lang="en-US" b="1" dirty="0">
              <a:cs typeface="Calibri Light" panose="020F0302020204030204"/>
            </a:endParaRPr>
          </a:p>
        </p:txBody>
      </p:sp>
      <p:graphicFrame>
        <p:nvGraphicFramePr>
          <p:cNvPr id="3" name="Table 3">
            <a:extLst>
              <a:ext uri="{FF2B5EF4-FFF2-40B4-BE49-F238E27FC236}">
                <a16:creationId xmlns:a16="http://schemas.microsoft.com/office/drawing/2014/main" id="{15667D7A-E713-6458-43FF-197E9380034C}"/>
              </a:ext>
            </a:extLst>
          </p:cNvPr>
          <p:cNvGraphicFramePr>
            <a:graphicFrameLocks noGrp="1"/>
          </p:cNvGraphicFramePr>
          <p:nvPr>
            <p:extLst>
              <p:ext uri="{D42A27DB-BD31-4B8C-83A1-F6EECF244321}">
                <p14:modId xmlns:p14="http://schemas.microsoft.com/office/powerpoint/2010/main" val="3596582758"/>
              </p:ext>
            </p:extLst>
          </p:nvPr>
        </p:nvGraphicFramePr>
        <p:xfrm>
          <a:off x="828268" y="2035746"/>
          <a:ext cx="10619770" cy="1609419"/>
        </p:xfrm>
        <a:graphic>
          <a:graphicData uri="http://schemas.openxmlformats.org/drawingml/2006/table">
            <a:tbl>
              <a:tblPr firstRow="1" bandRow="1">
                <a:tableStyleId>{5C22544A-7EE6-4342-B048-85BDC9FD1C3A}</a:tableStyleId>
              </a:tblPr>
              <a:tblGrid>
                <a:gridCol w="2123954">
                  <a:extLst>
                    <a:ext uri="{9D8B030D-6E8A-4147-A177-3AD203B41FA5}">
                      <a16:colId xmlns:a16="http://schemas.microsoft.com/office/drawing/2014/main" val="155079686"/>
                    </a:ext>
                  </a:extLst>
                </a:gridCol>
                <a:gridCol w="2123954">
                  <a:extLst>
                    <a:ext uri="{9D8B030D-6E8A-4147-A177-3AD203B41FA5}">
                      <a16:colId xmlns:a16="http://schemas.microsoft.com/office/drawing/2014/main" val="165489083"/>
                    </a:ext>
                  </a:extLst>
                </a:gridCol>
                <a:gridCol w="2123954">
                  <a:extLst>
                    <a:ext uri="{9D8B030D-6E8A-4147-A177-3AD203B41FA5}">
                      <a16:colId xmlns:a16="http://schemas.microsoft.com/office/drawing/2014/main" val="1618773393"/>
                    </a:ext>
                  </a:extLst>
                </a:gridCol>
                <a:gridCol w="2123954">
                  <a:extLst>
                    <a:ext uri="{9D8B030D-6E8A-4147-A177-3AD203B41FA5}">
                      <a16:colId xmlns:a16="http://schemas.microsoft.com/office/drawing/2014/main" val="1197424748"/>
                    </a:ext>
                  </a:extLst>
                </a:gridCol>
                <a:gridCol w="2123954">
                  <a:extLst>
                    <a:ext uri="{9D8B030D-6E8A-4147-A177-3AD203B41FA5}">
                      <a16:colId xmlns:a16="http://schemas.microsoft.com/office/drawing/2014/main" val="2620219124"/>
                    </a:ext>
                  </a:extLst>
                </a:gridCol>
              </a:tblGrid>
              <a:tr h="536473">
                <a:tc>
                  <a:txBody>
                    <a:bodyPr/>
                    <a:lstStyle/>
                    <a:p>
                      <a:pPr lvl="0" algn="ctr">
                        <a:buNone/>
                      </a:pPr>
                      <a:r>
                        <a:rPr lang="en-GB"/>
                        <a:t>Fieldname</a:t>
                      </a:r>
                      <a:endParaRPr lang="en-US"/>
                    </a:p>
                  </a:txBody>
                  <a:tcPr/>
                </a:tc>
                <a:tc>
                  <a:txBody>
                    <a:bodyPr/>
                    <a:lstStyle/>
                    <a:p>
                      <a:pPr lvl="0" algn="ctr">
                        <a:buNone/>
                      </a:pPr>
                      <a:r>
                        <a:rPr lang="en-GB"/>
                        <a:t>Datatype</a:t>
                      </a:r>
                      <a:endParaRPr lang="en-US"/>
                    </a:p>
                  </a:txBody>
                  <a:tcPr/>
                </a:tc>
                <a:tc>
                  <a:txBody>
                    <a:bodyPr/>
                    <a:lstStyle/>
                    <a:p>
                      <a:pPr lvl="0" algn="ctr">
                        <a:buNone/>
                      </a:pPr>
                      <a:r>
                        <a:rPr lang="en-GB"/>
                        <a:t>Size</a:t>
                      </a:r>
                      <a:endParaRPr lang="en-US"/>
                    </a:p>
                  </a:txBody>
                  <a:tcPr/>
                </a:tc>
                <a:tc>
                  <a:txBody>
                    <a:bodyPr/>
                    <a:lstStyle/>
                    <a:p>
                      <a:pPr lvl="0" algn="ctr">
                        <a:buNone/>
                      </a:pPr>
                      <a:r>
                        <a:rPr lang="en-GB"/>
                        <a:t>Constraint</a:t>
                      </a:r>
                      <a:endParaRPr lang="en-US"/>
                    </a:p>
                  </a:txBody>
                  <a:tcPr/>
                </a:tc>
                <a:tc>
                  <a:txBody>
                    <a:bodyPr/>
                    <a:lstStyle/>
                    <a:p>
                      <a:pPr lvl="0" algn="ctr">
                        <a:buNone/>
                      </a:pPr>
                      <a:r>
                        <a:rPr lang="en-GB"/>
                        <a:t>Description</a:t>
                      </a:r>
                      <a:endParaRPr lang="en-US"/>
                    </a:p>
                  </a:txBody>
                  <a:tcPr/>
                </a:tc>
                <a:extLst>
                  <a:ext uri="{0D108BD9-81ED-4DB2-BD59-A6C34878D82A}">
                    <a16:rowId xmlns:a16="http://schemas.microsoft.com/office/drawing/2014/main" val="3425540099"/>
                  </a:ext>
                </a:extLst>
              </a:tr>
              <a:tr h="536473">
                <a:tc>
                  <a:txBody>
                    <a:bodyPr/>
                    <a:lstStyle/>
                    <a:p>
                      <a:pPr algn="ctr"/>
                      <a:r>
                        <a:rPr lang="en-GB" err="1"/>
                        <a:t>M_id</a:t>
                      </a:r>
                      <a:r>
                        <a:rPr lang="en-GB"/>
                        <a:t> </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a:t>
                      </a:r>
                      <a:r>
                        <a:rPr lang="en-GB" err="1"/>
                        <a:t>Material_id</a:t>
                      </a:r>
                    </a:p>
                  </a:txBody>
                  <a:tcPr/>
                </a:tc>
                <a:extLst>
                  <a:ext uri="{0D108BD9-81ED-4DB2-BD59-A6C34878D82A}">
                    <a16:rowId xmlns:a16="http://schemas.microsoft.com/office/drawing/2014/main" val="3696805315"/>
                  </a:ext>
                </a:extLst>
              </a:tr>
              <a:tr h="536473">
                <a:tc>
                  <a:txBody>
                    <a:bodyPr/>
                    <a:lstStyle/>
                    <a:p>
                      <a:pPr algn="ctr"/>
                      <a:r>
                        <a:rPr lang="en-GB" err="1"/>
                        <a:t>Material_name</a:t>
                      </a:r>
                    </a:p>
                  </a:txBody>
                  <a:tcPr/>
                </a:tc>
                <a:tc>
                  <a:txBody>
                    <a:bodyPr/>
                    <a:lstStyle/>
                    <a:p>
                      <a:pPr algn="ctr"/>
                      <a:r>
                        <a:rPr lang="en-GB"/>
                        <a:t>Varchar</a:t>
                      </a:r>
                    </a:p>
                  </a:txBody>
                  <a:tcPr/>
                </a:tc>
                <a:tc>
                  <a:txBody>
                    <a:bodyPr/>
                    <a:lstStyle/>
                    <a:p>
                      <a:pPr algn="ctr"/>
                      <a:r>
                        <a:rPr lang="en-GB"/>
                        <a:t>40</a:t>
                      </a:r>
                    </a:p>
                  </a:txBody>
                  <a:tcPr/>
                </a:tc>
                <a:tc>
                  <a:txBody>
                    <a:bodyPr/>
                    <a:lstStyle/>
                    <a:p>
                      <a:pPr algn="ctr"/>
                      <a:r>
                        <a:rPr lang="en-GB"/>
                        <a:t>Not Null</a:t>
                      </a:r>
                    </a:p>
                  </a:txBody>
                  <a:tcPr/>
                </a:tc>
                <a:tc>
                  <a:txBody>
                    <a:bodyPr/>
                    <a:lstStyle/>
                    <a:p>
                      <a:pPr algn="ctr"/>
                      <a:r>
                        <a:rPr lang="en-GB"/>
                        <a:t>Store Material name</a:t>
                      </a:r>
                    </a:p>
                  </a:txBody>
                  <a:tcPr/>
                </a:tc>
                <a:extLst>
                  <a:ext uri="{0D108BD9-81ED-4DB2-BD59-A6C34878D82A}">
                    <a16:rowId xmlns:a16="http://schemas.microsoft.com/office/drawing/2014/main" val="3276256216"/>
                  </a:ext>
                </a:extLst>
              </a:tr>
            </a:tbl>
          </a:graphicData>
        </a:graphic>
      </p:graphicFrame>
      <p:graphicFrame>
        <p:nvGraphicFramePr>
          <p:cNvPr id="4" name="Table 4">
            <a:extLst>
              <a:ext uri="{FF2B5EF4-FFF2-40B4-BE49-F238E27FC236}">
                <a16:creationId xmlns:a16="http://schemas.microsoft.com/office/drawing/2014/main" id="{6904CEB6-7BCE-2ABE-495B-E7E7F7E33E27}"/>
              </a:ext>
            </a:extLst>
          </p:cNvPr>
          <p:cNvGraphicFramePr>
            <a:graphicFrameLocks noGrp="1"/>
          </p:cNvGraphicFramePr>
          <p:nvPr>
            <p:extLst>
              <p:ext uri="{D42A27DB-BD31-4B8C-83A1-F6EECF244321}">
                <p14:modId xmlns:p14="http://schemas.microsoft.com/office/powerpoint/2010/main" val="1867114142"/>
              </p:ext>
            </p:extLst>
          </p:nvPr>
        </p:nvGraphicFramePr>
        <p:xfrm>
          <a:off x="3059762" y="4009683"/>
          <a:ext cx="5867400" cy="18542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2803398184"/>
                    </a:ext>
                  </a:extLst>
                </a:gridCol>
                <a:gridCol w="3251200">
                  <a:extLst>
                    <a:ext uri="{9D8B030D-6E8A-4147-A177-3AD203B41FA5}">
                      <a16:colId xmlns:a16="http://schemas.microsoft.com/office/drawing/2014/main" val="2857466218"/>
                    </a:ext>
                  </a:extLst>
                </a:gridCol>
              </a:tblGrid>
              <a:tr h="370840">
                <a:tc>
                  <a:txBody>
                    <a:bodyPr/>
                    <a:lstStyle/>
                    <a:p>
                      <a:pPr algn="ctr"/>
                      <a:r>
                        <a:rPr lang="en-GB" err="1"/>
                        <a:t>M_id</a:t>
                      </a:r>
                      <a:r>
                        <a:rPr lang="en-GB"/>
                        <a:t> </a:t>
                      </a:r>
                    </a:p>
                  </a:txBody>
                  <a:tcPr/>
                </a:tc>
                <a:tc>
                  <a:txBody>
                    <a:bodyPr/>
                    <a:lstStyle/>
                    <a:p>
                      <a:pPr algn="ctr"/>
                      <a:r>
                        <a:rPr lang="en-GB" err="1"/>
                        <a:t>Material_name</a:t>
                      </a:r>
                    </a:p>
                  </a:txBody>
                  <a:tcPr/>
                </a:tc>
                <a:extLst>
                  <a:ext uri="{0D108BD9-81ED-4DB2-BD59-A6C34878D82A}">
                    <a16:rowId xmlns:a16="http://schemas.microsoft.com/office/drawing/2014/main" val="398634289"/>
                  </a:ext>
                </a:extLst>
              </a:tr>
              <a:tr h="370840">
                <a:tc>
                  <a:txBody>
                    <a:bodyPr/>
                    <a:lstStyle/>
                    <a:p>
                      <a:pPr algn="ctr"/>
                      <a:r>
                        <a:rPr lang="en-GB"/>
                        <a:t>1</a:t>
                      </a:r>
                    </a:p>
                  </a:txBody>
                  <a:tcPr/>
                </a:tc>
                <a:tc>
                  <a:txBody>
                    <a:bodyPr/>
                    <a:lstStyle/>
                    <a:p>
                      <a:pPr algn="ctr"/>
                      <a:r>
                        <a:rPr lang="en-GB"/>
                        <a:t>Ebonite </a:t>
                      </a:r>
                    </a:p>
                  </a:txBody>
                  <a:tcPr/>
                </a:tc>
                <a:extLst>
                  <a:ext uri="{0D108BD9-81ED-4DB2-BD59-A6C34878D82A}">
                    <a16:rowId xmlns:a16="http://schemas.microsoft.com/office/drawing/2014/main" val="177433790"/>
                  </a:ext>
                </a:extLst>
              </a:tr>
              <a:tr h="370840">
                <a:tc>
                  <a:txBody>
                    <a:bodyPr/>
                    <a:lstStyle/>
                    <a:p>
                      <a:pPr algn="ctr"/>
                      <a:r>
                        <a:rPr lang="en-GB"/>
                        <a:t>2</a:t>
                      </a:r>
                    </a:p>
                  </a:txBody>
                  <a:tcPr/>
                </a:tc>
                <a:tc>
                  <a:txBody>
                    <a:bodyPr/>
                    <a:lstStyle/>
                    <a:p>
                      <a:pPr algn="ctr"/>
                      <a:r>
                        <a:rPr lang="en-GB"/>
                        <a:t>Rubber  </a:t>
                      </a:r>
                    </a:p>
                  </a:txBody>
                  <a:tcPr/>
                </a:tc>
                <a:extLst>
                  <a:ext uri="{0D108BD9-81ED-4DB2-BD59-A6C34878D82A}">
                    <a16:rowId xmlns:a16="http://schemas.microsoft.com/office/drawing/2014/main" val="1768030314"/>
                  </a:ext>
                </a:extLst>
              </a:tr>
              <a:tr h="370840">
                <a:tc>
                  <a:txBody>
                    <a:bodyPr/>
                    <a:lstStyle/>
                    <a:p>
                      <a:pPr algn="ctr"/>
                      <a:r>
                        <a:rPr lang="en-GB"/>
                        <a:t>3</a:t>
                      </a:r>
                    </a:p>
                  </a:txBody>
                  <a:tcPr/>
                </a:tc>
                <a:tc>
                  <a:txBody>
                    <a:bodyPr/>
                    <a:lstStyle/>
                    <a:p>
                      <a:pPr algn="ctr"/>
                      <a:r>
                        <a:rPr lang="en-GB"/>
                        <a:t>Aluminium </a:t>
                      </a:r>
                    </a:p>
                  </a:txBody>
                  <a:tcPr/>
                </a:tc>
                <a:extLst>
                  <a:ext uri="{0D108BD9-81ED-4DB2-BD59-A6C34878D82A}">
                    <a16:rowId xmlns:a16="http://schemas.microsoft.com/office/drawing/2014/main" val="2034587877"/>
                  </a:ext>
                </a:extLst>
              </a:tr>
              <a:tr h="370840">
                <a:tc>
                  <a:txBody>
                    <a:bodyPr/>
                    <a:lstStyle/>
                    <a:p>
                      <a:pPr algn="ctr"/>
                      <a:r>
                        <a:rPr lang="en-GB"/>
                        <a:t>4</a:t>
                      </a:r>
                    </a:p>
                  </a:txBody>
                  <a:tcPr/>
                </a:tc>
                <a:tc>
                  <a:txBody>
                    <a:bodyPr/>
                    <a:lstStyle/>
                    <a:p>
                      <a:pPr algn="ctr"/>
                      <a:r>
                        <a:rPr lang="en-GB"/>
                        <a:t>Hard Crome </a:t>
                      </a:r>
                    </a:p>
                  </a:txBody>
                  <a:tcPr/>
                </a:tc>
                <a:extLst>
                  <a:ext uri="{0D108BD9-81ED-4DB2-BD59-A6C34878D82A}">
                    <a16:rowId xmlns:a16="http://schemas.microsoft.com/office/drawing/2014/main" val="844541615"/>
                  </a:ext>
                </a:extLst>
              </a:tr>
            </a:tbl>
          </a:graphicData>
        </a:graphic>
      </p:graphicFrame>
      <p:sp>
        <p:nvSpPr>
          <p:cNvPr id="5" name="TextBox 4">
            <a:extLst>
              <a:ext uri="{FF2B5EF4-FFF2-40B4-BE49-F238E27FC236}">
                <a16:creationId xmlns:a16="http://schemas.microsoft.com/office/drawing/2014/main" id="{9B8655CB-7618-A2E3-F7DB-1470282FF461}"/>
              </a:ext>
            </a:extLst>
          </p:cNvPr>
          <p:cNvSpPr txBox="1"/>
          <p:nvPr/>
        </p:nvSpPr>
        <p:spPr>
          <a:xfrm>
            <a:off x="743803" y="1175982"/>
            <a:ext cx="386914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7.Material Table: -</a:t>
            </a:r>
          </a:p>
          <a:p>
            <a:r>
              <a:rPr lang="en-US" sz="1600" b="1" dirty="0">
                <a:latin typeface="Arial"/>
                <a:cs typeface="Arial"/>
              </a:rPr>
              <a:t>Primary Key: - </a:t>
            </a:r>
            <a:r>
              <a:rPr lang="en-US" sz="1600" b="1" dirty="0" err="1">
                <a:latin typeface="Arial"/>
                <a:cs typeface="Arial"/>
              </a:rPr>
              <a:t>M_id</a:t>
            </a:r>
            <a:endParaRPr lang="en-US" sz="1600" b="1">
              <a:latin typeface="Arial"/>
              <a:cs typeface="Arial"/>
            </a:endParaRPr>
          </a:p>
          <a:p>
            <a:r>
              <a:rPr lang="en-US" sz="1600" b="1" dirty="0">
                <a:latin typeface="Arial"/>
                <a:cs typeface="Arial"/>
              </a:rPr>
              <a:t>Description: - It Stores Material Detail</a:t>
            </a:r>
          </a:p>
        </p:txBody>
      </p:sp>
    </p:spTree>
    <p:extLst>
      <p:ext uri="{BB962C8B-B14F-4D97-AF65-F5344CB8AC3E}">
        <p14:creationId xmlns:p14="http://schemas.microsoft.com/office/powerpoint/2010/main" val="913158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4EC19-2F88-7013-7D26-FCFCCB185DF9}"/>
              </a:ext>
            </a:extLst>
          </p:cNvPr>
          <p:cNvSpPr>
            <a:spLocks noGrp="1"/>
          </p:cNvSpPr>
          <p:nvPr>
            <p:ph type="title"/>
          </p:nvPr>
        </p:nvSpPr>
        <p:spPr>
          <a:xfrm>
            <a:off x="76200" y="125639"/>
            <a:ext cx="7478486" cy="715963"/>
          </a:xfrm>
        </p:spPr>
        <p:txBody>
          <a:bodyPr>
            <a:normAutofit/>
          </a:bodyPr>
          <a:lstStyle/>
          <a:p>
            <a:pPr marL="571500" indent="-571500">
              <a:buFont typeface="Wingdings"/>
              <a:buChar char="Ø"/>
            </a:pPr>
            <a:r>
              <a:rPr lang="en-GB" sz="2800" b="1" dirty="0">
                <a:latin typeface="Calibri Light"/>
                <a:cs typeface="Calibri Light" panose="020F0302020204030204"/>
              </a:rPr>
              <a:t>Product Type Table With Example:-</a:t>
            </a:r>
          </a:p>
        </p:txBody>
      </p:sp>
      <p:graphicFrame>
        <p:nvGraphicFramePr>
          <p:cNvPr id="5" name="Table 5">
            <a:extLst>
              <a:ext uri="{FF2B5EF4-FFF2-40B4-BE49-F238E27FC236}">
                <a16:creationId xmlns:a16="http://schemas.microsoft.com/office/drawing/2014/main" id="{D1DBF6B9-5F28-6AC1-6D9D-2601DC39AD01}"/>
              </a:ext>
            </a:extLst>
          </p:cNvPr>
          <p:cNvGraphicFramePr>
            <a:graphicFrameLocks noGrp="1"/>
          </p:cNvGraphicFramePr>
          <p:nvPr>
            <p:extLst>
              <p:ext uri="{D42A27DB-BD31-4B8C-83A1-F6EECF244321}">
                <p14:modId xmlns:p14="http://schemas.microsoft.com/office/powerpoint/2010/main" val="4043124369"/>
              </p:ext>
            </p:extLst>
          </p:nvPr>
        </p:nvGraphicFramePr>
        <p:xfrm>
          <a:off x="1673216" y="2217610"/>
          <a:ext cx="8922504" cy="1674432"/>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1312719796"/>
                    </a:ext>
                  </a:extLst>
                </a:gridCol>
                <a:gridCol w="1633726">
                  <a:extLst>
                    <a:ext uri="{9D8B030D-6E8A-4147-A177-3AD203B41FA5}">
                      <a16:colId xmlns:a16="http://schemas.microsoft.com/office/drawing/2014/main" val="2264365690"/>
                    </a:ext>
                  </a:extLst>
                </a:gridCol>
                <a:gridCol w="1633726">
                  <a:extLst>
                    <a:ext uri="{9D8B030D-6E8A-4147-A177-3AD203B41FA5}">
                      <a16:colId xmlns:a16="http://schemas.microsoft.com/office/drawing/2014/main" val="778961836"/>
                    </a:ext>
                  </a:extLst>
                </a:gridCol>
                <a:gridCol w="1633726">
                  <a:extLst>
                    <a:ext uri="{9D8B030D-6E8A-4147-A177-3AD203B41FA5}">
                      <a16:colId xmlns:a16="http://schemas.microsoft.com/office/drawing/2014/main" val="974856034"/>
                    </a:ext>
                  </a:extLst>
                </a:gridCol>
                <a:gridCol w="2387600">
                  <a:extLst>
                    <a:ext uri="{9D8B030D-6E8A-4147-A177-3AD203B41FA5}">
                      <a16:colId xmlns:a16="http://schemas.microsoft.com/office/drawing/2014/main" val="4259098982"/>
                    </a:ext>
                  </a:extLst>
                </a:gridCol>
              </a:tblGrid>
              <a:tr h="558144">
                <a:tc>
                  <a:txBody>
                    <a:bodyPr/>
                    <a:lstStyle/>
                    <a:p>
                      <a:pPr lvl="0" algn="ctr">
                        <a:buNone/>
                      </a:pPr>
                      <a:r>
                        <a:rPr lang="en-GB" dirty="0"/>
                        <a:t>Fieldname </a:t>
                      </a:r>
                      <a:endParaRPr lang="en-US"/>
                    </a:p>
                  </a:txBody>
                  <a:tcPr/>
                </a:tc>
                <a:tc>
                  <a:txBody>
                    <a:bodyPr/>
                    <a:lstStyle/>
                    <a:p>
                      <a:pPr lvl="0" algn="ctr">
                        <a:buNone/>
                      </a:pPr>
                      <a:r>
                        <a:rPr lang="en-GB" dirty="0"/>
                        <a:t>Datatype</a:t>
                      </a:r>
                      <a:endParaRPr lang="en-US"/>
                    </a:p>
                  </a:txBody>
                  <a:tcPr/>
                </a:tc>
                <a:tc>
                  <a:txBody>
                    <a:bodyPr/>
                    <a:lstStyle/>
                    <a:p>
                      <a:pPr lvl="0" algn="ctr">
                        <a:buNone/>
                      </a:pPr>
                      <a:r>
                        <a:rPr lang="en-GB" dirty="0"/>
                        <a:t>Size </a:t>
                      </a:r>
                      <a:endParaRPr lang="en-US"/>
                    </a:p>
                  </a:txBody>
                  <a:tcPr/>
                </a:tc>
                <a:tc>
                  <a:txBody>
                    <a:bodyPr/>
                    <a:lstStyle/>
                    <a:p>
                      <a:pPr lvl="0" algn="ctr">
                        <a:buNone/>
                      </a:pPr>
                      <a:r>
                        <a:rPr lang="en-GB" sz="1800" u="none" strike="noStrike" noProof="0" dirty="0"/>
                        <a:t>Constraint</a:t>
                      </a:r>
                      <a:endParaRPr lang="en-US"/>
                    </a:p>
                  </a:txBody>
                  <a:tcPr/>
                </a:tc>
                <a:tc>
                  <a:txBody>
                    <a:bodyPr/>
                    <a:lstStyle/>
                    <a:p>
                      <a:pPr lvl="0" algn="ctr">
                        <a:buNone/>
                      </a:pPr>
                      <a:r>
                        <a:rPr lang="en-GB" dirty="0"/>
                        <a:t>Description</a:t>
                      </a:r>
                      <a:endParaRPr lang="en-US"/>
                    </a:p>
                  </a:txBody>
                  <a:tcPr/>
                </a:tc>
                <a:extLst>
                  <a:ext uri="{0D108BD9-81ED-4DB2-BD59-A6C34878D82A}">
                    <a16:rowId xmlns:a16="http://schemas.microsoft.com/office/drawing/2014/main" val="248100535"/>
                  </a:ext>
                </a:extLst>
              </a:tr>
              <a:tr h="558144">
                <a:tc>
                  <a:txBody>
                    <a:bodyPr/>
                    <a:lstStyle/>
                    <a:p>
                      <a:pPr algn="ctr"/>
                      <a:r>
                        <a:rPr lang="en-GB" dirty="0" err="1"/>
                        <a:t>Pt_id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Product Type id</a:t>
                      </a:r>
                    </a:p>
                  </a:txBody>
                  <a:tcPr/>
                </a:tc>
                <a:extLst>
                  <a:ext uri="{0D108BD9-81ED-4DB2-BD59-A6C34878D82A}">
                    <a16:rowId xmlns:a16="http://schemas.microsoft.com/office/drawing/2014/main" val="951658984"/>
                  </a:ext>
                </a:extLst>
              </a:tr>
              <a:tr h="558144">
                <a:tc>
                  <a:txBody>
                    <a:bodyPr/>
                    <a:lstStyle/>
                    <a:p>
                      <a:pPr algn="ctr"/>
                      <a:r>
                        <a:rPr lang="en-GB" dirty="0" err="1"/>
                        <a:t>Pt_name</a:t>
                      </a:r>
                    </a:p>
                  </a:txBody>
                  <a:tcPr/>
                </a:tc>
                <a:tc>
                  <a:txBody>
                    <a:bodyPr/>
                    <a:lstStyle/>
                    <a:p>
                      <a:pPr algn="ctr"/>
                      <a:r>
                        <a:rPr lang="en-GB" dirty="0"/>
                        <a:t>varchar</a:t>
                      </a:r>
                    </a:p>
                  </a:txBody>
                  <a:tcPr/>
                </a:tc>
                <a:tc>
                  <a:txBody>
                    <a:bodyPr/>
                    <a:lstStyle/>
                    <a:p>
                      <a:pPr algn="ctr"/>
                      <a:r>
                        <a:rPr lang="en-GB" dirty="0"/>
                        <a:t>30</a:t>
                      </a:r>
                    </a:p>
                  </a:txBody>
                  <a:tcPr/>
                </a:tc>
                <a:tc>
                  <a:txBody>
                    <a:bodyPr/>
                    <a:lstStyle/>
                    <a:p>
                      <a:pPr algn="ctr"/>
                      <a:r>
                        <a:rPr lang="en-GB" dirty="0"/>
                        <a:t>Not Null</a:t>
                      </a:r>
                    </a:p>
                  </a:txBody>
                  <a:tcPr/>
                </a:tc>
                <a:tc>
                  <a:txBody>
                    <a:bodyPr/>
                    <a:lstStyle/>
                    <a:p>
                      <a:pPr algn="ctr"/>
                      <a:r>
                        <a:rPr lang="en-GB" dirty="0"/>
                        <a:t>Store Product Name</a:t>
                      </a:r>
                    </a:p>
                  </a:txBody>
                  <a:tcPr/>
                </a:tc>
                <a:extLst>
                  <a:ext uri="{0D108BD9-81ED-4DB2-BD59-A6C34878D82A}">
                    <a16:rowId xmlns:a16="http://schemas.microsoft.com/office/drawing/2014/main" val="2075568490"/>
                  </a:ext>
                </a:extLst>
              </a:tr>
            </a:tbl>
          </a:graphicData>
        </a:graphic>
      </p:graphicFrame>
      <p:graphicFrame>
        <p:nvGraphicFramePr>
          <p:cNvPr id="6" name="Table 6">
            <a:extLst>
              <a:ext uri="{FF2B5EF4-FFF2-40B4-BE49-F238E27FC236}">
                <a16:creationId xmlns:a16="http://schemas.microsoft.com/office/drawing/2014/main" id="{73ED6A3B-CF7E-6DB9-8BED-365185734DF5}"/>
              </a:ext>
            </a:extLst>
          </p:cNvPr>
          <p:cNvGraphicFramePr>
            <a:graphicFrameLocks noGrp="1"/>
          </p:cNvGraphicFramePr>
          <p:nvPr>
            <p:extLst>
              <p:ext uri="{D42A27DB-BD31-4B8C-83A1-F6EECF244321}">
                <p14:modId xmlns:p14="http://schemas.microsoft.com/office/powerpoint/2010/main" val="3058657080"/>
              </p:ext>
            </p:extLst>
          </p:nvPr>
        </p:nvGraphicFramePr>
        <p:xfrm>
          <a:off x="2734405" y="4162415"/>
          <a:ext cx="6733518" cy="1369773"/>
        </p:xfrm>
        <a:graphic>
          <a:graphicData uri="http://schemas.openxmlformats.org/drawingml/2006/table">
            <a:tbl>
              <a:tblPr firstRow="1" bandRow="1">
                <a:tableStyleId>{5C22544A-7EE6-4342-B048-85BDC9FD1C3A}</a:tableStyleId>
              </a:tblPr>
              <a:tblGrid>
                <a:gridCol w="3366759">
                  <a:extLst>
                    <a:ext uri="{9D8B030D-6E8A-4147-A177-3AD203B41FA5}">
                      <a16:colId xmlns:a16="http://schemas.microsoft.com/office/drawing/2014/main" val="3972299544"/>
                    </a:ext>
                  </a:extLst>
                </a:gridCol>
                <a:gridCol w="3366759">
                  <a:extLst>
                    <a:ext uri="{9D8B030D-6E8A-4147-A177-3AD203B41FA5}">
                      <a16:colId xmlns:a16="http://schemas.microsoft.com/office/drawing/2014/main" val="2707732998"/>
                    </a:ext>
                  </a:extLst>
                </a:gridCol>
              </a:tblGrid>
              <a:tr h="456591">
                <a:tc>
                  <a:txBody>
                    <a:bodyPr/>
                    <a:lstStyle/>
                    <a:p>
                      <a:r>
                        <a:rPr lang="en-GB" dirty="0" err="1"/>
                        <a:t>Pt_id</a:t>
                      </a:r>
                    </a:p>
                  </a:txBody>
                  <a:tcPr/>
                </a:tc>
                <a:tc>
                  <a:txBody>
                    <a:bodyPr/>
                    <a:lstStyle/>
                    <a:p>
                      <a:r>
                        <a:rPr lang="en-GB" dirty="0" err="1"/>
                        <a:t>Pt_name</a:t>
                      </a:r>
                    </a:p>
                  </a:txBody>
                  <a:tcPr/>
                </a:tc>
                <a:extLst>
                  <a:ext uri="{0D108BD9-81ED-4DB2-BD59-A6C34878D82A}">
                    <a16:rowId xmlns:a16="http://schemas.microsoft.com/office/drawing/2014/main" val="689398158"/>
                  </a:ext>
                </a:extLst>
              </a:tr>
              <a:tr h="456591">
                <a:tc>
                  <a:txBody>
                    <a:bodyPr/>
                    <a:lstStyle/>
                    <a:p>
                      <a:r>
                        <a:rPr lang="en-GB" dirty="0"/>
                        <a:t>1</a:t>
                      </a:r>
                    </a:p>
                  </a:txBody>
                  <a:tcPr/>
                </a:tc>
                <a:tc>
                  <a:txBody>
                    <a:bodyPr/>
                    <a:lstStyle/>
                    <a:p>
                      <a:r>
                        <a:rPr lang="en-GB" dirty="0"/>
                        <a:t>Ebonite Rod</a:t>
                      </a:r>
                    </a:p>
                  </a:txBody>
                  <a:tcPr/>
                </a:tc>
                <a:extLst>
                  <a:ext uri="{0D108BD9-81ED-4DB2-BD59-A6C34878D82A}">
                    <a16:rowId xmlns:a16="http://schemas.microsoft.com/office/drawing/2014/main" val="3575907826"/>
                  </a:ext>
                </a:extLst>
              </a:tr>
              <a:tr h="456591">
                <a:tc>
                  <a:txBody>
                    <a:bodyPr/>
                    <a:lstStyle/>
                    <a:p>
                      <a:r>
                        <a:rPr lang="en-GB" dirty="0"/>
                        <a:t>2</a:t>
                      </a:r>
                    </a:p>
                  </a:txBody>
                  <a:tcPr/>
                </a:tc>
                <a:tc>
                  <a:txBody>
                    <a:bodyPr/>
                    <a:lstStyle/>
                    <a:p>
                      <a:r>
                        <a:rPr lang="en-GB" dirty="0"/>
                        <a:t>Rubber Pipe</a:t>
                      </a:r>
                    </a:p>
                  </a:txBody>
                  <a:tcPr/>
                </a:tc>
                <a:extLst>
                  <a:ext uri="{0D108BD9-81ED-4DB2-BD59-A6C34878D82A}">
                    <a16:rowId xmlns:a16="http://schemas.microsoft.com/office/drawing/2014/main" val="192211121"/>
                  </a:ext>
                </a:extLst>
              </a:tr>
            </a:tbl>
          </a:graphicData>
        </a:graphic>
      </p:graphicFrame>
      <p:sp>
        <p:nvSpPr>
          <p:cNvPr id="3" name="TextBox 2">
            <a:extLst>
              <a:ext uri="{FF2B5EF4-FFF2-40B4-BE49-F238E27FC236}">
                <a16:creationId xmlns:a16="http://schemas.microsoft.com/office/drawing/2014/main" id="{0BB13F6A-B25A-FE00-C153-16DC948B0DCD}"/>
              </a:ext>
            </a:extLst>
          </p:cNvPr>
          <p:cNvSpPr txBox="1"/>
          <p:nvPr/>
        </p:nvSpPr>
        <p:spPr>
          <a:xfrm>
            <a:off x="1585415" y="1357952"/>
            <a:ext cx="44150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8.Product Type Table: -</a:t>
            </a:r>
          </a:p>
          <a:p>
            <a:r>
              <a:rPr lang="en-US" sz="1600" b="1" dirty="0">
                <a:latin typeface="Arial"/>
                <a:cs typeface="Arial"/>
              </a:rPr>
              <a:t>Primary Key: - </a:t>
            </a:r>
            <a:r>
              <a:rPr lang="en-US" sz="1600" b="1" dirty="0" err="1">
                <a:latin typeface="Arial"/>
                <a:cs typeface="Arial"/>
              </a:rPr>
              <a:t>Pt_id</a:t>
            </a:r>
            <a:endParaRPr lang="en-US" sz="1600" b="1">
              <a:latin typeface="Arial"/>
              <a:cs typeface="Arial"/>
            </a:endParaRPr>
          </a:p>
          <a:p>
            <a:r>
              <a:rPr lang="en-US" sz="1600" b="1" dirty="0">
                <a:latin typeface="Arial"/>
                <a:cs typeface="Arial"/>
              </a:rPr>
              <a:t>Description: - It Stores Product Type Detail</a:t>
            </a:r>
          </a:p>
        </p:txBody>
      </p:sp>
    </p:spTree>
    <p:extLst>
      <p:ext uri="{BB962C8B-B14F-4D97-AF65-F5344CB8AC3E}">
        <p14:creationId xmlns:p14="http://schemas.microsoft.com/office/powerpoint/2010/main" val="3414623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1F003-8467-061A-1219-822B27E7A679}"/>
              </a:ext>
            </a:extLst>
          </p:cNvPr>
          <p:cNvSpPr>
            <a:spLocks noGrp="1"/>
          </p:cNvSpPr>
          <p:nvPr>
            <p:ph type="title"/>
          </p:nvPr>
        </p:nvSpPr>
        <p:spPr>
          <a:xfrm>
            <a:off x="4313" y="5691"/>
            <a:ext cx="3657600" cy="879865"/>
          </a:xfrm>
        </p:spPr>
        <p:txBody>
          <a:bodyPr/>
          <a:lstStyle/>
          <a:p>
            <a:pPr marL="342900" indent="-342900">
              <a:buFont typeface="Wingdings"/>
              <a:buChar char="Ø"/>
            </a:pPr>
            <a:r>
              <a:rPr lang="en-GB" sz="2400" b="1" dirty="0">
                <a:ea typeface="Calibri Light" panose="020F0302020204030204"/>
                <a:cs typeface="Calibri Light" panose="020F0302020204030204"/>
              </a:rPr>
              <a:t>Unit Table Example:-</a:t>
            </a:r>
          </a:p>
        </p:txBody>
      </p:sp>
      <p:graphicFrame>
        <p:nvGraphicFramePr>
          <p:cNvPr id="3" name="Table 3">
            <a:extLst>
              <a:ext uri="{FF2B5EF4-FFF2-40B4-BE49-F238E27FC236}">
                <a16:creationId xmlns:a16="http://schemas.microsoft.com/office/drawing/2014/main" id="{628122B3-526B-2F7E-80F8-5AEE11F27608}"/>
              </a:ext>
            </a:extLst>
          </p:cNvPr>
          <p:cNvGraphicFramePr>
            <a:graphicFrameLocks noGrp="1"/>
          </p:cNvGraphicFramePr>
          <p:nvPr>
            <p:extLst>
              <p:ext uri="{D42A27DB-BD31-4B8C-83A1-F6EECF244321}">
                <p14:modId xmlns:p14="http://schemas.microsoft.com/office/powerpoint/2010/main" val="680959530"/>
              </p:ext>
            </p:extLst>
          </p:nvPr>
        </p:nvGraphicFramePr>
        <p:xfrm>
          <a:off x="1963827" y="1836085"/>
          <a:ext cx="8968830" cy="1680963"/>
        </p:xfrm>
        <a:graphic>
          <a:graphicData uri="http://schemas.openxmlformats.org/drawingml/2006/table">
            <a:tbl>
              <a:tblPr firstRow="1" bandRow="1">
                <a:tableStyleId>{5C22544A-7EE6-4342-B048-85BDC9FD1C3A}</a:tableStyleId>
              </a:tblPr>
              <a:tblGrid>
                <a:gridCol w="1793766">
                  <a:extLst>
                    <a:ext uri="{9D8B030D-6E8A-4147-A177-3AD203B41FA5}">
                      <a16:colId xmlns:a16="http://schemas.microsoft.com/office/drawing/2014/main" val="993718275"/>
                    </a:ext>
                  </a:extLst>
                </a:gridCol>
                <a:gridCol w="1793766">
                  <a:extLst>
                    <a:ext uri="{9D8B030D-6E8A-4147-A177-3AD203B41FA5}">
                      <a16:colId xmlns:a16="http://schemas.microsoft.com/office/drawing/2014/main" val="190117787"/>
                    </a:ext>
                  </a:extLst>
                </a:gridCol>
                <a:gridCol w="1793766">
                  <a:extLst>
                    <a:ext uri="{9D8B030D-6E8A-4147-A177-3AD203B41FA5}">
                      <a16:colId xmlns:a16="http://schemas.microsoft.com/office/drawing/2014/main" val="1913831629"/>
                    </a:ext>
                  </a:extLst>
                </a:gridCol>
                <a:gridCol w="1793766">
                  <a:extLst>
                    <a:ext uri="{9D8B030D-6E8A-4147-A177-3AD203B41FA5}">
                      <a16:colId xmlns:a16="http://schemas.microsoft.com/office/drawing/2014/main" val="302589152"/>
                    </a:ext>
                  </a:extLst>
                </a:gridCol>
                <a:gridCol w="1793766">
                  <a:extLst>
                    <a:ext uri="{9D8B030D-6E8A-4147-A177-3AD203B41FA5}">
                      <a16:colId xmlns:a16="http://schemas.microsoft.com/office/drawing/2014/main" val="3123616376"/>
                    </a:ext>
                  </a:extLst>
                </a:gridCol>
              </a:tblGrid>
              <a:tr h="560321">
                <a:tc>
                  <a:txBody>
                    <a:bodyPr/>
                    <a:lstStyle/>
                    <a:p>
                      <a:pPr lvl="0" algn="ctr">
                        <a:buNone/>
                      </a:pPr>
                      <a:r>
                        <a:rPr lang="en-GB"/>
                        <a:t>Fieldname</a:t>
                      </a:r>
                      <a:endParaRPr lang="en-US"/>
                    </a:p>
                  </a:txBody>
                  <a:tcPr/>
                </a:tc>
                <a:tc>
                  <a:txBody>
                    <a:bodyPr/>
                    <a:lstStyle/>
                    <a:p>
                      <a:pPr lvl="0" algn="ctr">
                        <a:buNone/>
                      </a:pPr>
                      <a:r>
                        <a:rPr lang="en-GB"/>
                        <a:t>Datatype</a:t>
                      </a:r>
                      <a:endParaRPr lang="en-US"/>
                    </a:p>
                  </a:txBody>
                  <a:tcPr/>
                </a:tc>
                <a:tc>
                  <a:txBody>
                    <a:bodyPr/>
                    <a:lstStyle/>
                    <a:p>
                      <a:pPr lvl="0" algn="ctr">
                        <a:buNone/>
                      </a:pPr>
                      <a:r>
                        <a:rPr lang="en-GB"/>
                        <a:t>Size</a:t>
                      </a:r>
                      <a:endParaRPr lang="en-US"/>
                    </a:p>
                  </a:txBody>
                  <a:tcPr/>
                </a:tc>
                <a:tc>
                  <a:txBody>
                    <a:bodyPr/>
                    <a:lstStyle/>
                    <a:p>
                      <a:pPr lvl="0" algn="ctr">
                        <a:buNone/>
                      </a:pPr>
                      <a:r>
                        <a:rPr lang="en-GB"/>
                        <a:t>Constraint</a:t>
                      </a:r>
                      <a:endParaRPr lang="en-US"/>
                    </a:p>
                  </a:txBody>
                  <a:tcPr/>
                </a:tc>
                <a:tc>
                  <a:txBody>
                    <a:bodyPr/>
                    <a:lstStyle/>
                    <a:p>
                      <a:pPr lvl="0" algn="ctr">
                        <a:buNone/>
                      </a:pPr>
                      <a:r>
                        <a:rPr lang="en-GB"/>
                        <a:t>Description</a:t>
                      </a:r>
                      <a:endParaRPr lang="en-US"/>
                    </a:p>
                  </a:txBody>
                  <a:tcPr/>
                </a:tc>
                <a:extLst>
                  <a:ext uri="{0D108BD9-81ED-4DB2-BD59-A6C34878D82A}">
                    <a16:rowId xmlns:a16="http://schemas.microsoft.com/office/drawing/2014/main" val="2629960622"/>
                  </a:ext>
                </a:extLst>
              </a:tr>
              <a:tr h="560321">
                <a:tc>
                  <a:txBody>
                    <a:bodyPr/>
                    <a:lstStyle/>
                    <a:p>
                      <a:pPr algn="ctr"/>
                      <a:r>
                        <a:rPr lang="en-GB" err="1"/>
                        <a:t>Unit_id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Unit Id</a:t>
                      </a:r>
                    </a:p>
                  </a:txBody>
                  <a:tcPr/>
                </a:tc>
                <a:extLst>
                  <a:ext uri="{0D108BD9-81ED-4DB2-BD59-A6C34878D82A}">
                    <a16:rowId xmlns:a16="http://schemas.microsoft.com/office/drawing/2014/main" val="3482526783"/>
                  </a:ext>
                </a:extLst>
              </a:tr>
              <a:tr h="560321">
                <a:tc>
                  <a:txBody>
                    <a:bodyPr/>
                    <a:lstStyle/>
                    <a:p>
                      <a:pPr algn="ctr"/>
                      <a:r>
                        <a:rPr lang="en-GB" err="1"/>
                        <a:t>Unit_name</a:t>
                      </a:r>
                    </a:p>
                  </a:txBody>
                  <a:tcPr/>
                </a:tc>
                <a:tc>
                  <a:txBody>
                    <a:bodyPr/>
                    <a:lstStyle/>
                    <a:p>
                      <a:pPr algn="ctr"/>
                      <a:r>
                        <a:rPr lang="en-GB"/>
                        <a:t>varchar</a:t>
                      </a:r>
                    </a:p>
                  </a:txBody>
                  <a:tcPr/>
                </a:tc>
                <a:tc>
                  <a:txBody>
                    <a:bodyPr/>
                    <a:lstStyle/>
                    <a:p>
                      <a:pPr algn="ctr"/>
                      <a:r>
                        <a:rPr lang="en-GB"/>
                        <a:t>30</a:t>
                      </a:r>
                    </a:p>
                  </a:txBody>
                  <a:tcPr/>
                </a:tc>
                <a:tc>
                  <a:txBody>
                    <a:bodyPr/>
                    <a:lstStyle/>
                    <a:p>
                      <a:pPr algn="ctr"/>
                      <a:r>
                        <a:rPr lang="en-GB"/>
                        <a:t>Not null</a:t>
                      </a:r>
                    </a:p>
                  </a:txBody>
                  <a:tcPr/>
                </a:tc>
                <a:tc>
                  <a:txBody>
                    <a:bodyPr/>
                    <a:lstStyle/>
                    <a:p>
                      <a:pPr algn="ctr"/>
                      <a:r>
                        <a:rPr lang="en-GB"/>
                        <a:t>Store unit name</a:t>
                      </a:r>
                    </a:p>
                  </a:txBody>
                  <a:tcPr/>
                </a:tc>
                <a:extLst>
                  <a:ext uri="{0D108BD9-81ED-4DB2-BD59-A6C34878D82A}">
                    <a16:rowId xmlns:a16="http://schemas.microsoft.com/office/drawing/2014/main" val="871673213"/>
                  </a:ext>
                </a:extLst>
              </a:tr>
            </a:tbl>
          </a:graphicData>
        </a:graphic>
      </p:graphicFrame>
      <p:graphicFrame>
        <p:nvGraphicFramePr>
          <p:cNvPr id="4" name="Table 4">
            <a:extLst>
              <a:ext uri="{FF2B5EF4-FFF2-40B4-BE49-F238E27FC236}">
                <a16:creationId xmlns:a16="http://schemas.microsoft.com/office/drawing/2014/main" id="{75098C43-D892-2CF8-FE91-39C1C4CFD5D5}"/>
              </a:ext>
            </a:extLst>
          </p:cNvPr>
          <p:cNvGraphicFramePr>
            <a:graphicFrameLocks noGrp="1"/>
          </p:cNvGraphicFramePr>
          <p:nvPr>
            <p:extLst>
              <p:ext uri="{D42A27DB-BD31-4B8C-83A1-F6EECF244321}">
                <p14:modId xmlns:p14="http://schemas.microsoft.com/office/powerpoint/2010/main" val="2354309050"/>
              </p:ext>
            </p:extLst>
          </p:nvPr>
        </p:nvGraphicFramePr>
        <p:xfrm>
          <a:off x="3246922" y="3970940"/>
          <a:ext cx="5981700" cy="1483360"/>
        </p:xfrm>
        <a:graphic>
          <a:graphicData uri="http://schemas.openxmlformats.org/drawingml/2006/table">
            <a:tbl>
              <a:tblPr firstRow="1" bandRow="1">
                <a:tableStyleId>{5C22544A-7EE6-4342-B048-85BDC9FD1C3A}</a:tableStyleId>
              </a:tblPr>
              <a:tblGrid>
                <a:gridCol w="2952750">
                  <a:extLst>
                    <a:ext uri="{9D8B030D-6E8A-4147-A177-3AD203B41FA5}">
                      <a16:colId xmlns:a16="http://schemas.microsoft.com/office/drawing/2014/main" val="4101057227"/>
                    </a:ext>
                  </a:extLst>
                </a:gridCol>
                <a:gridCol w="3028950">
                  <a:extLst>
                    <a:ext uri="{9D8B030D-6E8A-4147-A177-3AD203B41FA5}">
                      <a16:colId xmlns:a16="http://schemas.microsoft.com/office/drawing/2014/main" val="4048802873"/>
                    </a:ext>
                  </a:extLst>
                </a:gridCol>
              </a:tblGrid>
              <a:tr h="370840">
                <a:tc>
                  <a:txBody>
                    <a:bodyPr/>
                    <a:lstStyle/>
                    <a:p>
                      <a:pPr algn="ctr"/>
                      <a:r>
                        <a:rPr lang="en-GB" err="1"/>
                        <a:t>U_id</a:t>
                      </a:r>
                    </a:p>
                  </a:txBody>
                  <a:tcPr/>
                </a:tc>
                <a:tc>
                  <a:txBody>
                    <a:bodyPr/>
                    <a:lstStyle/>
                    <a:p>
                      <a:pPr algn="ctr"/>
                      <a:r>
                        <a:rPr lang="en-GB" err="1"/>
                        <a:t>U_name</a:t>
                      </a:r>
                    </a:p>
                  </a:txBody>
                  <a:tcPr/>
                </a:tc>
                <a:extLst>
                  <a:ext uri="{0D108BD9-81ED-4DB2-BD59-A6C34878D82A}">
                    <a16:rowId xmlns:a16="http://schemas.microsoft.com/office/drawing/2014/main" val="3964246369"/>
                  </a:ext>
                </a:extLst>
              </a:tr>
              <a:tr h="370840">
                <a:tc>
                  <a:txBody>
                    <a:bodyPr/>
                    <a:lstStyle/>
                    <a:p>
                      <a:pPr algn="ctr"/>
                      <a:r>
                        <a:rPr lang="en-GB"/>
                        <a:t>1</a:t>
                      </a:r>
                    </a:p>
                  </a:txBody>
                  <a:tcPr/>
                </a:tc>
                <a:tc>
                  <a:txBody>
                    <a:bodyPr/>
                    <a:lstStyle/>
                    <a:p>
                      <a:pPr algn="ctr"/>
                      <a:r>
                        <a:rPr lang="en-GB"/>
                        <a:t>mm</a:t>
                      </a:r>
                    </a:p>
                  </a:txBody>
                  <a:tcPr/>
                </a:tc>
                <a:extLst>
                  <a:ext uri="{0D108BD9-81ED-4DB2-BD59-A6C34878D82A}">
                    <a16:rowId xmlns:a16="http://schemas.microsoft.com/office/drawing/2014/main" val="2052358719"/>
                  </a:ext>
                </a:extLst>
              </a:tr>
              <a:tr h="370840">
                <a:tc>
                  <a:txBody>
                    <a:bodyPr/>
                    <a:lstStyle/>
                    <a:p>
                      <a:pPr algn="ctr"/>
                      <a:r>
                        <a:rPr lang="en-GB"/>
                        <a:t>2</a:t>
                      </a:r>
                    </a:p>
                  </a:txBody>
                  <a:tcPr/>
                </a:tc>
                <a:tc>
                  <a:txBody>
                    <a:bodyPr/>
                    <a:lstStyle/>
                    <a:p>
                      <a:pPr algn="ctr"/>
                      <a:r>
                        <a:rPr lang="en-GB"/>
                        <a:t>inch</a:t>
                      </a:r>
                    </a:p>
                  </a:txBody>
                  <a:tcPr/>
                </a:tc>
                <a:extLst>
                  <a:ext uri="{0D108BD9-81ED-4DB2-BD59-A6C34878D82A}">
                    <a16:rowId xmlns:a16="http://schemas.microsoft.com/office/drawing/2014/main" val="990960135"/>
                  </a:ext>
                </a:extLst>
              </a:tr>
              <a:tr h="370840">
                <a:tc>
                  <a:txBody>
                    <a:bodyPr/>
                    <a:lstStyle/>
                    <a:p>
                      <a:pPr algn="ctr"/>
                      <a:r>
                        <a:rPr lang="en-GB"/>
                        <a:t>3</a:t>
                      </a:r>
                    </a:p>
                  </a:txBody>
                  <a:tcPr/>
                </a:tc>
                <a:tc>
                  <a:txBody>
                    <a:bodyPr/>
                    <a:lstStyle/>
                    <a:p>
                      <a:pPr algn="ctr"/>
                      <a:r>
                        <a:rPr lang="en-GB"/>
                        <a:t>feet</a:t>
                      </a:r>
                    </a:p>
                  </a:txBody>
                  <a:tcPr/>
                </a:tc>
                <a:extLst>
                  <a:ext uri="{0D108BD9-81ED-4DB2-BD59-A6C34878D82A}">
                    <a16:rowId xmlns:a16="http://schemas.microsoft.com/office/drawing/2014/main" val="132281762"/>
                  </a:ext>
                </a:extLst>
              </a:tr>
            </a:tbl>
          </a:graphicData>
        </a:graphic>
      </p:graphicFrame>
      <p:sp>
        <p:nvSpPr>
          <p:cNvPr id="5" name="TextBox 4">
            <a:extLst>
              <a:ext uri="{FF2B5EF4-FFF2-40B4-BE49-F238E27FC236}">
                <a16:creationId xmlns:a16="http://schemas.microsoft.com/office/drawing/2014/main" id="{7BA6C97C-1D26-9E3F-1BBF-6F90453A948C}"/>
              </a:ext>
            </a:extLst>
          </p:cNvPr>
          <p:cNvSpPr txBox="1"/>
          <p:nvPr/>
        </p:nvSpPr>
        <p:spPr>
          <a:xfrm>
            <a:off x="1892490" y="994012"/>
            <a:ext cx="36530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9.UnitTable: -</a:t>
            </a:r>
          </a:p>
          <a:p>
            <a:r>
              <a:rPr lang="en-US" sz="1600" b="1">
                <a:latin typeface="Arial"/>
                <a:cs typeface="Arial"/>
              </a:rPr>
              <a:t>Primary Key: - Unit_id</a:t>
            </a:r>
          </a:p>
          <a:p>
            <a:r>
              <a:rPr lang="en-US" sz="1600" b="1">
                <a:latin typeface="Arial"/>
                <a:cs typeface="Arial"/>
              </a:rPr>
              <a:t>Description: - It Stores Unit Details</a:t>
            </a:r>
          </a:p>
        </p:txBody>
      </p:sp>
    </p:spTree>
    <p:extLst>
      <p:ext uri="{BB962C8B-B14F-4D97-AF65-F5344CB8AC3E}">
        <p14:creationId xmlns:p14="http://schemas.microsoft.com/office/powerpoint/2010/main" val="1255226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043B2-A7EC-974A-4742-7FE81FA72A28}"/>
              </a:ext>
            </a:extLst>
          </p:cNvPr>
          <p:cNvSpPr>
            <a:spLocks noGrp="1"/>
          </p:cNvSpPr>
          <p:nvPr>
            <p:ph type="title"/>
          </p:nvPr>
        </p:nvSpPr>
        <p:spPr>
          <a:xfrm>
            <a:off x="4313" y="5691"/>
            <a:ext cx="4146431" cy="851110"/>
          </a:xfrm>
        </p:spPr>
        <p:txBody>
          <a:bodyPr/>
          <a:lstStyle/>
          <a:p>
            <a:pPr marL="342900" indent="-342900">
              <a:buFont typeface="Wingdings"/>
              <a:buChar char="Ø"/>
            </a:pPr>
            <a:r>
              <a:rPr lang="en-GB" sz="2400" b="1">
                <a:ea typeface="Calibri Light" panose="020F0302020204030204"/>
                <a:cs typeface="Calibri Light" panose="020F0302020204030204"/>
              </a:rPr>
              <a:t>Product :- </a:t>
            </a:r>
          </a:p>
        </p:txBody>
      </p:sp>
      <p:graphicFrame>
        <p:nvGraphicFramePr>
          <p:cNvPr id="3" name="Table 3">
            <a:extLst>
              <a:ext uri="{FF2B5EF4-FFF2-40B4-BE49-F238E27FC236}">
                <a16:creationId xmlns:a16="http://schemas.microsoft.com/office/drawing/2014/main" id="{C59B33DD-C83F-4B31-B12F-81CEA09FB2AC}"/>
              </a:ext>
            </a:extLst>
          </p:cNvPr>
          <p:cNvGraphicFramePr>
            <a:graphicFrameLocks noGrp="1"/>
          </p:cNvGraphicFramePr>
          <p:nvPr>
            <p:extLst>
              <p:ext uri="{D42A27DB-BD31-4B8C-83A1-F6EECF244321}">
                <p14:modId xmlns:p14="http://schemas.microsoft.com/office/powerpoint/2010/main" val="2382938844"/>
              </p:ext>
            </p:extLst>
          </p:nvPr>
        </p:nvGraphicFramePr>
        <p:xfrm>
          <a:off x="689322" y="1745292"/>
          <a:ext cx="10924385" cy="4450074"/>
        </p:xfrm>
        <a:graphic>
          <a:graphicData uri="http://schemas.openxmlformats.org/drawingml/2006/table">
            <a:tbl>
              <a:tblPr firstRow="1" bandRow="1">
                <a:tableStyleId>{5C22544A-7EE6-4342-B048-85BDC9FD1C3A}</a:tableStyleId>
              </a:tblPr>
              <a:tblGrid>
                <a:gridCol w="2152650">
                  <a:extLst>
                    <a:ext uri="{9D8B030D-6E8A-4147-A177-3AD203B41FA5}">
                      <a16:colId xmlns:a16="http://schemas.microsoft.com/office/drawing/2014/main" val="1050776543"/>
                    </a:ext>
                  </a:extLst>
                </a:gridCol>
                <a:gridCol w="2125268">
                  <a:extLst>
                    <a:ext uri="{9D8B030D-6E8A-4147-A177-3AD203B41FA5}">
                      <a16:colId xmlns:a16="http://schemas.microsoft.com/office/drawing/2014/main" val="3547016644"/>
                    </a:ext>
                  </a:extLst>
                </a:gridCol>
                <a:gridCol w="2125268">
                  <a:extLst>
                    <a:ext uri="{9D8B030D-6E8A-4147-A177-3AD203B41FA5}">
                      <a16:colId xmlns:a16="http://schemas.microsoft.com/office/drawing/2014/main" val="3868394228"/>
                    </a:ext>
                  </a:extLst>
                </a:gridCol>
                <a:gridCol w="1828800">
                  <a:extLst>
                    <a:ext uri="{9D8B030D-6E8A-4147-A177-3AD203B41FA5}">
                      <a16:colId xmlns:a16="http://schemas.microsoft.com/office/drawing/2014/main" val="3207317614"/>
                    </a:ext>
                  </a:extLst>
                </a:gridCol>
                <a:gridCol w="2692399">
                  <a:extLst>
                    <a:ext uri="{9D8B030D-6E8A-4147-A177-3AD203B41FA5}">
                      <a16:colId xmlns:a16="http://schemas.microsoft.com/office/drawing/2014/main" val="3886122550"/>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1743299423"/>
                  </a:ext>
                </a:extLst>
              </a:tr>
              <a:tr h="370840">
                <a:tc>
                  <a:txBody>
                    <a:bodyPr/>
                    <a:lstStyle/>
                    <a:p>
                      <a:pPr algn="ctr"/>
                      <a:r>
                        <a:rPr lang="en-GB" err="1"/>
                        <a:t>P_id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product id</a:t>
                      </a:r>
                    </a:p>
                  </a:txBody>
                  <a:tcPr/>
                </a:tc>
                <a:extLst>
                  <a:ext uri="{0D108BD9-81ED-4DB2-BD59-A6C34878D82A}">
                    <a16:rowId xmlns:a16="http://schemas.microsoft.com/office/drawing/2014/main" val="882740273"/>
                  </a:ext>
                </a:extLst>
              </a:tr>
              <a:tr h="370840">
                <a:tc>
                  <a:txBody>
                    <a:bodyPr/>
                    <a:lstStyle/>
                    <a:p>
                      <a:pPr algn="ctr"/>
                      <a:r>
                        <a:rPr lang="en-GB" err="1"/>
                        <a:t>P_name</a:t>
                      </a:r>
                      <a:endParaRPr lang="en-GB" dirty="0" err="1"/>
                    </a:p>
                  </a:txBody>
                  <a:tcPr/>
                </a:tc>
                <a:tc>
                  <a:txBody>
                    <a:bodyPr/>
                    <a:lstStyle/>
                    <a:p>
                      <a:pPr algn="ctr"/>
                      <a:r>
                        <a:rPr lang="en-GB" dirty="0"/>
                        <a:t>varchar</a:t>
                      </a:r>
                    </a:p>
                  </a:txBody>
                  <a:tcPr/>
                </a:tc>
                <a:tc>
                  <a:txBody>
                    <a:bodyPr/>
                    <a:lstStyle/>
                    <a:p>
                      <a:pPr algn="ctr"/>
                      <a:r>
                        <a:rPr lang="en-GB" dirty="0"/>
                        <a:t>30</a:t>
                      </a:r>
                    </a:p>
                  </a:txBody>
                  <a:tcPr/>
                </a:tc>
                <a:tc>
                  <a:txBody>
                    <a:bodyPr/>
                    <a:lstStyle/>
                    <a:p>
                      <a:pPr algn="ctr"/>
                      <a:r>
                        <a:rPr lang="en-GB" dirty="0"/>
                        <a:t>Not Null</a:t>
                      </a:r>
                    </a:p>
                  </a:txBody>
                  <a:tcPr/>
                </a:tc>
                <a:tc>
                  <a:txBody>
                    <a:bodyPr/>
                    <a:lstStyle/>
                    <a:p>
                      <a:pPr algn="ctr"/>
                      <a:r>
                        <a:rPr lang="en-GB" dirty="0"/>
                        <a:t>Store product name </a:t>
                      </a:r>
                    </a:p>
                  </a:txBody>
                  <a:tcPr/>
                </a:tc>
                <a:extLst>
                  <a:ext uri="{0D108BD9-81ED-4DB2-BD59-A6C34878D82A}">
                    <a16:rowId xmlns:a16="http://schemas.microsoft.com/office/drawing/2014/main" val="2351357054"/>
                  </a:ext>
                </a:extLst>
              </a:tr>
              <a:tr h="370840">
                <a:tc>
                  <a:txBody>
                    <a:bodyPr/>
                    <a:lstStyle/>
                    <a:p>
                      <a:pPr algn="ctr"/>
                      <a:r>
                        <a:rPr lang="en-GB" err="1"/>
                        <a:t>P_type</a:t>
                      </a:r>
                      <a:endParaRPr lang="en-GB" dirty="0" err="1"/>
                    </a:p>
                  </a:txBody>
                  <a:tcPr/>
                </a:tc>
                <a:tc>
                  <a:txBody>
                    <a:bodyPr/>
                    <a:lstStyle/>
                    <a:p>
                      <a:pPr algn="ctr"/>
                      <a:r>
                        <a:rPr lang="en-GB" dirty="0"/>
                        <a:t>varchar</a:t>
                      </a:r>
                    </a:p>
                  </a:txBody>
                  <a:tcPr/>
                </a:tc>
                <a:tc>
                  <a:txBody>
                    <a:bodyPr/>
                    <a:lstStyle/>
                    <a:p>
                      <a:pPr algn="ctr"/>
                      <a:r>
                        <a:rPr lang="en-GB" dirty="0"/>
                        <a:t>30</a:t>
                      </a:r>
                    </a:p>
                  </a:txBody>
                  <a:tcPr/>
                </a:tc>
                <a:tc>
                  <a:txBody>
                    <a:bodyPr/>
                    <a:lstStyle/>
                    <a:p>
                      <a:pPr algn="ctr"/>
                      <a:r>
                        <a:rPr lang="en-GB" dirty="0"/>
                        <a:t>Not Null</a:t>
                      </a:r>
                    </a:p>
                  </a:txBody>
                  <a:tcPr/>
                </a:tc>
                <a:tc>
                  <a:txBody>
                    <a:bodyPr/>
                    <a:lstStyle/>
                    <a:p>
                      <a:pPr algn="ctr"/>
                      <a:r>
                        <a:rPr lang="en-GB" dirty="0"/>
                        <a:t>Store product type</a:t>
                      </a:r>
                    </a:p>
                  </a:txBody>
                  <a:tcPr/>
                </a:tc>
                <a:extLst>
                  <a:ext uri="{0D108BD9-81ED-4DB2-BD59-A6C34878D82A}">
                    <a16:rowId xmlns:a16="http://schemas.microsoft.com/office/drawing/2014/main" val="1387741640"/>
                  </a:ext>
                </a:extLst>
              </a:tr>
              <a:tr h="370840">
                <a:tc>
                  <a:txBody>
                    <a:bodyPr/>
                    <a:lstStyle/>
                    <a:p>
                      <a:pPr algn="ctr"/>
                      <a:r>
                        <a:rPr lang="en-GB" dirty="0"/>
                        <a:t>Gauge</a:t>
                      </a:r>
                    </a:p>
                  </a:txBody>
                  <a:tcPr/>
                </a:tc>
                <a:tc>
                  <a:txBody>
                    <a:bodyPr/>
                    <a:lstStyle/>
                    <a:p>
                      <a:pPr algn="ctr"/>
                      <a:r>
                        <a:rPr lang="en-GB" dirty="0"/>
                        <a:t>varchar</a:t>
                      </a:r>
                    </a:p>
                  </a:txBody>
                  <a:tcPr/>
                </a:tc>
                <a:tc>
                  <a:txBody>
                    <a:bodyPr/>
                    <a:lstStyle/>
                    <a:p>
                      <a:pPr algn="ctr"/>
                      <a:r>
                        <a:rPr lang="en-GB" dirty="0"/>
                        <a:t>5</a:t>
                      </a:r>
                    </a:p>
                  </a:txBody>
                  <a:tcPr/>
                </a:tc>
                <a:tc>
                  <a:txBody>
                    <a:bodyPr/>
                    <a:lstStyle/>
                    <a:p>
                      <a:pPr algn="ctr"/>
                      <a:endParaRPr lang="en-GB" dirty="0"/>
                    </a:p>
                  </a:txBody>
                  <a:tcPr/>
                </a:tc>
                <a:tc>
                  <a:txBody>
                    <a:bodyPr/>
                    <a:lstStyle/>
                    <a:p>
                      <a:pPr algn="ctr"/>
                      <a:r>
                        <a:rPr lang="en-GB" dirty="0"/>
                        <a:t>Store gage</a:t>
                      </a:r>
                    </a:p>
                  </a:txBody>
                  <a:tcPr/>
                </a:tc>
                <a:extLst>
                  <a:ext uri="{0D108BD9-81ED-4DB2-BD59-A6C34878D82A}">
                    <a16:rowId xmlns:a16="http://schemas.microsoft.com/office/drawing/2014/main" val="3863805385"/>
                  </a:ext>
                </a:extLst>
              </a:tr>
              <a:tr h="370839">
                <a:tc>
                  <a:txBody>
                    <a:bodyPr/>
                    <a:lstStyle/>
                    <a:p>
                      <a:pPr lvl="0" algn="ctr">
                        <a:buNone/>
                      </a:pPr>
                      <a:r>
                        <a:rPr lang="en-GB" dirty="0"/>
                        <a:t>Gauge </a:t>
                      </a:r>
                      <a:r>
                        <a:rPr lang="en-GB" dirty="0" err="1"/>
                        <a:t>U_id</a:t>
                      </a:r>
                      <a:endParaRPr lang="en-US" dirty="0" err="1"/>
                    </a:p>
                  </a:txBody>
                  <a:tcPr/>
                </a:tc>
                <a:tc>
                  <a:txBody>
                    <a:bodyPr/>
                    <a:lstStyle/>
                    <a:p>
                      <a:pPr lvl="0" algn="ctr">
                        <a:buNone/>
                      </a:pPr>
                      <a:r>
                        <a:rPr lang="en-GB" dirty="0"/>
                        <a:t>int</a:t>
                      </a:r>
                    </a:p>
                  </a:txBody>
                  <a:tcPr/>
                </a:tc>
                <a:tc>
                  <a:txBody>
                    <a:bodyPr/>
                    <a:lstStyle/>
                    <a:p>
                      <a:pPr lvl="0" algn="ctr">
                        <a:buNone/>
                      </a:pPr>
                      <a:r>
                        <a:rPr lang="en-GB" dirty="0"/>
                        <a:t>11</a:t>
                      </a:r>
                    </a:p>
                  </a:txBody>
                  <a:tcPr/>
                </a:tc>
                <a:tc>
                  <a:txBody>
                    <a:bodyPr/>
                    <a:lstStyle/>
                    <a:p>
                      <a:pPr lvl="0" algn="ctr">
                        <a:buNone/>
                      </a:pPr>
                      <a:r>
                        <a:rPr lang="en-GB" dirty="0"/>
                        <a:t>F.K</a:t>
                      </a:r>
                    </a:p>
                  </a:txBody>
                  <a:tcPr/>
                </a:tc>
                <a:tc>
                  <a:txBody>
                    <a:bodyPr/>
                    <a:lstStyle/>
                    <a:p>
                      <a:pPr lvl="0" algn="ctr">
                        <a:buNone/>
                      </a:pPr>
                      <a:r>
                        <a:rPr lang="en-GB" dirty="0"/>
                        <a:t>Store gage unit id</a:t>
                      </a:r>
                    </a:p>
                  </a:txBody>
                  <a:tcPr/>
                </a:tc>
                <a:extLst>
                  <a:ext uri="{0D108BD9-81ED-4DB2-BD59-A6C34878D82A}">
                    <a16:rowId xmlns:a16="http://schemas.microsoft.com/office/drawing/2014/main" val="3373601677"/>
                  </a:ext>
                </a:extLst>
              </a:tr>
              <a:tr h="370840">
                <a:tc>
                  <a:txBody>
                    <a:bodyPr/>
                    <a:lstStyle/>
                    <a:p>
                      <a:pPr lvl="0" algn="ctr">
                        <a:buNone/>
                      </a:pPr>
                      <a:r>
                        <a:rPr lang="en-GB" err="1"/>
                        <a:t>M_id</a:t>
                      </a:r>
                      <a:endParaRPr lang="en-US"/>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Material id </a:t>
                      </a:r>
                    </a:p>
                  </a:txBody>
                  <a:tcPr/>
                </a:tc>
                <a:extLst>
                  <a:ext uri="{0D108BD9-81ED-4DB2-BD59-A6C34878D82A}">
                    <a16:rowId xmlns:a16="http://schemas.microsoft.com/office/drawing/2014/main" val="2434104080"/>
                  </a:ext>
                </a:extLst>
              </a:tr>
              <a:tr h="370840">
                <a:tc>
                  <a:txBody>
                    <a:bodyPr/>
                    <a:lstStyle/>
                    <a:p>
                      <a:pPr lvl="0" algn="ctr">
                        <a:buNone/>
                      </a:pPr>
                      <a:r>
                        <a:rPr lang="en-GB" dirty="0"/>
                        <a:t>Diameter</a:t>
                      </a:r>
                      <a:endParaRPr lang="en-US" dirty="0"/>
                    </a:p>
                  </a:txBody>
                  <a:tcPr/>
                </a:tc>
                <a:tc>
                  <a:txBody>
                    <a:bodyPr/>
                    <a:lstStyle/>
                    <a:p>
                      <a:pPr algn="ctr"/>
                      <a:r>
                        <a:rPr lang="en-GB" dirty="0"/>
                        <a:t>varchar</a:t>
                      </a:r>
                    </a:p>
                  </a:txBody>
                  <a:tcPr/>
                </a:tc>
                <a:tc>
                  <a:txBody>
                    <a:bodyPr/>
                    <a:lstStyle/>
                    <a:p>
                      <a:pPr algn="ctr"/>
                      <a:r>
                        <a:rPr lang="en-GB" dirty="0"/>
                        <a:t>30</a:t>
                      </a:r>
                    </a:p>
                  </a:txBody>
                  <a:tcPr/>
                </a:tc>
                <a:tc>
                  <a:txBody>
                    <a:bodyPr/>
                    <a:lstStyle/>
                    <a:p>
                      <a:pPr algn="ctr"/>
                      <a:r>
                        <a:rPr lang="en-GB" dirty="0"/>
                        <a:t>Not Null</a:t>
                      </a:r>
                    </a:p>
                  </a:txBody>
                  <a:tcPr/>
                </a:tc>
                <a:tc>
                  <a:txBody>
                    <a:bodyPr/>
                    <a:lstStyle/>
                    <a:p>
                      <a:pPr algn="ctr"/>
                      <a:r>
                        <a:rPr lang="en-GB" dirty="0"/>
                        <a:t>Store Diameter</a:t>
                      </a:r>
                    </a:p>
                  </a:txBody>
                  <a:tcPr/>
                </a:tc>
                <a:extLst>
                  <a:ext uri="{0D108BD9-81ED-4DB2-BD59-A6C34878D82A}">
                    <a16:rowId xmlns:a16="http://schemas.microsoft.com/office/drawing/2014/main" val="1485332011"/>
                  </a:ext>
                </a:extLst>
              </a:tr>
              <a:tr h="370840">
                <a:tc>
                  <a:txBody>
                    <a:bodyPr/>
                    <a:lstStyle/>
                    <a:p>
                      <a:pPr algn="ctr"/>
                      <a:r>
                        <a:rPr lang="en-GB" dirty="0"/>
                        <a:t>Diameter </a:t>
                      </a:r>
                      <a:r>
                        <a:rPr lang="en-GB" dirty="0" err="1"/>
                        <a:t>U_id</a:t>
                      </a:r>
                    </a:p>
                  </a:txBody>
                  <a:tcPr/>
                </a:tc>
                <a:tc>
                  <a:txBody>
                    <a:bodyPr/>
                    <a:lstStyle/>
                    <a:p>
                      <a:pPr algn="ctr"/>
                      <a:r>
                        <a:rPr lang="en-GB" dirty="0"/>
                        <a:t>int</a:t>
                      </a:r>
                    </a:p>
                  </a:txBody>
                  <a:tcPr/>
                </a:tc>
                <a:tc>
                  <a:txBody>
                    <a:bodyPr/>
                    <a:lstStyle/>
                    <a:p>
                      <a:pPr algn="ctr"/>
                      <a:r>
                        <a:rPr lang="en-GB" dirty="0"/>
                        <a:t>5</a:t>
                      </a:r>
                    </a:p>
                  </a:txBody>
                  <a:tcPr/>
                </a:tc>
                <a:tc>
                  <a:txBody>
                    <a:bodyPr/>
                    <a:lstStyle/>
                    <a:p>
                      <a:pPr algn="ctr"/>
                      <a:r>
                        <a:rPr lang="en-GB" dirty="0"/>
                        <a:t>F.K</a:t>
                      </a:r>
                    </a:p>
                  </a:txBody>
                  <a:tcPr/>
                </a:tc>
                <a:tc>
                  <a:txBody>
                    <a:bodyPr/>
                    <a:lstStyle/>
                    <a:p>
                      <a:pPr algn="ctr"/>
                      <a:r>
                        <a:rPr lang="en-GB" dirty="0"/>
                        <a:t>Store Diameter Unit id</a:t>
                      </a:r>
                    </a:p>
                  </a:txBody>
                  <a:tcPr/>
                </a:tc>
                <a:extLst>
                  <a:ext uri="{0D108BD9-81ED-4DB2-BD59-A6C34878D82A}">
                    <a16:rowId xmlns:a16="http://schemas.microsoft.com/office/drawing/2014/main" val="2467448133"/>
                  </a:ext>
                </a:extLst>
              </a:tr>
              <a:tr h="370839">
                <a:tc>
                  <a:txBody>
                    <a:bodyPr/>
                    <a:lstStyle/>
                    <a:p>
                      <a:pPr lvl="0" algn="ctr">
                        <a:buNone/>
                      </a:pPr>
                      <a:r>
                        <a:rPr lang="en-GB" dirty="0"/>
                        <a:t>Rate Per mm</a:t>
                      </a:r>
                    </a:p>
                  </a:txBody>
                  <a:tcPr/>
                </a:tc>
                <a:tc>
                  <a:txBody>
                    <a:bodyPr/>
                    <a:lstStyle/>
                    <a:p>
                      <a:pPr lvl="0" algn="ctr">
                        <a:buNone/>
                      </a:pPr>
                      <a:r>
                        <a:rPr lang="en-GB" dirty="0"/>
                        <a:t>varchar</a:t>
                      </a:r>
                    </a:p>
                  </a:txBody>
                  <a:tcPr/>
                </a:tc>
                <a:tc>
                  <a:txBody>
                    <a:bodyPr/>
                    <a:lstStyle/>
                    <a:p>
                      <a:pPr lvl="0" algn="ctr">
                        <a:buNone/>
                      </a:pPr>
                      <a:r>
                        <a:rPr lang="en-GB" dirty="0"/>
                        <a:t>30</a:t>
                      </a:r>
                    </a:p>
                  </a:txBody>
                  <a:tcPr/>
                </a:tc>
                <a:tc>
                  <a:txBody>
                    <a:bodyPr/>
                    <a:lstStyle/>
                    <a:p>
                      <a:pPr lvl="0" algn="ctr">
                        <a:buNone/>
                      </a:pPr>
                      <a:r>
                        <a:rPr lang="en-GB" dirty="0"/>
                        <a:t>Not Null</a:t>
                      </a:r>
                    </a:p>
                  </a:txBody>
                  <a:tcPr/>
                </a:tc>
                <a:tc>
                  <a:txBody>
                    <a:bodyPr/>
                    <a:lstStyle/>
                    <a:p>
                      <a:pPr lvl="0" algn="ctr">
                        <a:buNone/>
                      </a:pPr>
                      <a:r>
                        <a:rPr lang="en-GB" dirty="0"/>
                        <a:t>Store Rate Per mm</a:t>
                      </a:r>
                    </a:p>
                  </a:txBody>
                  <a:tcPr/>
                </a:tc>
                <a:extLst>
                  <a:ext uri="{0D108BD9-81ED-4DB2-BD59-A6C34878D82A}">
                    <a16:rowId xmlns:a16="http://schemas.microsoft.com/office/drawing/2014/main" val="317781574"/>
                  </a:ext>
                </a:extLst>
              </a:tr>
              <a:tr h="370838">
                <a:tc>
                  <a:txBody>
                    <a:bodyPr/>
                    <a:lstStyle/>
                    <a:p>
                      <a:pPr lvl="0" algn="ctr">
                        <a:buNone/>
                      </a:pPr>
                      <a:r>
                        <a:rPr lang="en-GB" dirty="0" err="1"/>
                        <a:t>P_image</a:t>
                      </a:r>
                    </a:p>
                  </a:txBody>
                  <a:tcPr/>
                </a:tc>
                <a:tc>
                  <a:txBody>
                    <a:bodyPr/>
                    <a:lstStyle/>
                    <a:p>
                      <a:pPr lvl="0" algn="ctr">
                        <a:buNone/>
                      </a:pPr>
                      <a:r>
                        <a:rPr lang="en-GB" dirty="0"/>
                        <a:t>varchar</a:t>
                      </a:r>
                    </a:p>
                  </a:txBody>
                  <a:tcPr/>
                </a:tc>
                <a:tc>
                  <a:txBody>
                    <a:bodyPr/>
                    <a:lstStyle/>
                    <a:p>
                      <a:pPr lvl="0" algn="ctr">
                        <a:buNone/>
                      </a:pPr>
                      <a:r>
                        <a:rPr lang="en-GB" dirty="0"/>
                        <a:t>100</a:t>
                      </a:r>
                    </a:p>
                  </a:txBody>
                  <a:tcPr/>
                </a:tc>
                <a:tc>
                  <a:txBody>
                    <a:bodyPr/>
                    <a:lstStyle/>
                    <a:p>
                      <a:pPr lvl="0" algn="ctr">
                        <a:buNone/>
                      </a:pPr>
                      <a:endParaRPr lang="en-GB" dirty="0"/>
                    </a:p>
                  </a:txBody>
                  <a:tcPr/>
                </a:tc>
                <a:tc>
                  <a:txBody>
                    <a:bodyPr/>
                    <a:lstStyle/>
                    <a:p>
                      <a:pPr lvl="0" algn="ctr">
                        <a:buNone/>
                      </a:pPr>
                      <a:r>
                        <a:rPr lang="en-GB" dirty="0"/>
                        <a:t>Store Product Image</a:t>
                      </a:r>
                    </a:p>
                  </a:txBody>
                  <a:tcPr/>
                </a:tc>
                <a:extLst>
                  <a:ext uri="{0D108BD9-81ED-4DB2-BD59-A6C34878D82A}">
                    <a16:rowId xmlns:a16="http://schemas.microsoft.com/office/drawing/2014/main" val="3532270937"/>
                  </a:ext>
                </a:extLst>
              </a:tr>
              <a:tr h="370838">
                <a:tc>
                  <a:txBody>
                    <a:bodyPr/>
                    <a:lstStyle/>
                    <a:p>
                      <a:pPr lvl="0" algn="ctr">
                        <a:buNone/>
                      </a:pPr>
                      <a:r>
                        <a:rPr lang="en-GB" dirty="0" err="1"/>
                        <a:t>P_Description</a:t>
                      </a:r>
                    </a:p>
                  </a:txBody>
                  <a:tcPr/>
                </a:tc>
                <a:tc>
                  <a:txBody>
                    <a:bodyPr/>
                    <a:lstStyle/>
                    <a:p>
                      <a:pPr lvl="0" algn="ctr">
                        <a:buNone/>
                      </a:pPr>
                      <a:r>
                        <a:rPr lang="en-GB" dirty="0"/>
                        <a:t>Varchar</a:t>
                      </a:r>
                    </a:p>
                  </a:txBody>
                  <a:tcPr/>
                </a:tc>
                <a:tc>
                  <a:txBody>
                    <a:bodyPr/>
                    <a:lstStyle/>
                    <a:p>
                      <a:pPr lvl="0" algn="ctr">
                        <a:buNone/>
                      </a:pPr>
                      <a:r>
                        <a:rPr lang="en-GB" dirty="0"/>
                        <a:t>100</a:t>
                      </a:r>
                    </a:p>
                  </a:txBody>
                  <a:tcPr/>
                </a:tc>
                <a:tc>
                  <a:txBody>
                    <a:bodyPr/>
                    <a:lstStyle/>
                    <a:p>
                      <a:pPr lvl="0" algn="ctr">
                        <a:buNone/>
                      </a:pPr>
                      <a:r>
                        <a:rPr lang="en-GB" dirty="0"/>
                        <a:t>Not Null</a:t>
                      </a:r>
                    </a:p>
                  </a:txBody>
                  <a:tcPr/>
                </a:tc>
                <a:tc>
                  <a:txBody>
                    <a:bodyPr/>
                    <a:lstStyle/>
                    <a:p>
                      <a:pPr lvl="0" algn="ctr">
                        <a:buNone/>
                      </a:pPr>
                      <a:r>
                        <a:rPr lang="en-GB" dirty="0"/>
                        <a:t>Store Product Description</a:t>
                      </a:r>
                    </a:p>
                  </a:txBody>
                  <a:tcPr/>
                </a:tc>
                <a:extLst>
                  <a:ext uri="{0D108BD9-81ED-4DB2-BD59-A6C34878D82A}">
                    <a16:rowId xmlns:a16="http://schemas.microsoft.com/office/drawing/2014/main" val="3048948732"/>
                  </a:ext>
                </a:extLst>
              </a:tr>
            </a:tbl>
          </a:graphicData>
        </a:graphic>
      </p:graphicFrame>
      <p:sp>
        <p:nvSpPr>
          <p:cNvPr id="4" name="TextBox 3">
            <a:extLst>
              <a:ext uri="{FF2B5EF4-FFF2-40B4-BE49-F238E27FC236}">
                <a16:creationId xmlns:a16="http://schemas.microsoft.com/office/drawing/2014/main" id="{51F25840-D4E4-0FA9-4B34-298202E71A3D}"/>
              </a:ext>
            </a:extLst>
          </p:cNvPr>
          <p:cNvSpPr txBox="1"/>
          <p:nvPr/>
        </p:nvSpPr>
        <p:spPr>
          <a:xfrm>
            <a:off x="618698" y="686938"/>
            <a:ext cx="941176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10.Product Table: -</a:t>
            </a:r>
          </a:p>
          <a:p>
            <a:r>
              <a:rPr lang="en-US" sz="1600" b="1" dirty="0">
                <a:latin typeface="Arial"/>
                <a:cs typeface="Arial"/>
              </a:rPr>
              <a:t>Primary key: - </a:t>
            </a:r>
            <a:r>
              <a:rPr lang="en-US" sz="1600" b="1" dirty="0" err="1">
                <a:latin typeface="Arial"/>
                <a:cs typeface="Arial"/>
              </a:rPr>
              <a:t>P_id</a:t>
            </a:r>
            <a:r>
              <a:rPr lang="en-US" sz="1600" b="1" dirty="0">
                <a:latin typeface="Arial"/>
                <a:cs typeface="Arial"/>
              </a:rPr>
              <a:t>(Product Id)</a:t>
            </a:r>
          </a:p>
          <a:p>
            <a:r>
              <a:rPr lang="en-US" sz="1600" b="1" dirty="0">
                <a:latin typeface="Arial"/>
                <a:cs typeface="Arial"/>
              </a:rPr>
              <a:t>Foreign Key: - Gauge </a:t>
            </a:r>
            <a:r>
              <a:rPr lang="en-US" sz="1600" b="1" dirty="0" err="1">
                <a:latin typeface="Arial"/>
                <a:cs typeface="Arial"/>
              </a:rPr>
              <a:t>U_id</a:t>
            </a:r>
            <a:r>
              <a:rPr lang="en-US" sz="1600" b="1" dirty="0">
                <a:latin typeface="Arial"/>
                <a:cs typeface="Arial"/>
              </a:rPr>
              <a:t>(Gauge Unit Id), </a:t>
            </a:r>
            <a:r>
              <a:rPr lang="en-US" sz="1600" b="1" dirty="0" err="1">
                <a:latin typeface="Arial"/>
                <a:cs typeface="Arial"/>
              </a:rPr>
              <a:t>M_id</a:t>
            </a:r>
            <a:r>
              <a:rPr lang="en-US" sz="1600" b="1" dirty="0">
                <a:latin typeface="Arial"/>
                <a:cs typeface="Arial"/>
              </a:rPr>
              <a:t>(Material Id), Diameter </a:t>
            </a:r>
            <a:r>
              <a:rPr lang="en-US" sz="1600" b="1" dirty="0" err="1">
                <a:latin typeface="Arial"/>
                <a:cs typeface="Arial"/>
              </a:rPr>
              <a:t>U_id</a:t>
            </a:r>
            <a:r>
              <a:rPr lang="en-US" sz="1600" b="1" dirty="0">
                <a:latin typeface="Arial"/>
                <a:cs typeface="Arial"/>
              </a:rPr>
              <a:t>(Diameter Unit Id)</a:t>
            </a:r>
          </a:p>
          <a:p>
            <a:r>
              <a:rPr lang="en-US" sz="1600" b="1" dirty="0">
                <a:latin typeface="Arial"/>
                <a:cs typeface="Arial"/>
              </a:rPr>
              <a:t>Description: - It Stores Product Details</a:t>
            </a:r>
          </a:p>
        </p:txBody>
      </p:sp>
    </p:spTree>
    <p:extLst>
      <p:ext uri="{BB962C8B-B14F-4D97-AF65-F5344CB8AC3E}">
        <p14:creationId xmlns:p14="http://schemas.microsoft.com/office/powerpoint/2010/main" val="1530842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6702-F2E2-AF6D-2A9E-E9975A5DC3AD}"/>
              </a:ext>
            </a:extLst>
          </p:cNvPr>
          <p:cNvSpPr>
            <a:spLocks noGrp="1"/>
          </p:cNvSpPr>
          <p:nvPr>
            <p:ph type="title"/>
          </p:nvPr>
        </p:nvSpPr>
        <p:spPr>
          <a:xfrm>
            <a:off x="421256" y="379502"/>
            <a:ext cx="3082506" cy="1009261"/>
          </a:xfrm>
        </p:spPr>
        <p:txBody>
          <a:bodyPr/>
          <a:lstStyle/>
          <a:p>
            <a:pPr marL="342900" indent="-342900">
              <a:buFont typeface="Wingdings"/>
              <a:buChar char="Ø"/>
            </a:pPr>
            <a:r>
              <a:rPr lang="en-GB" sz="2400" b="1">
                <a:ea typeface="Calibri Light"/>
                <a:cs typeface="Calibri Light"/>
              </a:rPr>
              <a:t>Product Example:-</a:t>
            </a:r>
            <a:endParaRPr lang="en-US">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04BF9E90-4EB7-C35A-13B8-0E9C77A7EF6E}"/>
              </a:ext>
            </a:extLst>
          </p:cNvPr>
          <p:cNvGraphicFramePr>
            <a:graphicFrameLocks noGrp="1"/>
          </p:cNvGraphicFramePr>
          <p:nvPr>
            <p:extLst>
              <p:ext uri="{D42A27DB-BD31-4B8C-83A1-F6EECF244321}">
                <p14:modId xmlns:p14="http://schemas.microsoft.com/office/powerpoint/2010/main" val="2798240004"/>
              </p:ext>
            </p:extLst>
          </p:nvPr>
        </p:nvGraphicFramePr>
        <p:xfrm>
          <a:off x="467360" y="1859280"/>
          <a:ext cx="11184049" cy="402336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988237284"/>
                    </a:ext>
                  </a:extLst>
                </a:gridCol>
                <a:gridCol w="1003299">
                  <a:extLst>
                    <a:ext uri="{9D8B030D-6E8A-4147-A177-3AD203B41FA5}">
                      <a16:colId xmlns:a16="http://schemas.microsoft.com/office/drawing/2014/main" val="221019070"/>
                    </a:ext>
                  </a:extLst>
                </a:gridCol>
                <a:gridCol w="876299">
                  <a:extLst>
                    <a:ext uri="{9D8B030D-6E8A-4147-A177-3AD203B41FA5}">
                      <a16:colId xmlns:a16="http://schemas.microsoft.com/office/drawing/2014/main" val="721880134"/>
                    </a:ext>
                  </a:extLst>
                </a:gridCol>
                <a:gridCol w="812800">
                  <a:extLst>
                    <a:ext uri="{9D8B030D-6E8A-4147-A177-3AD203B41FA5}">
                      <a16:colId xmlns:a16="http://schemas.microsoft.com/office/drawing/2014/main" val="3581345135"/>
                    </a:ext>
                  </a:extLst>
                </a:gridCol>
                <a:gridCol w="838200">
                  <a:extLst>
                    <a:ext uri="{9D8B030D-6E8A-4147-A177-3AD203B41FA5}">
                      <a16:colId xmlns:a16="http://schemas.microsoft.com/office/drawing/2014/main" val="1311489948"/>
                    </a:ext>
                  </a:extLst>
                </a:gridCol>
                <a:gridCol w="723900">
                  <a:extLst>
                    <a:ext uri="{9D8B030D-6E8A-4147-A177-3AD203B41FA5}">
                      <a16:colId xmlns:a16="http://schemas.microsoft.com/office/drawing/2014/main" val="1724973738"/>
                    </a:ext>
                  </a:extLst>
                </a:gridCol>
                <a:gridCol w="1092198">
                  <a:extLst>
                    <a:ext uri="{9D8B030D-6E8A-4147-A177-3AD203B41FA5}">
                      <a16:colId xmlns:a16="http://schemas.microsoft.com/office/drawing/2014/main" val="3665851243"/>
                    </a:ext>
                  </a:extLst>
                </a:gridCol>
                <a:gridCol w="1143000">
                  <a:extLst>
                    <a:ext uri="{9D8B030D-6E8A-4147-A177-3AD203B41FA5}">
                      <a16:colId xmlns:a16="http://schemas.microsoft.com/office/drawing/2014/main" val="2824870342"/>
                    </a:ext>
                  </a:extLst>
                </a:gridCol>
                <a:gridCol w="711200">
                  <a:extLst>
                    <a:ext uri="{9D8B030D-6E8A-4147-A177-3AD203B41FA5}">
                      <a16:colId xmlns:a16="http://schemas.microsoft.com/office/drawing/2014/main" val="3109747673"/>
                    </a:ext>
                  </a:extLst>
                </a:gridCol>
                <a:gridCol w="1101328">
                  <a:extLst>
                    <a:ext uri="{9D8B030D-6E8A-4147-A177-3AD203B41FA5}">
                      <a16:colId xmlns:a16="http://schemas.microsoft.com/office/drawing/2014/main" val="934411693"/>
                    </a:ext>
                  </a:extLst>
                </a:gridCol>
                <a:gridCol w="2196025">
                  <a:extLst>
                    <a:ext uri="{9D8B030D-6E8A-4147-A177-3AD203B41FA5}">
                      <a16:colId xmlns:a16="http://schemas.microsoft.com/office/drawing/2014/main" val="4171303337"/>
                    </a:ext>
                  </a:extLst>
                </a:gridCol>
              </a:tblGrid>
              <a:tr h="624620">
                <a:tc>
                  <a:txBody>
                    <a:bodyPr/>
                    <a:lstStyle/>
                    <a:p>
                      <a:pPr lvl="0" algn="ctr">
                        <a:buNone/>
                      </a:pPr>
                      <a:r>
                        <a:rPr lang="en-GB" err="1"/>
                        <a:t>P_id</a:t>
                      </a:r>
                      <a:endParaRPr lang="en-GB" dirty="0" err="1"/>
                    </a:p>
                  </a:txBody>
                  <a:tcPr/>
                </a:tc>
                <a:tc>
                  <a:txBody>
                    <a:bodyPr/>
                    <a:lstStyle/>
                    <a:p>
                      <a:pPr lvl="0" algn="ctr">
                        <a:buNone/>
                      </a:pPr>
                      <a:r>
                        <a:rPr lang="en-GB" err="1"/>
                        <a:t>P_name</a:t>
                      </a:r>
                      <a:endParaRPr lang="en-GB" dirty="0" err="1"/>
                    </a:p>
                  </a:txBody>
                  <a:tcPr/>
                </a:tc>
                <a:tc>
                  <a:txBody>
                    <a:bodyPr/>
                    <a:lstStyle/>
                    <a:p>
                      <a:pPr lvl="0" algn="ctr">
                        <a:buNone/>
                      </a:pPr>
                      <a:r>
                        <a:rPr lang="en-GB" err="1"/>
                        <a:t>P_type</a:t>
                      </a:r>
                      <a:endParaRPr lang="en-GB" dirty="0" err="1"/>
                    </a:p>
                  </a:txBody>
                  <a:tcPr/>
                </a:tc>
                <a:tc>
                  <a:txBody>
                    <a:bodyPr/>
                    <a:lstStyle/>
                    <a:p>
                      <a:pPr lvl="0" algn="ctr">
                        <a:buNone/>
                      </a:pPr>
                      <a:r>
                        <a:rPr lang="en-GB" dirty="0"/>
                        <a:t>Gauge</a:t>
                      </a:r>
                    </a:p>
                  </a:txBody>
                  <a:tcPr/>
                </a:tc>
                <a:tc>
                  <a:txBody>
                    <a:bodyPr/>
                    <a:lstStyle/>
                    <a:p>
                      <a:pPr lvl="0" algn="ctr">
                        <a:buNone/>
                      </a:pPr>
                      <a:r>
                        <a:rPr lang="en-GB" dirty="0"/>
                        <a:t>Gauge </a:t>
                      </a:r>
                      <a:r>
                        <a:rPr lang="en-GB" dirty="0" err="1"/>
                        <a:t>U_id</a:t>
                      </a:r>
                    </a:p>
                  </a:txBody>
                  <a:tcPr/>
                </a:tc>
                <a:tc>
                  <a:txBody>
                    <a:bodyPr/>
                    <a:lstStyle/>
                    <a:p>
                      <a:pPr lvl="0" algn="ctr">
                        <a:buNone/>
                      </a:pPr>
                      <a:r>
                        <a:rPr lang="en-GB" err="1"/>
                        <a:t>M_id</a:t>
                      </a:r>
                      <a:endParaRPr lang="en-GB" dirty="0" err="1"/>
                    </a:p>
                  </a:txBody>
                  <a:tcPr/>
                </a:tc>
                <a:tc>
                  <a:txBody>
                    <a:bodyPr/>
                    <a:lstStyle/>
                    <a:p>
                      <a:pPr lvl="0" algn="ctr">
                        <a:buNone/>
                      </a:pPr>
                      <a:r>
                        <a:rPr lang="en-GB" dirty="0"/>
                        <a:t>Diameter </a:t>
                      </a:r>
                    </a:p>
                  </a:txBody>
                  <a:tcPr/>
                </a:tc>
                <a:tc>
                  <a:txBody>
                    <a:bodyPr/>
                    <a:lstStyle/>
                    <a:p>
                      <a:pPr lvl="0" algn="ctr">
                        <a:buNone/>
                      </a:pPr>
                      <a:r>
                        <a:rPr lang="en-GB" dirty="0"/>
                        <a:t>Diameter </a:t>
                      </a:r>
                      <a:r>
                        <a:rPr lang="en-GB" dirty="0" err="1"/>
                        <a:t>U_id</a:t>
                      </a:r>
                    </a:p>
                  </a:txBody>
                  <a:tcPr/>
                </a:tc>
                <a:tc>
                  <a:txBody>
                    <a:bodyPr/>
                    <a:lstStyle/>
                    <a:p>
                      <a:pPr lvl="0" algn="ctr">
                        <a:buNone/>
                      </a:pPr>
                      <a:r>
                        <a:rPr lang="en-GB" dirty="0"/>
                        <a:t>Rate Per mm</a:t>
                      </a:r>
                    </a:p>
                  </a:txBody>
                  <a:tcPr/>
                </a:tc>
                <a:tc>
                  <a:txBody>
                    <a:bodyPr/>
                    <a:lstStyle/>
                    <a:p>
                      <a:pPr lvl="0" algn="ctr">
                        <a:buNone/>
                      </a:pPr>
                      <a:r>
                        <a:rPr lang="en-GB" dirty="0" err="1"/>
                        <a:t>P_image</a:t>
                      </a:r>
                    </a:p>
                  </a:txBody>
                  <a:tcPr/>
                </a:tc>
                <a:tc>
                  <a:txBody>
                    <a:bodyPr/>
                    <a:lstStyle/>
                    <a:p>
                      <a:pPr lvl="0" algn="ctr">
                        <a:lnSpc>
                          <a:spcPct val="100000"/>
                        </a:lnSpc>
                        <a:spcBef>
                          <a:spcPts val="0"/>
                        </a:spcBef>
                        <a:spcAft>
                          <a:spcPts val="0"/>
                        </a:spcAft>
                        <a:buNone/>
                      </a:pPr>
                      <a:r>
                        <a:rPr lang="en-GB" sz="1800" b="1" i="0" u="none" strike="noStrike" noProof="0" dirty="0" err="1">
                          <a:latin typeface="Calibri"/>
                        </a:rPr>
                        <a:t>P_Description</a:t>
                      </a:r>
                    </a:p>
                    <a:p>
                      <a:pPr lvl="0" algn="ctr">
                        <a:buNone/>
                      </a:pPr>
                      <a:endParaRPr lang="en-GB" dirty="0"/>
                    </a:p>
                  </a:txBody>
                  <a:tcPr/>
                </a:tc>
                <a:extLst>
                  <a:ext uri="{0D108BD9-81ED-4DB2-BD59-A6C34878D82A}">
                    <a16:rowId xmlns:a16="http://schemas.microsoft.com/office/drawing/2014/main" val="4215509109"/>
                  </a:ext>
                </a:extLst>
              </a:tr>
              <a:tr h="624620">
                <a:tc>
                  <a:txBody>
                    <a:bodyPr/>
                    <a:lstStyle/>
                    <a:p>
                      <a:pPr lvl="0" algn="ctr">
                        <a:buNone/>
                      </a:pPr>
                      <a:r>
                        <a:rPr lang="en-GB" dirty="0"/>
                        <a:t>1</a:t>
                      </a:r>
                    </a:p>
                  </a:txBody>
                  <a:tcPr/>
                </a:tc>
                <a:tc>
                  <a:txBody>
                    <a:bodyPr/>
                    <a:lstStyle/>
                    <a:p>
                      <a:pPr lvl="0" algn="ctr">
                        <a:buNone/>
                      </a:pPr>
                      <a:r>
                        <a:rPr lang="en-GB" dirty="0"/>
                        <a:t>Ebonite Rode</a:t>
                      </a:r>
                      <a:endParaRPr lang="en-US" dirty="0"/>
                    </a:p>
                  </a:txBody>
                  <a:tcPr/>
                </a:tc>
                <a:tc>
                  <a:txBody>
                    <a:bodyPr/>
                    <a:lstStyle/>
                    <a:p>
                      <a:pPr algn="ctr"/>
                      <a:r>
                        <a:rPr lang="en-GB" dirty="0"/>
                        <a:t>Rod</a:t>
                      </a:r>
                    </a:p>
                  </a:txBody>
                  <a:tcPr/>
                </a:tc>
                <a:tc>
                  <a:txBody>
                    <a:bodyPr/>
                    <a:lstStyle/>
                    <a:p>
                      <a:pPr algn="ctr"/>
                      <a:r>
                        <a:rPr lang="en-GB" dirty="0"/>
                        <a:t>-</a:t>
                      </a:r>
                    </a:p>
                  </a:txBody>
                  <a:tcPr/>
                </a:tc>
                <a:tc>
                  <a:txBody>
                    <a:bodyPr/>
                    <a:lstStyle/>
                    <a:p>
                      <a:pPr algn="ctr"/>
                      <a:r>
                        <a:rPr lang="en-GB" dirty="0"/>
                        <a:t>-</a:t>
                      </a:r>
                    </a:p>
                  </a:txBody>
                  <a:tcPr/>
                </a:tc>
                <a:tc>
                  <a:txBody>
                    <a:bodyPr/>
                    <a:lstStyle/>
                    <a:p>
                      <a:pPr algn="ctr"/>
                      <a:r>
                        <a:rPr lang="en-GB" dirty="0"/>
                        <a:t>1</a:t>
                      </a:r>
                    </a:p>
                  </a:txBody>
                  <a:tcPr/>
                </a:tc>
                <a:tc>
                  <a:txBody>
                    <a:bodyPr/>
                    <a:lstStyle/>
                    <a:p>
                      <a:pPr algn="ctr"/>
                      <a:r>
                        <a:rPr lang="en-GB" dirty="0"/>
                        <a:t>21</a:t>
                      </a:r>
                    </a:p>
                  </a:txBody>
                  <a:tcPr/>
                </a:tc>
                <a:tc>
                  <a:txBody>
                    <a:bodyPr/>
                    <a:lstStyle/>
                    <a:p>
                      <a:pPr algn="ctr"/>
                      <a:r>
                        <a:rPr lang="en-GB" dirty="0"/>
                        <a:t>2</a:t>
                      </a:r>
                    </a:p>
                  </a:txBody>
                  <a:tcPr/>
                </a:tc>
                <a:tc>
                  <a:txBody>
                    <a:bodyPr/>
                    <a:lstStyle/>
                    <a:p>
                      <a:pPr algn="ctr"/>
                      <a:r>
                        <a:rPr lang="en-GB" dirty="0"/>
                        <a:t>50</a:t>
                      </a:r>
                    </a:p>
                  </a:txBody>
                  <a:tcPr/>
                </a:tc>
                <a:tc>
                  <a:txBody>
                    <a:bodyPr/>
                    <a:lstStyle/>
                    <a:p>
                      <a:pPr lvl="0" algn="ctr">
                        <a:buNone/>
                      </a:pPr>
                      <a:r>
                        <a:rPr lang="en-GB" dirty="0"/>
                        <a:t>ebonite.png</a:t>
                      </a:r>
                    </a:p>
                    <a:p>
                      <a:pPr lvl="0" algn="ctr">
                        <a:buNone/>
                      </a:pPr>
                      <a:endParaRPr lang="en-GB" dirty="0"/>
                    </a:p>
                  </a:txBody>
                  <a:tcPr/>
                </a:tc>
                <a:tc>
                  <a:txBody>
                    <a:bodyPr/>
                    <a:lstStyle/>
                    <a:p>
                      <a:pPr lvl="0" algn="ctr">
                        <a:buNone/>
                      </a:pPr>
                      <a:r>
                        <a:rPr lang="en-GB" dirty="0"/>
                        <a:t>Ebonite Roller is light Weight</a:t>
                      </a:r>
                    </a:p>
                  </a:txBody>
                  <a:tcPr/>
                </a:tc>
                <a:extLst>
                  <a:ext uri="{0D108BD9-81ED-4DB2-BD59-A6C34878D82A}">
                    <a16:rowId xmlns:a16="http://schemas.microsoft.com/office/drawing/2014/main" val="752875748"/>
                  </a:ext>
                </a:extLst>
              </a:tr>
              <a:tr h="624620">
                <a:tc>
                  <a:txBody>
                    <a:bodyPr/>
                    <a:lstStyle/>
                    <a:p>
                      <a:pPr lvl="0" algn="ctr">
                        <a:buNone/>
                      </a:pPr>
                      <a:r>
                        <a:rPr lang="en-GB" dirty="0"/>
                        <a:t>2</a:t>
                      </a:r>
                    </a:p>
                  </a:txBody>
                  <a:tcPr/>
                </a:tc>
                <a:tc>
                  <a:txBody>
                    <a:bodyPr/>
                    <a:lstStyle/>
                    <a:p>
                      <a:pPr algn="ctr"/>
                      <a:r>
                        <a:rPr lang="en-GB" dirty="0"/>
                        <a:t>Rubber Pipe</a:t>
                      </a:r>
                    </a:p>
                  </a:txBody>
                  <a:tcPr/>
                </a:tc>
                <a:tc>
                  <a:txBody>
                    <a:bodyPr/>
                    <a:lstStyle/>
                    <a:p>
                      <a:pPr algn="ctr"/>
                      <a:r>
                        <a:rPr lang="en-GB" dirty="0"/>
                        <a:t>Pipe</a:t>
                      </a:r>
                    </a:p>
                  </a:txBody>
                  <a:tcPr/>
                </a:tc>
                <a:tc>
                  <a:txBody>
                    <a:bodyPr/>
                    <a:lstStyle/>
                    <a:p>
                      <a:pPr algn="ctr"/>
                      <a:r>
                        <a:rPr lang="en-GB" dirty="0"/>
                        <a:t>20</a:t>
                      </a:r>
                    </a:p>
                  </a:txBody>
                  <a:tcPr/>
                </a:tc>
                <a:tc>
                  <a:txBody>
                    <a:bodyPr/>
                    <a:lstStyle/>
                    <a:p>
                      <a:pPr algn="ctr"/>
                      <a:r>
                        <a:rPr lang="en-GB" dirty="0"/>
                        <a:t>1</a:t>
                      </a:r>
                    </a:p>
                  </a:txBody>
                  <a:tcPr/>
                </a:tc>
                <a:tc>
                  <a:txBody>
                    <a:bodyPr/>
                    <a:lstStyle/>
                    <a:p>
                      <a:pPr algn="ctr"/>
                      <a:r>
                        <a:rPr lang="en-GB" dirty="0"/>
                        <a:t>2</a:t>
                      </a:r>
                    </a:p>
                  </a:txBody>
                  <a:tcPr/>
                </a:tc>
                <a:tc>
                  <a:txBody>
                    <a:bodyPr/>
                    <a:lstStyle/>
                    <a:p>
                      <a:pPr algn="ctr"/>
                      <a:r>
                        <a:rPr lang="en-GB" dirty="0"/>
                        <a:t>22</a:t>
                      </a:r>
                    </a:p>
                  </a:txBody>
                  <a:tcPr/>
                </a:tc>
                <a:tc>
                  <a:txBody>
                    <a:bodyPr/>
                    <a:lstStyle/>
                    <a:p>
                      <a:pPr algn="ctr"/>
                      <a:r>
                        <a:rPr lang="en-GB" dirty="0"/>
                        <a:t>2</a:t>
                      </a:r>
                    </a:p>
                  </a:txBody>
                  <a:tcPr/>
                </a:tc>
                <a:tc>
                  <a:txBody>
                    <a:bodyPr/>
                    <a:lstStyle/>
                    <a:p>
                      <a:pPr algn="ctr"/>
                      <a:r>
                        <a:rPr lang="en-GB" dirty="0"/>
                        <a:t>30</a:t>
                      </a:r>
                    </a:p>
                  </a:txBody>
                  <a:tcPr/>
                </a:tc>
                <a:tc>
                  <a:txBody>
                    <a:bodyPr/>
                    <a:lstStyle/>
                    <a:p>
                      <a:pPr lvl="0" algn="ctr">
                        <a:buNone/>
                      </a:pPr>
                      <a:r>
                        <a:rPr lang="en-GB" dirty="0"/>
                        <a:t>rubber.png</a:t>
                      </a:r>
                    </a:p>
                  </a:txBody>
                  <a:tcPr/>
                </a:tc>
                <a:tc>
                  <a:txBody>
                    <a:bodyPr/>
                    <a:lstStyle/>
                    <a:p>
                      <a:pPr lvl="0" algn="ctr">
                        <a:buNone/>
                      </a:pPr>
                      <a:r>
                        <a:rPr lang="en-GB" dirty="0"/>
                        <a:t>Rubber Roller is Round Shaft Or Tube</a:t>
                      </a:r>
                    </a:p>
                  </a:txBody>
                  <a:tcPr/>
                </a:tc>
                <a:extLst>
                  <a:ext uri="{0D108BD9-81ED-4DB2-BD59-A6C34878D82A}">
                    <a16:rowId xmlns:a16="http://schemas.microsoft.com/office/drawing/2014/main" val="2063755544"/>
                  </a:ext>
                </a:extLst>
              </a:tr>
              <a:tr h="624620">
                <a:tc>
                  <a:txBody>
                    <a:bodyPr/>
                    <a:lstStyle/>
                    <a:p>
                      <a:pPr lvl="0" algn="ctr">
                        <a:buNone/>
                      </a:pPr>
                      <a:r>
                        <a:rPr lang="en-GB" dirty="0"/>
                        <a:t>3</a:t>
                      </a:r>
                    </a:p>
                  </a:txBody>
                  <a:tcPr/>
                </a:tc>
                <a:tc>
                  <a:txBody>
                    <a:bodyPr/>
                    <a:lstStyle/>
                    <a:p>
                      <a:pPr algn="ctr"/>
                      <a:r>
                        <a:rPr lang="en-GB" dirty="0"/>
                        <a:t>Aluminium Rod</a:t>
                      </a:r>
                    </a:p>
                  </a:txBody>
                  <a:tcPr/>
                </a:tc>
                <a:tc>
                  <a:txBody>
                    <a:bodyPr/>
                    <a:lstStyle/>
                    <a:p>
                      <a:pPr algn="ctr"/>
                      <a:r>
                        <a:rPr lang="en-GB" dirty="0"/>
                        <a:t>Rod</a:t>
                      </a:r>
                    </a:p>
                  </a:txBody>
                  <a:tcPr/>
                </a:tc>
                <a:tc>
                  <a:txBody>
                    <a:bodyPr/>
                    <a:lstStyle/>
                    <a:p>
                      <a:pPr algn="ctr"/>
                      <a:r>
                        <a:rPr lang="en-GB" dirty="0"/>
                        <a:t>-</a:t>
                      </a:r>
                    </a:p>
                  </a:txBody>
                  <a:tcPr/>
                </a:tc>
                <a:tc>
                  <a:txBody>
                    <a:bodyPr/>
                    <a:lstStyle/>
                    <a:p>
                      <a:pPr algn="ctr"/>
                      <a:r>
                        <a:rPr lang="en-GB" dirty="0"/>
                        <a:t>-</a:t>
                      </a:r>
                    </a:p>
                  </a:txBody>
                  <a:tcPr/>
                </a:tc>
                <a:tc>
                  <a:txBody>
                    <a:bodyPr/>
                    <a:lstStyle/>
                    <a:p>
                      <a:pPr algn="ctr"/>
                      <a:r>
                        <a:rPr lang="en-GB" dirty="0"/>
                        <a:t>3</a:t>
                      </a:r>
                    </a:p>
                  </a:txBody>
                  <a:tcPr/>
                </a:tc>
                <a:tc>
                  <a:txBody>
                    <a:bodyPr/>
                    <a:lstStyle/>
                    <a:p>
                      <a:pPr algn="ctr"/>
                      <a:r>
                        <a:rPr lang="en-GB" dirty="0"/>
                        <a:t>23</a:t>
                      </a:r>
                    </a:p>
                  </a:txBody>
                  <a:tcPr/>
                </a:tc>
                <a:tc>
                  <a:txBody>
                    <a:bodyPr/>
                    <a:lstStyle/>
                    <a:p>
                      <a:pPr algn="ctr"/>
                      <a:r>
                        <a:rPr lang="en-GB" dirty="0"/>
                        <a:t>2</a:t>
                      </a:r>
                    </a:p>
                  </a:txBody>
                  <a:tcPr/>
                </a:tc>
                <a:tc>
                  <a:txBody>
                    <a:bodyPr/>
                    <a:lstStyle/>
                    <a:p>
                      <a:pPr algn="ctr"/>
                      <a:r>
                        <a:rPr lang="en-GB" dirty="0"/>
                        <a:t>70</a:t>
                      </a:r>
                    </a:p>
                  </a:txBody>
                  <a:tcPr/>
                </a:tc>
                <a:tc>
                  <a:txBody>
                    <a:bodyPr/>
                    <a:lstStyle/>
                    <a:p>
                      <a:pPr lvl="0" algn="ctr">
                        <a:buNone/>
                      </a:pPr>
                      <a:r>
                        <a:rPr lang="en-GB" dirty="0"/>
                        <a:t>aluminium.jpeg</a:t>
                      </a:r>
                    </a:p>
                  </a:txBody>
                  <a:tcPr/>
                </a:tc>
                <a:tc>
                  <a:txBody>
                    <a:bodyPr/>
                    <a:lstStyle/>
                    <a:p>
                      <a:pPr lvl="0" algn="ctr">
                        <a:buNone/>
                      </a:pPr>
                      <a:r>
                        <a:rPr lang="en-GB" dirty="0"/>
                        <a:t>Aluminium Roller is Highly D</a:t>
                      </a:r>
                      <a:r>
                        <a:rPr lang="en-GB" sz="1800" b="0" i="0" u="none" strike="noStrike" noProof="0" dirty="0">
                          <a:latin typeface="Calibri"/>
                        </a:rPr>
                        <a:t>urable</a:t>
                      </a:r>
                    </a:p>
                  </a:txBody>
                  <a:tcPr/>
                </a:tc>
                <a:extLst>
                  <a:ext uri="{0D108BD9-81ED-4DB2-BD59-A6C34878D82A}">
                    <a16:rowId xmlns:a16="http://schemas.microsoft.com/office/drawing/2014/main" val="2305657815"/>
                  </a:ext>
                </a:extLst>
              </a:tr>
              <a:tr h="624620">
                <a:tc>
                  <a:txBody>
                    <a:bodyPr/>
                    <a:lstStyle/>
                    <a:p>
                      <a:pPr lvl="0" algn="ctr">
                        <a:buNone/>
                      </a:pPr>
                      <a:r>
                        <a:rPr lang="en-GB" dirty="0"/>
                        <a:t>4</a:t>
                      </a:r>
                    </a:p>
                  </a:txBody>
                  <a:tcPr/>
                </a:tc>
                <a:tc>
                  <a:txBody>
                    <a:bodyPr/>
                    <a:lstStyle/>
                    <a:p>
                      <a:pPr lvl="0" algn="ctr">
                        <a:buNone/>
                      </a:pPr>
                      <a:r>
                        <a:rPr lang="en-GB" dirty="0"/>
                        <a:t>Hard Crome Pipe</a:t>
                      </a:r>
                    </a:p>
                  </a:txBody>
                  <a:tcPr/>
                </a:tc>
                <a:tc>
                  <a:txBody>
                    <a:bodyPr/>
                    <a:lstStyle/>
                    <a:p>
                      <a:pPr lvl="0" algn="ctr">
                        <a:buNone/>
                      </a:pPr>
                      <a:r>
                        <a:rPr lang="en-GB" dirty="0"/>
                        <a:t>Pipe</a:t>
                      </a:r>
                    </a:p>
                  </a:txBody>
                  <a:tcPr/>
                </a:tc>
                <a:tc>
                  <a:txBody>
                    <a:bodyPr/>
                    <a:lstStyle/>
                    <a:p>
                      <a:pPr lvl="0" algn="ctr">
                        <a:buNone/>
                      </a:pPr>
                      <a:r>
                        <a:rPr lang="en-GB" dirty="0"/>
                        <a:t>25</a:t>
                      </a:r>
                    </a:p>
                  </a:txBody>
                  <a:tcPr/>
                </a:tc>
                <a:tc>
                  <a:txBody>
                    <a:bodyPr/>
                    <a:lstStyle/>
                    <a:p>
                      <a:pPr lvl="0" algn="ctr">
                        <a:buNone/>
                      </a:pPr>
                      <a:r>
                        <a:rPr lang="en-GB" dirty="0"/>
                        <a:t>1</a:t>
                      </a:r>
                    </a:p>
                  </a:txBody>
                  <a:tcPr/>
                </a:tc>
                <a:tc>
                  <a:txBody>
                    <a:bodyPr/>
                    <a:lstStyle/>
                    <a:p>
                      <a:pPr lvl="0" algn="ctr">
                        <a:buNone/>
                      </a:pPr>
                      <a:r>
                        <a:rPr lang="en-GB" dirty="0"/>
                        <a:t>4</a:t>
                      </a:r>
                    </a:p>
                  </a:txBody>
                  <a:tcPr/>
                </a:tc>
                <a:tc>
                  <a:txBody>
                    <a:bodyPr/>
                    <a:lstStyle/>
                    <a:p>
                      <a:pPr lvl="0" algn="ctr">
                        <a:buNone/>
                      </a:pPr>
                      <a:r>
                        <a:rPr lang="en-GB" dirty="0"/>
                        <a:t>24</a:t>
                      </a:r>
                    </a:p>
                  </a:txBody>
                  <a:tcPr/>
                </a:tc>
                <a:tc>
                  <a:txBody>
                    <a:bodyPr/>
                    <a:lstStyle/>
                    <a:p>
                      <a:pPr lvl="0" algn="ctr">
                        <a:buNone/>
                      </a:pPr>
                      <a:r>
                        <a:rPr lang="en-GB" dirty="0"/>
                        <a:t>2</a:t>
                      </a:r>
                    </a:p>
                  </a:txBody>
                  <a:tcPr/>
                </a:tc>
                <a:tc>
                  <a:txBody>
                    <a:bodyPr/>
                    <a:lstStyle/>
                    <a:p>
                      <a:pPr lvl="0" algn="ctr">
                        <a:buNone/>
                      </a:pPr>
                      <a:r>
                        <a:rPr lang="en-GB" dirty="0"/>
                        <a:t>35</a:t>
                      </a:r>
                    </a:p>
                  </a:txBody>
                  <a:tcPr/>
                </a:tc>
                <a:tc>
                  <a:txBody>
                    <a:bodyPr/>
                    <a:lstStyle/>
                    <a:p>
                      <a:pPr lvl="0" algn="ctr">
                        <a:buNone/>
                      </a:pPr>
                      <a:r>
                        <a:rPr lang="en-GB" dirty="0"/>
                        <a:t>cromr.jpeg</a:t>
                      </a:r>
                    </a:p>
                  </a:txBody>
                  <a:tcPr/>
                </a:tc>
                <a:tc>
                  <a:txBody>
                    <a:bodyPr/>
                    <a:lstStyle/>
                    <a:p>
                      <a:pPr lvl="0" algn="ctr">
                        <a:buNone/>
                      </a:pPr>
                      <a:r>
                        <a:rPr lang="en-GB" dirty="0"/>
                        <a:t>Hard Crome Roller is </a:t>
                      </a:r>
                      <a:r>
                        <a:rPr lang="en-GB" sz="1800" b="0" i="0" u="none" strike="noStrike" noProof="0" dirty="0">
                          <a:latin typeface="Calibri"/>
                        </a:rPr>
                        <a:t>Manufacturer With Finest Quality</a:t>
                      </a:r>
                      <a:endParaRPr lang="en-GB" dirty="0"/>
                    </a:p>
                  </a:txBody>
                  <a:tcPr/>
                </a:tc>
                <a:extLst>
                  <a:ext uri="{0D108BD9-81ED-4DB2-BD59-A6C34878D82A}">
                    <a16:rowId xmlns:a16="http://schemas.microsoft.com/office/drawing/2014/main" val="90008942"/>
                  </a:ext>
                </a:extLst>
              </a:tr>
            </a:tbl>
          </a:graphicData>
        </a:graphic>
      </p:graphicFrame>
    </p:spTree>
    <p:extLst>
      <p:ext uri="{BB962C8B-B14F-4D97-AF65-F5344CB8AC3E}">
        <p14:creationId xmlns:p14="http://schemas.microsoft.com/office/powerpoint/2010/main" val="159840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CA64-0F8D-146B-8B5A-FC50FA01E13A}"/>
              </a:ext>
            </a:extLst>
          </p:cNvPr>
          <p:cNvSpPr>
            <a:spLocks noGrp="1"/>
          </p:cNvSpPr>
          <p:nvPr>
            <p:ph type="title"/>
          </p:nvPr>
        </p:nvSpPr>
        <p:spPr>
          <a:xfrm>
            <a:off x="5080" y="-635"/>
            <a:ext cx="4988560" cy="655003"/>
          </a:xfrm>
        </p:spPr>
        <p:txBody>
          <a:bodyPr>
            <a:normAutofit/>
          </a:bodyPr>
          <a:lstStyle/>
          <a:p>
            <a:pPr marL="342900" indent="-342900">
              <a:buFont typeface="Wingdings"/>
              <a:buChar char="Ø"/>
            </a:pPr>
            <a:r>
              <a:rPr lang="en-GB" sz="2400" b="1" dirty="0">
                <a:cs typeface="Calibri Light" panose="020F0302020204030204"/>
              </a:rPr>
              <a:t>Material Stock Table With Example: -</a:t>
            </a:r>
            <a:endParaRPr lang="en-GB" sz="2400" dirty="0">
              <a:cs typeface="Calibri Light" panose="020F0302020204030204"/>
            </a:endParaRPr>
          </a:p>
        </p:txBody>
      </p:sp>
      <p:graphicFrame>
        <p:nvGraphicFramePr>
          <p:cNvPr id="3" name="Table 3">
            <a:extLst>
              <a:ext uri="{FF2B5EF4-FFF2-40B4-BE49-F238E27FC236}">
                <a16:creationId xmlns:a16="http://schemas.microsoft.com/office/drawing/2014/main" id="{1162DD3A-F3AD-823D-7D35-140893BA78A2}"/>
              </a:ext>
            </a:extLst>
          </p:cNvPr>
          <p:cNvGraphicFramePr>
            <a:graphicFrameLocks noGrp="1"/>
          </p:cNvGraphicFramePr>
          <p:nvPr>
            <p:extLst>
              <p:ext uri="{D42A27DB-BD31-4B8C-83A1-F6EECF244321}">
                <p14:modId xmlns:p14="http://schemas.microsoft.com/office/powerpoint/2010/main" val="2801102638"/>
              </p:ext>
            </p:extLst>
          </p:nvPr>
        </p:nvGraphicFramePr>
        <p:xfrm>
          <a:off x="1290320" y="2561791"/>
          <a:ext cx="9156699" cy="1854200"/>
        </p:xfrm>
        <a:graphic>
          <a:graphicData uri="http://schemas.openxmlformats.org/drawingml/2006/table">
            <a:tbl>
              <a:tblPr firstRow="1" bandRow="1">
                <a:tableStyleId>{5C22544A-7EE6-4342-B048-85BDC9FD1C3A}</a:tableStyleId>
              </a:tblPr>
              <a:tblGrid>
                <a:gridCol w="2260600">
                  <a:extLst>
                    <a:ext uri="{9D8B030D-6E8A-4147-A177-3AD203B41FA5}">
                      <a16:colId xmlns:a16="http://schemas.microsoft.com/office/drawing/2014/main" val="642114073"/>
                    </a:ext>
                  </a:extLst>
                </a:gridCol>
                <a:gridCol w="1587500">
                  <a:extLst>
                    <a:ext uri="{9D8B030D-6E8A-4147-A177-3AD203B41FA5}">
                      <a16:colId xmlns:a16="http://schemas.microsoft.com/office/drawing/2014/main" val="331860152"/>
                    </a:ext>
                  </a:extLst>
                </a:gridCol>
                <a:gridCol w="800100">
                  <a:extLst>
                    <a:ext uri="{9D8B030D-6E8A-4147-A177-3AD203B41FA5}">
                      <a16:colId xmlns:a16="http://schemas.microsoft.com/office/drawing/2014/main" val="1361260280"/>
                    </a:ext>
                  </a:extLst>
                </a:gridCol>
                <a:gridCol w="1244600">
                  <a:extLst>
                    <a:ext uri="{9D8B030D-6E8A-4147-A177-3AD203B41FA5}">
                      <a16:colId xmlns:a16="http://schemas.microsoft.com/office/drawing/2014/main" val="4273931955"/>
                    </a:ext>
                  </a:extLst>
                </a:gridCol>
                <a:gridCol w="3263899">
                  <a:extLst>
                    <a:ext uri="{9D8B030D-6E8A-4147-A177-3AD203B41FA5}">
                      <a16:colId xmlns:a16="http://schemas.microsoft.com/office/drawing/2014/main" val="209656005"/>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2132231551"/>
                  </a:ext>
                </a:extLst>
              </a:tr>
              <a:tr h="370840">
                <a:tc>
                  <a:txBody>
                    <a:bodyPr/>
                    <a:lstStyle/>
                    <a:p>
                      <a:pPr algn="ctr"/>
                      <a:r>
                        <a:rPr lang="en-GB" dirty="0" err="1"/>
                        <a:t>Stock_id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Stock id</a:t>
                      </a:r>
                    </a:p>
                  </a:txBody>
                  <a:tcPr/>
                </a:tc>
                <a:extLst>
                  <a:ext uri="{0D108BD9-81ED-4DB2-BD59-A6C34878D82A}">
                    <a16:rowId xmlns:a16="http://schemas.microsoft.com/office/drawing/2014/main" val="2799657422"/>
                  </a:ext>
                </a:extLst>
              </a:tr>
              <a:tr h="370840">
                <a:tc>
                  <a:txBody>
                    <a:bodyPr/>
                    <a:lstStyle/>
                    <a:p>
                      <a:pPr algn="ctr"/>
                      <a:r>
                        <a:rPr lang="en-GB" dirty="0" err="1"/>
                        <a:t>P_id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Product id</a:t>
                      </a:r>
                    </a:p>
                  </a:txBody>
                  <a:tcPr/>
                </a:tc>
                <a:extLst>
                  <a:ext uri="{0D108BD9-81ED-4DB2-BD59-A6C34878D82A}">
                    <a16:rowId xmlns:a16="http://schemas.microsoft.com/office/drawing/2014/main" val="3215426075"/>
                  </a:ext>
                </a:extLst>
              </a:tr>
              <a:tr h="370840">
                <a:tc>
                  <a:txBody>
                    <a:bodyPr/>
                    <a:lstStyle/>
                    <a:p>
                      <a:pPr algn="ctr"/>
                      <a:r>
                        <a:rPr lang="en-GB" dirty="0" err="1"/>
                        <a:t>Transaction_type</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Transaction type</a:t>
                      </a:r>
                    </a:p>
                  </a:txBody>
                  <a:tcPr/>
                </a:tc>
                <a:extLst>
                  <a:ext uri="{0D108BD9-81ED-4DB2-BD59-A6C34878D82A}">
                    <a16:rowId xmlns:a16="http://schemas.microsoft.com/office/drawing/2014/main" val="1334026621"/>
                  </a:ext>
                </a:extLst>
              </a:tr>
              <a:tr h="370840">
                <a:tc>
                  <a:txBody>
                    <a:bodyPr/>
                    <a:lstStyle/>
                    <a:p>
                      <a:pPr algn="ctr"/>
                      <a:r>
                        <a:rPr lang="en-GB" dirty="0" err="1"/>
                        <a:t>Transaction_datetime</a:t>
                      </a:r>
                    </a:p>
                  </a:txBody>
                  <a:tcPr/>
                </a:tc>
                <a:tc>
                  <a:txBody>
                    <a:bodyPr/>
                    <a:lstStyle/>
                    <a:p>
                      <a:pPr algn="ctr"/>
                      <a:r>
                        <a:rPr lang="en-GB" dirty="0"/>
                        <a:t>date</a:t>
                      </a:r>
                    </a:p>
                  </a:txBody>
                  <a:tcPr/>
                </a:tc>
                <a:tc>
                  <a:txBody>
                    <a:bodyPr/>
                    <a:lstStyle/>
                    <a:p>
                      <a:pPr algn="ctr"/>
                      <a:r>
                        <a:rPr lang="en-GB" dirty="0"/>
                        <a:t>6</a:t>
                      </a:r>
                    </a:p>
                  </a:txBody>
                  <a:tcPr/>
                </a:tc>
                <a:tc>
                  <a:txBody>
                    <a:bodyPr/>
                    <a:lstStyle/>
                    <a:p>
                      <a:pPr algn="ctr"/>
                      <a:r>
                        <a:rPr lang="en-GB" dirty="0"/>
                        <a:t>Not null</a:t>
                      </a:r>
                    </a:p>
                  </a:txBody>
                  <a:tcPr/>
                </a:tc>
                <a:tc>
                  <a:txBody>
                    <a:bodyPr/>
                    <a:lstStyle/>
                    <a:p>
                      <a:pPr algn="ctr"/>
                      <a:r>
                        <a:rPr lang="en-GB" dirty="0"/>
                        <a:t>Store Transaction date &amp; time</a:t>
                      </a:r>
                    </a:p>
                  </a:txBody>
                  <a:tcPr/>
                </a:tc>
                <a:extLst>
                  <a:ext uri="{0D108BD9-81ED-4DB2-BD59-A6C34878D82A}">
                    <a16:rowId xmlns:a16="http://schemas.microsoft.com/office/drawing/2014/main" val="180438130"/>
                  </a:ext>
                </a:extLst>
              </a:tr>
            </a:tbl>
          </a:graphicData>
        </a:graphic>
      </p:graphicFrame>
      <p:graphicFrame>
        <p:nvGraphicFramePr>
          <p:cNvPr id="4" name="Table 4">
            <a:extLst>
              <a:ext uri="{FF2B5EF4-FFF2-40B4-BE49-F238E27FC236}">
                <a16:creationId xmlns:a16="http://schemas.microsoft.com/office/drawing/2014/main" id="{0E77FB2A-3FA2-B4FD-2759-886710DA3508}"/>
              </a:ext>
            </a:extLst>
          </p:cNvPr>
          <p:cNvGraphicFramePr>
            <a:graphicFrameLocks noGrp="1"/>
          </p:cNvGraphicFramePr>
          <p:nvPr>
            <p:extLst>
              <p:ext uri="{D42A27DB-BD31-4B8C-83A1-F6EECF244321}">
                <p14:modId xmlns:p14="http://schemas.microsoft.com/office/powerpoint/2010/main" val="3063755619"/>
              </p:ext>
            </p:extLst>
          </p:nvPr>
        </p:nvGraphicFramePr>
        <p:xfrm>
          <a:off x="1254988" y="4643272"/>
          <a:ext cx="9189720" cy="111252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515230121"/>
                    </a:ext>
                  </a:extLst>
                </a:gridCol>
                <a:gridCol w="2042160">
                  <a:extLst>
                    <a:ext uri="{9D8B030D-6E8A-4147-A177-3AD203B41FA5}">
                      <a16:colId xmlns:a16="http://schemas.microsoft.com/office/drawing/2014/main" val="1034077517"/>
                    </a:ext>
                  </a:extLst>
                </a:gridCol>
                <a:gridCol w="2042160">
                  <a:extLst>
                    <a:ext uri="{9D8B030D-6E8A-4147-A177-3AD203B41FA5}">
                      <a16:colId xmlns:a16="http://schemas.microsoft.com/office/drawing/2014/main" val="1435651145"/>
                    </a:ext>
                  </a:extLst>
                </a:gridCol>
                <a:gridCol w="2781300">
                  <a:extLst>
                    <a:ext uri="{9D8B030D-6E8A-4147-A177-3AD203B41FA5}">
                      <a16:colId xmlns:a16="http://schemas.microsoft.com/office/drawing/2014/main" val="2117875815"/>
                    </a:ext>
                  </a:extLst>
                </a:gridCol>
              </a:tblGrid>
              <a:tr h="370840">
                <a:tc>
                  <a:txBody>
                    <a:bodyPr/>
                    <a:lstStyle/>
                    <a:p>
                      <a:pPr algn="ctr"/>
                      <a:r>
                        <a:rPr lang="en-GB" dirty="0" err="1"/>
                        <a:t>Stock_id</a:t>
                      </a:r>
                    </a:p>
                  </a:txBody>
                  <a:tcPr/>
                </a:tc>
                <a:tc>
                  <a:txBody>
                    <a:bodyPr/>
                    <a:lstStyle/>
                    <a:p>
                      <a:pPr algn="ctr"/>
                      <a:r>
                        <a:rPr lang="en-GB" dirty="0" err="1"/>
                        <a:t>P_id</a:t>
                      </a:r>
                    </a:p>
                  </a:txBody>
                  <a:tcPr/>
                </a:tc>
                <a:tc>
                  <a:txBody>
                    <a:bodyPr/>
                    <a:lstStyle/>
                    <a:p>
                      <a:pPr algn="ctr"/>
                      <a:r>
                        <a:rPr lang="en-GB" dirty="0" err="1"/>
                        <a:t>Transaction_type</a:t>
                      </a:r>
                    </a:p>
                  </a:txBody>
                  <a:tcPr/>
                </a:tc>
                <a:tc>
                  <a:txBody>
                    <a:bodyPr/>
                    <a:lstStyle/>
                    <a:p>
                      <a:pPr algn="ctr"/>
                      <a:r>
                        <a:rPr lang="en-GB" dirty="0" err="1"/>
                        <a:t>Transaction_datetime</a:t>
                      </a:r>
                    </a:p>
                  </a:txBody>
                  <a:tcPr/>
                </a:tc>
                <a:extLst>
                  <a:ext uri="{0D108BD9-81ED-4DB2-BD59-A6C34878D82A}">
                    <a16:rowId xmlns:a16="http://schemas.microsoft.com/office/drawing/2014/main" val="1045701926"/>
                  </a:ext>
                </a:extLst>
              </a:tr>
              <a:tr h="370840">
                <a:tc>
                  <a:txBody>
                    <a:bodyPr/>
                    <a:lstStyle/>
                    <a:p>
                      <a:pPr algn="ctr"/>
                      <a:r>
                        <a:rPr lang="en-GB" dirty="0"/>
                        <a:t>1</a:t>
                      </a:r>
                    </a:p>
                  </a:txBody>
                  <a:tcPr/>
                </a:tc>
                <a:tc>
                  <a:txBody>
                    <a:bodyPr/>
                    <a:lstStyle/>
                    <a:p>
                      <a:pPr algn="ctr"/>
                      <a:r>
                        <a:rPr lang="en-GB" dirty="0"/>
                        <a:t>2</a:t>
                      </a:r>
                    </a:p>
                  </a:txBody>
                  <a:tcPr/>
                </a:tc>
                <a:tc>
                  <a:txBody>
                    <a:bodyPr/>
                    <a:lstStyle/>
                    <a:p>
                      <a:pPr algn="ctr"/>
                      <a:r>
                        <a:rPr lang="en-GB" dirty="0"/>
                        <a:t>Purchase</a:t>
                      </a:r>
                    </a:p>
                  </a:txBody>
                  <a:tcPr/>
                </a:tc>
                <a:tc>
                  <a:txBody>
                    <a:bodyPr/>
                    <a:lstStyle/>
                    <a:p>
                      <a:pPr algn="ctr"/>
                      <a:r>
                        <a:rPr lang="en-GB" dirty="0"/>
                        <a:t>05/09/2022,10:23:55</a:t>
                      </a:r>
                    </a:p>
                  </a:txBody>
                  <a:tcPr/>
                </a:tc>
                <a:extLst>
                  <a:ext uri="{0D108BD9-81ED-4DB2-BD59-A6C34878D82A}">
                    <a16:rowId xmlns:a16="http://schemas.microsoft.com/office/drawing/2014/main" val="2546399642"/>
                  </a:ext>
                </a:extLst>
              </a:tr>
              <a:tr h="370840">
                <a:tc>
                  <a:txBody>
                    <a:bodyPr/>
                    <a:lstStyle/>
                    <a:p>
                      <a:pPr algn="ctr"/>
                      <a:r>
                        <a:rPr lang="en-GB" dirty="0"/>
                        <a:t>2</a:t>
                      </a:r>
                    </a:p>
                  </a:txBody>
                  <a:tcPr/>
                </a:tc>
                <a:tc>
                  <a:txBody>
                    <a:bodyPr/>
                    <a:lstStyle/>
                    <a:p>
                      <a:pPr algn="ctr"/>
                      <a:r>
                        <a:rPr lang="en-GB" dirty="0"/>
                        <a:t>1</a:t>
                      </a:r>
                    </a:p>
                  </a:txBody>
                  <a:tcPr/>
                </a:tc>
                <a:tc>
                  <a:txBody>
                    <a:bodyPr/>
                    <a:lstStyle/>
                    <a:p>
                      <a:pPr algn="ctr"/>
                      <a:r>
                        <a:rPr lang="en-GB" dirty="0"/>
                        <a:t>use</a:t>
                      </a:r>
                    </a:p>
                  </a:txBody>
                  <a:tcPr/>
                </a:tc>
                <a:tc>
                  <a:txBody>
                    <a:bodyPr/>
                    <a:lstStyle/>
                    <a:p>
                      <a:pPr algn="ctr"/>
                      <a:r>
                        <a:rPr lang="en-GB" dirty="0"/>
                        <a:t>07/09/2022,09:30:22</a:t>
                      </a:r>
                    </a:p>
                  </a:txBody>
                  <a:tcPr/>
                </a:tc>
                <a:extLst>
                  <a:ext uri="{0D108BD9-81ED-4DB2-BD59-A6C34878D82A}">
                    <a16:rowId xmlns:a16="http://schemas.microsoft.com/office/drawing/2014/main" val="1901565077"/>
                  </a:ext>
                </a:extLst>
              </a:tr>
            </a:tbl>
          </a:graphicData>
        </a:graphic>
      </p:graphicFrame>
      <p:sp>
        <p:nvSpPr>
          <p:cNvPr id="5" name="TextBox 4">
            <a:extLst>
              <a:ext uri="{FF2B5EF4-FFF2-40B4-BE49-F238E27FC236}">
                <a16:creationId xmlns:a16="http://schemas.microsoft.com/office/drawing/2014/main" id="{8E20A8C7-39AC-128A-6CBB-35D4E434A0A5}"/>
              </a:ext>
            </a:extLst>
          </p:cNvPr>
          <p:cNvSpPr txBox="1"/>
          <p:nvPr/>
        </p:nvSpPr>
        <p:spPr>
          <a:xfrm>
            <a:off x="1244221" y="1278340"/>
            <a:ext cx="498370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rial"/>
                <a:cs typeface="Arial"/>
              </a:rPr>
              <a:t>11.</a:t>
            </a:r>
            <a:r>
              <a:rPr lang="en-US" b="1" dirty="0">
                <a:latin typeface="Calibri Light"/>
                <a:ea typeface="Calibri Light"/>
                <a:cs typeface="Calibri Light"/>
              </a:rPr>
              <a:t> </a:t>
            </a:r>
            <a:r>
              <a:rPr lang="en-US" b="1" dirty="0">
                <a:latin typeface="Arial"/>
              </a:rPr>
              <a:t>Material Stock Table with Example: -</a:t>
            </a:r>
          </a:p>
          <a:p>
            <a:r>
              <a:rPr lang="en-US" b="1" dirty="0">
                <a:latin typeface="Arial"/>
              </a:rPr>
              <a:t>Primary Key: - </a:t>
            </a:r>
            <a:r>
              <a:rPr lang="en-US" b="1" dirty="0" err="1">
                <a:latin typeface="Arial"/>
              </a:rPr>
              <a:t>Stock_id</a:t>
            </a:r>
            <a:endParaRPr lang="en-US" b="1" dirty="0" err="1">
              <a:latin typeface="Arial"/>
              <a:cs typeface="Arial"/>
            </a:endParaRPr>
          </a:p>
          <a:p>
            <a:r>
              <a:rPr lang="en-US" b="1" dirty="0">
                <a:latin typeface="Arial"/>
              </a:rPr>
              <a:t>Foreign Key: - </a:t>
            </a:r>
            <a:r>
              <a:rPr lang="en-US" b="1" dirty="0" err="1">
                <a:latin typeface="Arial"/>
              </a:rPr>
              <a:t>P_id</a:t>
            </a:r>
            <a:r>
              <a:rPr lang="en-US" b="1" dirty="0">
                <a:latin typeface="Arial"/>
              </a:rPr>
              <a:t>(</a:t>
            </a:r>
            <a:r>
              <a:rPr lang="en-US" b="1" dirty="0" err="1">
                <a:latin typeface="Arial"/>
              </a:rPr>
              <a:t>Product_id</a:t>
            </a:r>
            <a:r>
              <a:rPr lang="en-US" b="1" dirty="0">
                <a:latin typeface="Arial"/>
              </a:rPr>
              <a:t>)</a:t>
            </a:r>
            <a:endParaRPr lang="en-US" b="1" dirty="0">
              <a:latin typeface="Arial"/>
              <a:cs typeface="Arial"/>
            </a:endParaRPr>
          </a:p>
          <a:p>
            <a:r>
              <a:rPr lang="en-US" b="1" dirty="0">
                <a:latin typeface="Arial"/>
              </a:rPr>
              <a:t>Description: - It Stores Material Stock Detail</a:t>
            </a:r>
            <a:endParaRPr lang="en-US" b="1" dirty="0">
              <a:latin typeface="Arial"/>
              <a:cs typeface="Arial"/>
            </a:endParaRPr>
          </a:p>
        </p:txBody>
      </p:sp>
    </p:spTree>
    <p:extLst>
      <p:ext uri="{BB962C8B-B14F-4D97-AF65-F5344CB8AC3E}">
        <p14:creationId xmlns:p14="http://schemas.microsoft.com/office/powerpoint/2010/main" val="2780046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8C11-EACA-E24D-FE7E-2D548D684B22}"/>
              </a:ext>
            </a:extLst>
          </p:cNvPr>
          <p:cNvSpPr>
            <a:spLocks noGrp="1"/>
          </p:cNvSpPr>
          <p:nvPr>
            <p:ph type="title"/>
          </p:nvPr>
        </p:nvSpPr>
        <p:spPr>
          <a:xfrm>
            <a:off x="-5080" y="-635"/>
            <a:ext cx="5029200" cy="644843"/>
          </a:xfrm>
        </p:spPr>
        <p:txBody>
          <a:bodyPr/>
          <a:lstStyle/>
          <a:p>
            <a:pPr marL="342900" indent="-342900">
              <a:buFont typeface="Wingdings"/>
              <a:buChar char="Ø"/>
            </a:pPr>
            <a:r>
              <a:rPr lang="en-GB" sz="2400" b="1" dirty="0">
                <a:cs typeface="Calibri Light" panose="020F0302020204030204"/>
              </a:rPr>
              <a:t>Ready Product Table With Example: -</a:t>
            </a:r>
          </a:p>
        </p:txBody>
      </p:sp>
      <p:graphicFrame>
        <p:nvGraphicFramePr>
          <p:cNvPr id="3" name="Table 3">
            <a:extLst>
              <a:ext uri="{FF2B5EF4-FFF2-40B4-BE49-F238E27FC236}">
                <a16:creationId xmlns:a16="http://schemas.microsoft.com/office/drawing/2014/main" id="{9FAD5B0E-8E0B-F3B0-918F-521BB1AB7DB5}"/>
              </a:ext>
            </a:extLst>
          </p:cNvPr>
          <p:cNvGraphicFramePr>
            <a:graphicFrameLocks noGrp="1"/>
          </p:cNvGraphicFramePr>
          <p:nvPr>
            <p:extLst>
              <p:ext uri="{D42A27DB-BD31-4B8C-83A1-F6EECF244321}">
                <p14:modId xmlns:p14="http://schemas.microsoft.com/office/powerpoint/2010/main" val="1123952715"/>
              </p:ext>
            </p:extLst>
          </p:nvPr>
        </p:nvGraphicFramePr>
        <p:xfrm>
          <a:off x="1663814" y="1992679"/>
          <a:ext cx="8168631" cy="1854200"/>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126418538"/>
                    </a:ext>
                  </a:extLst>
                </a:gridCol>
                <a:gridCol w="1633726">
                  <a:extLst>
                    <a:ext uri="{9D8B030D-6E8A-4147-A177-3AD203B41FA5}">
                      <a16:colId xmlns:a16="http://schemas.microsoft.com/office/drawing/2014/main" val="497238444"/>
                    </a:ext>
                  </a:extLst>
                </a:gridCol>
                <a:gridCol w="1003299">
                  <a:extLst>
                    <a:ext uri="{9D8B030D-6E8A-4147-A177-3AD203B41FA5}">
                      <a16:colId xmlns:a16="http://schemas.microsoft.com/office/drawing/2014/main" val="1138529185"/>
                    </a:ext>
                  </a:extLst>
                </a:gridCol>
                <a:gridCol w="1257300">
                  <a:extLst>
                    <a:ext uri="{9D8B030D-6E8A-4147-A177-3AD203B41FA5}">
                      <a16:colId xmlns:a16="http://schemas.microsoft.com/office/drawing/2014/main" val="1877374458"/>
                    </a:ext>
                  </a:extLst>
                </a:gridCol>
                <a:gridCol w="2640580">
                  <a:extLst>
                    <a:ext uri="{9D8B030D-6E8A-4147-A177-3AD203B41FA5}">
                      <a16:colId xmlns:a16="http://schemas.microsoft.com/office/drawing/2014/main" val="3464174974"/>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2952178331"/>
                  </a:ext>
                </a:extLst>
              </a:tr>
              <a:tr h="370840">
                <a:tc>
                  <a:txBody>
                    <a:bodyPr/>
                    <a:lstStyle/>
                    <a:p>
                      <a:pPr algn="ctr"/>
                      <a:r>
                        <a:rPr lang="en-GB" dirty="0" err="1"/>
                        <a:t>Pstock_id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Product Stock id</a:t>
                      </a:r>
                    </a:p>
                  </a:txBody>
                  <a:tcPr/>
                </a:tc>
                <a:extLst>
                  <a:ext uri="{0D108BD9-81ED-4DB2-BD59-A6C34878D82A}">
                    <a16:rowId xmlns:a16="http://schemas.microsoft.com/office/drawing/2014/main" val="1636990362"/>
                  </a:ext>
                </a:extLst>
              </a:tr>
              <a:tr h="370840">
                <a:tc>
                  <a:txBody>
                    <a:bodyPr/>
                    <a:lstStyle/>
                    <a:p>
                      <a:pPr algn="ctr"/>
                      <a:r>
                        <a:rPr lang="en-GB" dirty="0" err="1"/>
                        <a:t>P_id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Product id</a:t>
                      </a:r>
                      <a:endParaRPr lang="en-GB" dirty="0" err="1"/>
                    </a:p>
                  </a:txBody>
                  <a:tcPr/>
                </a:tc>
                <a:extLst>
                  <a:ext uri="{0D108BD9-81ED-4DB2-BD59-A6C34878D82A}">
                    <a16:rowId xmlns:a16="http://schemas.microsoft.com/office/drawing/2014/main" val="3651792987"/>
                  </a:ext>
                </a:extLst>
              </a:tr>
              <a:tr h="370840">
                <a:tc>
                  <a:txBody>
                    <a:bodyPr/>
                    <a:lstStyle/>
                    <a:p>
                      <a:pPr algn="ctr"/>
                      <a:r>
                        <a:rPr lang="en-GB" dirty="0" err="1"/>
                        <a:t>Sd_id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Sales Order Detail id</a:t>
                      </a:r>
                    </a:p>
                  </a:txBody>
                  <a:tcPr/>
                </a:tc>
                <a:extLst>
                  <a:ext uri="{0D108BD9-81ED-4DB2-BD59-A6C34878D82A}">
                    <a16:rowId xmlns:a16="http://schemas.microsoft.com/office/drawing/2014/main" val="2013620277"/>
                  </a:ext>
                </a:extLst>
              </a:tr>
              <a:tr h="370840">
                <a:tc>
                  <a:txBody>
                    <a:bodyPr/>
                    <a:lstStyle/>
                    <a:p>
                      <a:pPr algn="ctr"/>
                      <a:r>
                        <a:rPr lang="en-GB" dirty="0"/>
                        <a:t>Quantity</a:t>
                      </a:r>
                    </a:p>
                  </a:txBody>
                  <a:tcPr/>
                </a:tc>
                <a:tc>
                  <a:txBody>
                    <a:bodyPr/>
                    <a:lstStyle/>
                    <a:p>
                      <a:pPr algn="ctr"/>
                      <a:r>
                        <a:rPr lang="en-GB" dirty="0"/>
                        <a:t>varchar</a:t>
                      </a:r>
                    </a:p>
                  </a:txBody>
                  <a:tcPr/>
                </a:tc>
                <a:tc>
                  <a:txBody>
                    <a:bodyPr/>
                    <a:lstStyle/>
                    <a:p>
                      <a:pPr algn="ctr"/>
                      <a:r>
                        <a:rPr lang="en-GB" dirty="0"/>
                        <a:t>30</a:t>
                      </a:r>
                    </a:p>
                  </a:txBody>
                  <a:tcPr/>
                </a:tc>
                <a:tc>
                  <a:txBody>
                    <a:bodyPr/>
                    <a:lstStyle/>
                    <a:p>
                      <a:pPr algn="ctr"/>
                      <a:r>
                        <a:rPr lang="en-GB" dirty="0"/>
                        <a:t>Not null</a:t>
                      </a:r>
                    </a:p>
                  </a:txBody>
                  <a:tcPr/>
                </a:tc>
                <a:tc>
                  <a:txBody>
                    <a:bodyPr/>
                    <a:lstStyle/>
                    <a:p>
                      <a:pPr algn="ctr"/>
                      <a:r>
                        <a:rPr lang="en-GB" dirty="0"/>
                        <a:t>Store Quantity</a:t>
                      </a:r>
                    </a:p>
                  </a:txBody>
                  <a:tcPr/>
                </a:tc>
                <a:extLst>
                  <a:ext uri="{0D108BD9-81ED-4DB2-BD59-A6C34878D82A}">
                    <a16:rowId xmlns:a16="http://schemas.microsoft.com/office/drawing/2014/main" val="2221678654"/>
                  </a:ext>
                </a:extLst>
              </a:tr>
            </a:tbl>
          </a:graphicData>
        </a:graphic>
      </p:graphicFrame>
      <p:graphicFrame>
        <p:nvGraphicFramePr>
          <p:cNvPr id="4" name="Table 4">
            <a:extLst>
              <a:ext uri="{FF2B5EF4-FFF2-40B4-BE49-F238E27FC236}">
                <a16:creationId xmlns:a16="http://schemas.microsoft.com/office/drawing/2014/main" id="{C3514D54-8ABD-1555-DA3F-061D92EDCF1D}"/>
              </a:ext>
            </a:extLst>
          </p:cNvPr>
          <p:cNvGraphicFramePr>
            <a:graphicFrameLocks noGrp="1"/>
          </p:cNvGraphicFramePr>
          <p:nvPr>
            <p:extLst>
              <p:ext uri="{D42A27DB-BD31-4B8C-83A1-F6EECF244321}">
                <p14:modId xmlns:p14="http://schemas.microsoft.com/office/powerpoint/2010/main" val="730977931"/>
              </p:ext>
            </p:extLst>
          </p:nvPr>
        </p:nvGraphicFramePr>
        <p:xfrm>
          <a:off x="1725532" y="4129312"/>
          <a:ext cx="8168640" cy="111252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3814285021"/>
                    </a:ext>
                  </a:extLst>
                </a:gridCol>
                <a:gridCol w="2042160">
                  <a:extLst>
                    <a:ext uri="{9D8B030D-6E8A-4147-A177-3AD203B41FA5}">
                      <a16:colId xmlns:a16="http://schemas.microsoft.com/office/drawing/2014/main" val="3961484559"/>
                    </a:ext>
                  </a:extLst>
                </a:gridCol>
                <a:gridCol w="2042160">
                  <a:extLst>
                    <a:ext uri="{9D8B030D-6E8A-4147-A177-3AD203B41FA5}">
                      <a16:colId xmlns:a16="http://schemas.microsoft.com/office/drawing/2014/main" val="34124345"/>
                    </a:ext>
                  </a:extLst>
                </a:gridCol>
                <a:gridCol w="2042160">
                  <a:extLst>
                    <a:ext uri="{9D8B030D-6E8A-4147-A177-3AD203B41FA5}">
                      <a16:colId xmlns:a16="http://schemas.microsoft.com/office/drawing/2014/main" val="902767687"/>
                    </a:ext>
                  </a:extLst>
                </a:gridCol>
              </a:tblGrid>
              <a:tr h="370840">
                <a:tc>
                  <a:txBody>
                    <a:bodyPr/>
                    <a:lstStyle/>
                    <a:p>
                      <a:pPr algn="ctr"/>
                      <a:r>
                        <a:rPr lang="en-GB" dirty="0" err="1"/>
                        <a:t>Pstock_id</a:t>
                      </a:r>
                    </a:p>
                  </a:txBody>
                  <a:tcPr/>
                </a:tc>
                <a:tc>
                  <a:txBody>
                    <a:bodyPr/>
                    <a:lstStyle/>
                    <a:p>
                      <a:pPr algn="ctr"/>
                      <a:r>
                        <a:rPr lang="en-GB" dirty="0" err="1"/>
                        <a:t>P_id</a:t>
                      </a:r>
                    </a:p>
                  </a:txBody>
                  <a:tcPr/>
                </a:tc>
                <a:tc>
                  <a:txBody>
                    <a:bodyPr/>
                    <a:lstStyle/>
                    <a:p>
                      <a:pPr algn="ctr"/>
                      <a:r>
                        <a:rPr lang="en-GB" dirty="0" err="1"/>
                        <a:t>Sd_id</a:t>
                      </a:r>
                    </a:p>
                  </a:txBody>
                  <a:tcPr/>
                </a:tc>
                <a:tc>
                  <a:txBody>
                    <a:bodyPr/>
                    <a:lstStyle/>
                    <a:p>
                      <a:pPr algn="ctr"/>
                      <a:r>
                        <a:rPr lang="en-GB" dirty="0"/>
                        <a:t>Quantity</a:t>
                      </a:r>
                    </a:p>
                  </a:txBody>
                  <a:tcPr/>
                </a:tc>
                <a:extLst>
                  <a:ext uri="{0D108BD9-81ED-4DB2-BD59-A6C34878D82A}">
                    <a16:rowId xmlns:a16="http://schemas.microsoft.com/office/drawing/2014/main" val="3094053564"/>
                  </a:ext>
                </a:extLst>
              </a:tr>
              <a:tr h="370840">
                <a:tc>
                  <a:txBody>
                    <a:bodyPr/>
                    <a:lstStyle/>
                    <a:p>
                      <a:pPr algn="ctr"/>
                      <a:r>
                        <a:rPr lang="en-GB" dirty="0"/>
                        <a:t>1</a:t>
                      </a:r>
                    </a:p>
                  </a:txBody>
                  <a:tcPr/>
                </a:tc>
                <a:tc>
                  <a:txBody>
                    <a:bodyPr/>
                    <a:lstStyle/>
                    <a:p>
                      <a:pPr algn="ctr"/>
                      <a:r>
                        <a:rPr lang="en-GB" dirty="0"/>
                        <a:t>2</a:t>
                      </a:r>
                    </a:p>
                  </a:txBody>
                  <a:tcPr/>
                </a:tc>
                <a:tc>
                  <a:txBody>
                    <a:bodyPr/>
                    <a:lstStyle/>
                    <a:p>
                      <a:pPr algn="ctr"/>
                      <a:r>
                        <a:rPr lang="en-GB" dirty="0"/>
                        <a:t>2</a:t>
                      </a:r>
                    </a:p>
                  </a:txBody>
                  <a:tcPr/>
                </a:tc>
                <a:tc>
                  <a:txBody>
                    <a:bodyPr/>
                    <a:lstStyle/>
                    <a:p>
                      <a:pPr algn="ctr"/>
                      <a:r>
                        <a:rPr lang="en-GB" dirty="0"/>
                        <a:t>10</a:t>
                      </a:r>
                    </a:p>
                  </a:txBody>
                  <a:tcPr/>
                </a:tc>
                <a:extLst>
                  <a:ext uri="{0D108BD9-81ED-4DB2-BD59-A6C34878D82A}">
                    <a16:rowId xmlns:a16="http://schemas.microsoft.com/office/drawing/2014/main" val="3696290675"/>
                  </a:ext>
                </a:extLst>
              </a:tr>
              <a:tr h="370840">
                <a:tc>
                  <a:txBody>
                    <a:bodyPr/>
                    <a:lstStyle/>
                    <a:p>
                      <a:pPr algn="ctr"/>
                      <a:r>
                        <a:rPr lang="en-GB" dirty="0"/>
                        <a:t>2</a:t>
                      </a:r>
                    </a:p>
                  </a:txBody>
                  <a:tcPr/>
                </a:tc>
                <a:tc>
                  <a:txBody>
                    <a:bodyPr/>
                    <a:lstStyle/>
                    <a:p>
                      <a:pPr algn="ctr"/>
                      <a:r>
                        <a:rPr lang="en-GB" dirty="0"/>
                        <a:t>1</a:t>
                      </a:r>
                    </a:p>
                  </a:txBody>
                  <a:tcPr/>
                </a:tc>
                <a:tc>
                  <a:txBody>
                    <a:bodyPr/>
                    <a:lstStyle/>
                    <a:p>
                      <a:pPr algn="ctr"/>
                      <a:r>
                        <a:rPr lang="en-GB" dirty="0"/>
                        <a:t>2</a:t>
                      </a:r>
                    </a:p>
                  </a:txBody>
                  <a:tcPr/>
                </a:tc>
                <a:tc>
                  <a:txBody>
                    <a:bodyPr/>
                    <a:lstStyle/>
                    <a:p>
                      <a:pPr algn="ctr"/>
                      <a:r>
                        <a:rPr lang="en-GB" dirty="0"/>
                        <a:t>15</a:t>
                      </a:r>
                    </a:p>
                  </a:txBody>
                  <a:tcPr/>
                </a:tc>
                <a:extLst>
                  <a:ext uri="{0D108BD9-81ED-4DB2-BD59-A6C34878D82A}">
                    <a16:rowId xmlns:a16="http://schemas.microsoft.com/office/drawing/2014/main" val="1821903055"/>
                  </a:ext>
                </a:extLst>
              </a:tr>
            </a:tbl>
          </a:graphicData>
        </a:graphic>
      </p:graphicFrame>
      <p:sp>
        <p:nvSpPr>
          <p:cNvPr id="5" name="TextBox 4">
            <a:extLst>
              <a:ext uri="{FF2B5EF4-FFF2-40B4-BE49-F238E27FC236}">
                <a16:creationId xmlns:a16="http://schemas.microsoft.com/office/drawing/2014/main" id="{4E412963-6315-6118-6BCE-C37294AEBA56}"/>
              </a:ext>
            </a:extLst>
          </p:cNvPr>
          <p:cNvSpPr txBox="1"/>
          <p:nvPr/>
        </p:nvSpPr>
        <p:spPr>
          <a:xfrm>
            <a:off x="1608161" y="812042"/>
            <a:ext cx="447191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12.</a:t>
            </a:r>
            <a:r>
              <a:rPr lang="en-US" sz="1600" b="1" dirty="0">
                <a:latin typeface="Calibri Light"/>
                <a:ea typeface="Calibri Light"/>
                <a:cs typeface="Calibri Light"/>
              </a:rPr>
              <a:t> </a:t>
            </a:r>
            <a:r>
              <a:rPr lang="en-US" sz="1600" b="1" dirty="0">
                <a:latin typeface="Arial"/>
              </a:rPr>
              <a:t>Ready Product Table with Example: -</a:t>
            </a:r>
          </a:p>
          <a:p>
            <a:r>
              <a:rPr lang="en-US" sz="1600" b="1" dirty="0">
                <a:latin typeface="Arial"/>
              </a:rPr>
              <a:t>Primary Key: - </a:t>
            </a:r>
            <a:r>
              <a:rPr lang="en-US" sz="1600" b="1" dirty="0" err="1">
                <a:latin typeface="Arial"/>
              </a:rPr>
              <a:t>Pstock_id</a:t>
            </a:r>
            <a:r>
              <a:rPr lang="en-US" sz="1600" b="1" dirty="0">
                <a:latin typeface="Arial"/>
              </a:rPr>
              <a:t>(Product Stock Id)</a:t>
            </a:r>
            <a:endParaRPr lang="en-US" sz="1600" b="1" dirty="0">
              <a:latin typeface="Arial"/>
              <a:cs typeface="Arial"/>
            </a:endParaRPr>
          </a:p>
          <a:p>
            <a:r>
              <a:rPr lang="en-US" sz="1600" b="1" dirty="0">
                <a:latin typeface="Arial"/>
              </a:rPr>
              <a:t>Foreign Key: - </a:t>
            </a:r>
            <a:r>
              <a:rPr lang="en-US" sz="1600" b="1" dirty="0" err="1">
                <a:latin typeface="Arial"/>
              </a:rPr>
              <a:t>P_id</a:t>
            </a:r>
            <a:r>
              <a:rPr lang="en-US" sz="1600" b="1" dirty="0">
                <a:latin typeface="Arial"/>
              </a:rPr>
              <a:t>(Product Id)</a:t>
            </a:r>
            <a:endParaRPr lang="en-US" sz="1600" b="1" dirty="0">
              <a:latin typeface="Arial"/>
              <a:cs typeface="Arial"/>
            </a:endParaRPr>
          </a:p>
          <a:p>
            <a:r>
              <a:rPr lang="en-US" sz="1600" b="1" dirty="0">
                <a:latin typeface="Arial"/>
              </a:rPr>
              <a:t>Description: - It Stores Ready Product Detail</a:t>
            </a:r>
            <a:endParaRPr lang="en-US" sz="1600" b="1" dirty="0">
              <a:latin typeface="Arial"/>
              <a:cs typeface="Arial"/>
            </a:endParaRPr>
          </a:p>
        </p:txBody>
      </p:sp>
    </p:spTree>
    <p:extLst>
      <p:ext uri="{BB962C8B-B14F-4D97-AF65-F5344CB8AC3E}">
        <p14:creationId xmlns:p14="http://schemas.microsoft.com/office/powerpoint/2010/main" val="1466949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97B5-F054-A073-EB67-C9E932C6AED0}"/>
              </a:ext>
            </a:extLst>
          </p:cNvPr>
          <p:cNvSpPr>
            <a:spLocks noGrp="1"/>
          </p:cNvSpPr>
          <p:nvPr>
            <p:ph type="title"/>
          </p:nvPr>
        </p:nvSpPr>
        <p:spPr>
          <a:xfrm>
            <a:off x="-3564" y="1488"/>
            <a:ext cx="5534167" cy="961623"/>
          </a:xfrm>
        </p:spPr>
        <p:txBody>
          <a:bodyPr/>
          <a:lstStyle/>
          <a:p>
            <a:pPr marL="342900" indent="-342900">
              <a:buFont typeface="Wingdings"/>
              <a:buChar char="Ø"/>
            </a:pPr>
            <a:r>
              <a:rPr lang="en-GB" sz="2400" b="1" dirty="0">
                <a:cs typeface="Calibri Light"/>
              </a:rPr>
              <a:t>Employee Table With Example:-</a:t>
            </a:r>
            <a:endParaRPr lang="en-GB" dirty="0">
              <a:cs typeface="Calibri Light" panose="020F0302020204030204"/>
            </a:endParaRPr>
          </a:p>
        </p:txBody>
      </p:sp>
      <p:graphicFrame>
        <p:nvGraphicFramePr>
          <p:cNvPr id="3" name="Table 5">
            <a:extLst>
              <a:ext uri="{FF2B5EF4-FFF2-40B4-BE49-F238E27FC236}">
                <a16:creationId xmlns:a16="http://schemas.microsoft.com/office/drawing/2014/main" id="{1D1DAE7F-2DDF-283F-B314-5CA9613B577D}"/>
              </a:ext>
            </a:extLst>
          </p:cNvPr>
          <p:cNvGraphicFramePr>
            <a:graphicFrameLocks noGrp="1"/>
          </p:cNvGraphicFramePr>
          <p:nvPr>
            <p:extLst>
              <p:ext uri="{D42A27DB-BD31-4B8C-83A1-F6EECF244321}">
                <p14:modId xmlns:p14="http://schemas.microsoft.com/office/powerpoint/2010/main" val="1675231348"/>
              </p:ext>
            </p:extLst>
          </p:nvPr>
        </p:nvGraphicFramePr>
        <p:xfrm>
          <a:off x="1763897" y="1650575"/>
          <a:ext cx="8168623" cy="2966720"/>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604396702"/>
                    </a:ext>
                  </a:extLst>
                </a:gridCol>
                <a:gridCol w="1181098">
                  <a:extLst>
                    <a:ext uri="{9D8B030D-6E8A-4147-A177-3AD203B41FA5}">
                      <a16:colId xmlns:a16="http://schemas.microsoft.com/office/drawing/2014/main" val="3909084277"/>
                    </a:ext>
                  </a:extLst>
                </a:gridCol>
                <a:gridCol w="1066799">
                  <a:extLst>
                    <a:ext uri="{9D8B030D-6E8A-4147-A177-3AD203B41FA5}">
                      <a16:colId xmlns:a16="http://schemas.microsoft.com/office/drawing/2014/main" val="1762753634"/>
                    </a:ext>
                  </a:extLst>
                </a:gridCol>
                <a:gridCol w="1435099">
                  <a:extLst>
                    <a:ext uri="{9D8B030D-6E8A-4147-A177-3AD203B41FA5}">
                      <a16:colId xmlns:a16="http://schemas.microsoft.com/office/drawing/2014/main" val="4120692480"/>
                    </a:ext>
                  </a:extLst>
                </a:gridCol>
                <a:gridCol w="2851901">
                  <a:extLst>
                    <a:ext uri="{9D8B030D-6E8A-4147-A177-3AD203B41FA5}">
                      <a16:colId xmlns:a16="http://schemas.microsoft.com/office/drawing/2014/main" val="2220928306"/>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1436876275"/>
                  </a:ext>
                </a:extLst>
              </a:tr>
              <a:tr h="370840">
                <a:tc>
                  <a:txBody>
                    <a:bodyPr/>
                    <a:lstStyle/>
                    <a:p>
                      <a:pPr algn="ctr"/>
                      <a:r>
                        <a:rPr lang="en-GB" dirty="0" err="1"/>
                        <a:t>E_id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Employee id</a:t>
                      </a:r>
                    </a:p>
                  </a:txBody>
                  <a:tcPr/>
                </a:tc>
                <a:extLst>
                  <a:ext uri="{0D108BD9-81ED-4DB2-BD59-A6C34878D82A}">
                    <a16:rowId xmlns:a16="http://schemas.microsoft.com/office/drawing/2014/main" val="4145004569"/>
                  </a:ext>
                </a:extLst>
              </a:tr>
              <a:tr h="370840">
                <a:tc>
                  <a:txBody>
                    <a:bodyPr/>
                    <a:lstStyle/>
                    <a:p>
                      <a:pPr algn="ctr"/>
                      <a:r>
                        <a:rPr lang="en-GB" dirty="0" err="1"/>
                        <a:t>E_name</a:t>
                      </a:r>
                    </a:p>
                  </a:txBody>
                  <a:tcPr/>
                </a:tc>
                <a:tc>
                  <a:txBody>
                    <a:bodyPr/>
                    <a:lstStyle/>
                    <a:p>
                      <a:pPr algn="ctr"/>
                      <a:r>
                        <a:rPr lang="en-GB" dirty="0"/>
                        <a:t>varchar</a:t>
                      </a:r>
                    </a:p>
                  </a:txBody>
                  <a:tcPr/>
                </a:tc>
                <a:tc>
                  <a:txBody>
                    <a:bodyPr/>
                    <a:lstStyle/>
                    <a:p>
                      <a:pPr algn="ctr"/>
                      <a:r>
                        <a:rPr lang="en-GB" dirty="0"/>
                        <a:t>20</a:t>
                      </a:r>
                    </a:p>
                  </a:txBody>
                  <a:tcPr/>
                </a:tc>
                <a:tc>
                  <a:txBody>
                    <a:bodyPr/>
                    <a:lstStyle/>
                    <a:p>
                      <a:pPr algn="ctr"/>
                      <a:r>
                        <a:rPr lang="en-GB" dirty="0"/>
                        <a:t>Not null</a:t>
                      </a:r>
                    </a:p>
                  </a:txBody>
                  <a:tcPr/>
                </a:tc>
                <a:tc>
                  <a:txBody>
                    <a:bodyPr/>
                    <a:lstStyle/>
                    <a:p>
                      <a:pPr algn="ctr"/>
                      <a:r>
                        <a:rPr lang="en-GB" dirty="0"/>
                        <a:t>Store Employee name</a:t>
                      </a:r>
                    </a:p>
                  </a:txBody>
                  <a:tcPr/>
                </a:tc>
                <a:extLst>
                  <a:ext uri="{0D108BD9-81ED-4DB2-BD59-A6C34878D82A}">
                    <a16:rowId xmlns:a16="http://schemas.microsoft.com/office/drawing/2014/main" val="3021012419"/>
                  </a:ext>
                </a:extLst>
              </a:tr>
              <a:tr h="370840">
                <a:tc>
                  <a:txBody>
                    <a:bodyPr/>
                    <a:lstStyle/>
                    <a:p>
                      <a:pPr algn="ctr"/>
                      <a:r>
                        <a:rPr lang="en-GB" dirty="0" err="1"/>
                        <a:t>J_date</a:t>
                      </a:r>
                    </a:p>
                  </a:txBody>
                  <a:tcPr/>
                </a:tc>
                <a:tc>
                  <a:txBody>
                    <a:bodyPr/>
                    <a:lstStyle/>
                    <a:p>
                      <a:pPr algn="ctr"/>
                      <a:r>
                        <a:rPr lang="en-GB" dirty="0"/>
                        <a:t>Date</a:t>
                      </a:r>
                    </a:p>
                  </a:txBody>
                  <a:tcPr/>
                </a:tc>
                <a:tc>
                  <a:txBody>
                    <a:bodyPr/>
                    <a:lstStyle/>
                    <a:p>
                      <a:pPr algn="ctr"/>
                      <a:r>
                        <a:rPr lang="en-GB" dirty="0"/>
                        <a:t>10</a:t>
                      </a:r>
                    </a:p>
                  </a:txBody>
                  <a:tcPr/>
                </a:tc>
                <a:tc>
                  <a:txBody>
                    <a:bodyPr/>
                    <a:lstStyle/>
                    <a:p>
                      <a:pPr algn="ctr"/>
                      <a:r>
                        <a:rPr lang="en-GB" dirty="0"/>
                        <a:t>Null</a:t>
                      </a:r>
                    </a:p>
                  </a:txBody>
                  <a:tcPr/>
                </a:tc>
                <a:tc>
                  <a:txBody>
                    <a:bodyPr/>
                    <a:lstStyle/>
                    <a:p>
                      <a:pPr algn="ctr"/>
                      <a:r>
                        <a:rPr lang="en-GB" dirty="0"/>
                        <a:t>Store Join Date Of Employee</a:t>
                      </a:r>
                    </a:p>
                  </a:txBody>
                  <a:tcPr/>
                </a:tc>
                <a:extLst>
                  <a:ext uri="{0D108BD9-81ED-4DB2-BD59-A6C34878D82A}">
                    <a16:rowId xmlns:a16="http://schemas.microsoft.com/office/drawing/2014/main" val="3975845620"/>
                  </a:ext>
                </a:extLst>
              </a:tr>
              <a:tr h="370840">
                <a:tc>
                  <a:txBody>
                    <a:bodyPr/>
                    <a:lstStyle/>
                    <a:p>
                      <a:pPr algn="ctr"/>
                      <a:r>
                        <a:rPr lang="en-GB" dirty="0" err="1"/>
                        <a:t>E_Email</a:t>
                      </a:r>
                      <a:r>
                        <a:rPr lang="en-GB" dirty="0"/>
                        <a:t> id</a:t>
                      </a:r>
                    </a:p>
                  </a:txBody>
                  <a:tcPr/>
                </a:tc>
                <a:tc>
                  <a:txBody>
                    <a:bodyPr/>
                    <a:lstStyle/>
                    <a:p>
                      <a:pPr algn="ctr"/>
                      <a:r>
                        <a:rPr lang="en-GB" dirty="0"/>
                        <a:t>varchar</a:t>
                      </a:r>
                    </a:p>
                  </a:txBody>
                  <a:tcPr/>
                </a:tc>
                <a:tc>
                  <a:txBody>
                    <a:bodyPr/>
                    <a:lstStyle/>
                    <a:p>
                      <a:pPr algn="ctr"/>
                      <a:r>
                        <a:rPr lang="en-GB" dirty="0"/>
                        <a:t>50</a:t>
                      </a:r>
                    </a:p>
                  </a:txBody>
                  <a:tcPr/>
                </a:tc>
                <a:tc>
                  <a:txBody>
                    <a:bodyPr/>
                    <a:lstStyle/>
                    <a:p>
                      <a:pPr algn="ctr"/>
                      <a:r>
                        <a:rPr lang="en-GB" dirty="0"/>
                        <a:t>Not null</a:t>
                      </a:r>
                    </a:p>
                  </a:txBody>
                  <a:tcPr/>
                </a:tc>
                <a:tc>
                  <a:txBody>
                    <a:bodyPr/>
                    <a:lstStyle/>
                    <a:p>
                      <a:pPr algn="ctr"/>
                      <a:r>
                        <a:rPr lang="en-GB" dirty="0"/>
                        <a:t>Store Employee Email id</a:t>
                      </a:r>
                    </a:p>
                  </a:txBody>
                  <a:tcPr/>
                </a:tc>
                <a:extLst>
                  <a:ext uri="{0D108BD9-81ED-4DB2-BD59-A6C34878D82A}">
                    <a16:rowId xmlns:a16="http://schemas.microsoft.com/office/drawing/2014/main" val="2309340954"/>
                  </a:ext>
                </a:extLst>
              </a:tr>
              <a:tr h="370840">
                <a:tc>
                  <a:txBody>
                    <a:bodyPr/>
                    <a:lstStyle/>
                    <a:p>
                      <a:pPr algn="ctr"/>
                      <a:r>
                        <a:rPr lang="en-GB" dirty="0" err="1"/>
                        <a:t>E_contact</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Employee Contact no</a:t>
                      </a:r>
                    </a:p>
                  </a:txBody>
                  <a:tcPr/>
                </a:tc>
                <a:extLst>
                  <a:ext uri="{0D108BD9-81ED-4DB2-BD59-A6C34878D82A}">
                    <a16:rowId xmlns:a16="http://schemas.microsoft.com/office/drawing/2014/main" val="185824934"/>
                  </a:ext>
                </a:extLst>
              </a:tr>
              <a:tr h="370840">
                <a:tc>
                  <a:txBody>
                    <a:bodyPr/>
                    <a:lstStyle/>
                    <a:p>
                      <a:pPr algn="ctr"/>
                      <a:r>
                        <a:rPr lang="en-GB" dirty="0" err="1"/>
                        <a:t>E_Address</a:t>
                      </a:r>
                    </a:p>
                  </a:txBody>
                  <a:tcPr/>
                </a:tc>
                <a:tc>
                  <a:txBody>
                    <a:bodyPr/>
                    <a:lstStyle/>
                    <a:p>
                      <a:pPr algn="ctr"/>
                      <a:r>
                        <a:rPr lang="en-GB" dirty="0"/>
                        <a:t>varchar</a:t>
                      </a:r>
                    </a:p>
                  </a:txBody>
                  <a:tcPr/>
                </a:tc>
                <a:tc>
                  <a:txBody>
                    <a:bodyPr/>
                    <a:lstStyle/>
                    <a:p>
                      <a:pPr algn="ctr"/>
                      <a:r>
                        <a:rPr lang="en-GB" dirty="0"/>
                        <a:t>100</a:t>
                      </a:r>
                    </a:p>
                  </a:txBody>
                  <a:tcPr/>
                </a:tc>
                <a:tc>
                  <a:txBody>
                    <a:bodyPr/>
                    <a:lstStyle/>
                    <a:p>
                      <a:pPr algn="ctr"/>
                      <a:r>
                        <a:rPr lang="en-GB" dirty="0"/>
                        <a:t>Not null</a:t>
                      </a:r>
                    </a:p>
                  </a:txBody>
                  <a:tcPr/>
                </a:tc>
                <a:tc>
                  <a:txBody>
                    <a:bodyPr/>
                    <a:lstStyle/>
                    <a:p>
                      <a:pPr algn="ctr"/>
                      <a:r>
                        <a:rPr lang="en-GB" dirty="0"/>
                        <a:t>Store Employee Address</a:t>
                      </a:r>
                    </a:p>
                  </a:txBody>
                  <a:tcPr/>
                </a:tc>
                <a:extLst>
                  <a:ext uri="{0D108BD9-81ED-4DB2-BD59-A6C34878D82A}">
                    <a16:rowId xmlns:a16="http://schemas.microsoft.com/office/drawing/2014/main" val="1890883559"/>
                  </a:ext>
                </a:extLst>
              </a:tr>
              <a:tr h="370840">
                <a:tc>
                  <a:txBody>
                    <a:bodyPr/>
                    <a:lstStyle/>
                    <a:p>
                      <a:pPr algn="ctr"/>
                      <a:r>
                        <a:rPr lang="en-GB" dirty="0" err="1"/>
                        <a:t>E_city</a:t>
                      </a:r>
                    </a:p>
                  </a:txBody>
                  <a:tcPr/>
                </a:tc>
                <a:tc>
                  <a:txBody>
                    <a:bodyPr/>
                    <a:lstStyle/>
                    <a:p>
                      <a:pPr algn="ctr"/>
                      <a:r>
                        <a:rPr lang="en-GB" dirty="0"/>
                        <a:t>varchar</a:t>
                      </a:r>
                    </a:p>
                  </a:txBody>
                  <a:tcPr/>
                </a:tc>
                <a:tc>
                  <a:txBody>
                    <a:bodyPr/>
                    <a:lstStyle/>
                    <a:p>
                      <a:pPr algn="ctr"/>
                      <a:r>
                        <a:rPr lang="en-GB" dirty="0"/>
                        <a:t>20</a:t>
                      </a:r>
                    </a:p>
                  </a:txBody>
                  <a:tcPr/>
                </a:tc>
                <a:tc>
                  <a:txBody>
                    <a:bodyPr/>
                    <a:lstStyle/>
                    <a:p>
                      <a:pPr algn="ctr"/>
                      <a:r>
                        <a:rPr lang="en-GB" dirty="0"/>
                        <a:t>Not null</a:t>
                      </a:r>
                    </a:p>
                  </a:txBody>
                  <a:tcPr/>
                </a:tc>
                <a:tc>
                  <a:txBody>
                    <a:bodyPr/>
                    <a:lstStyle/>
                    <a:p>
                      <a:pPr algn="ctr"/>
                      <a:r>
                        <a:rPr lang="en-GB" dirty="0"/>
                        <a:t>Store Employee City</a:t>
                      </a:r>
                    </a:p>
                  </a:txBody>
                  <a:tcPr/>
                </a:tc>
                <a:extLst>
                  <a:ext uri="{0D108BD9-81ED-4DB2-BD59-A6C34878D82A}">
                    <a16:rowId xmlns:a16="http://schemas.microsoft.com/office/drawing/2014/main" val="1412548903"/>
                  </a:ext>
                </a:extLst>
              </a:tr>
            </a:tbl>
          </a:graphicData>
        </a:graphic>
      </p:graphicFrame>
      <p:graphicFrame>
        <p:nvGraphicFramePr>
          <p:cNvPr id="6" name="Table 6">
            <a:extLst>
              <a:ext uri="{FF2B5EF4-FFF2-40B4-BE49-F238E27FC236}">
                <a16:creationId xmlns:a16="http://schemas.microsoft.com/office/drawing/2014/main" id="{668DA4B2-0B64-168F-F057-7FB3B72979C3}"/>
              </a:ext>
            </a:extLst>
          </p:cNvPr>
          <p:cNvGraphicFramePr>
            <a:graphicFrameLocks noGrp="1"/>
          </p:cNvGraphicFramePr>
          <p:nvPr>
            <p:extLst>
              <p:ext uri="{D42A27DB-BD31-4B8C-83A1-F6EECF244321}">
                <p14:modId xmlns:p14="http://schemas.microsoft.com/office/powerpoint/2010/main" val="1253987102"/>
              </p:ext>
            </p:extLst>
          </p:nvPr>
        </p:nvGraphicFramePr>
        <p:xfrm>
          <a:off x="1389494" y="4733756"/>
          <a:ext cx="9342659" cy="1700232"/>
        </p:xfrm>
        <a:graphic>
          <a:graphicData uri="http://schemas.openxmlformats.org/drawingml/2006/table">
            <a:tbl>
              <a:tblPr firstRow="1" bandRow="1">
                <a:tableStyleId>{5C22544A-7EE6-4342-B048-85BDC9FD1C3A}</a:tableStyleId>
              </a:tblPr>
              <a:tblGrid>
                <a:gridCol w="627649">
                  <a:extLst>
                    <a:ext uri="{9D8B030D-6E8A-4147-A177-3AD203B41FA5}">
                      <a16:colId xmlns:a16="http://schemas.microsoft.com/office/drawing/2014/main" val="3592830671"/>
                    </a:ext>
                  </a:extLst>
                </a:gridCol>
                <a:gridCol w="977898">
                  <a:extLst>
                    <a:ext uri="{9D8B030D-6E8A-4147-A177-3AD203B41FA5}">
                      <a16:colId xmlns:a16="http://schemas.microsoft.com/office/drawing/2014/main" val="2864735448"/>
                    </a:ext>
                  </a:extLst>
                </a:gridCol>
                <a:gridCol w="1308100">
                  <a:extLst>
                    <a:ext uri="{9D8B030D-6E8A-4147-A177-3AD203B41FA5}">
                      <a16:colId xmlns:a16="http://schemas.microsoft.com/office/drawing/2014/main" val="2697444029"/>
                    </a:ext>
                  </a:extLst>
                </a:gridCol>
                <a:gridCol w="2476499">
                  <a:extLst>
                    <a:ext uri="{9D8B030D-6E8A-4147-A177-3AD203B41FA5}">
                      <a16:colId xmlns:a16="http://schemas.microsoft.com/office/drawing/2014/main" val="409656869"/>
                    </a:ext>
                  </a:extLst>
                </a:gridCol>
                <a:gridCol w="1375012">
                  <a:extLst>
                    <a:ext uri="{9D8B030D-6E8A-4147-A177-3AD203B41FA5}">
                      <a16:colId xmlns:a16="http://schemas.microsoft.com/office/drawing/2014/main" val="2642587070"/>
                    </a:ext>
                  </a:extLst>
                </a:gridCol>
                <a:gridCol w="1201226">
                  <a:extLst>
                    <a:ext uri="{9D8B030D-6E8A-4147-A177-3AD203B41FA5}">
                      <a16:colId xmlns:a16="http://schemas.microsoft.com/office/drawing/2014/main" val="3200662516"/>
                    </a:ext>
                  </a:extLst>
                </a:gridCol>
                <a:gridCol w="1376275">
                  <a:extLst>
                    <a:ext uri="{9D8B030D-6E8A-4147-A177-3AD203B41FA5}">
                      <a16:colId xmlns:a16="http://schemas.microsoft.com/office/drawing/2014/main" val="2893839026"/>
                    </a:ext>
                  </a:extLst>
                </a:gridCol>
              </a:tblGrid>
              <a:tr h="425058">
                <a:tc>
                  <a:txBody>
                    <a:bodyPr/>
                    <a:lstStyle/>
                    <a:p>
                      <a:pPr algn="ctr"/>
                      <a:r>
                        <a:rPr lang="en-GB" dirty="0" err="1"/>
                        <a:t>E_id</a:t>
                      </a:r>
                    </a:p>
                  </a:txBody>
                  <a:tcPr/>
                </a:tc>
                <a:tc>
                  <a:txBody>
                    <a:bodyPr/>
                    <a:lstStyle/>
                    <a:p>
                      <a:pPr algn="ctr"/>
                      <a:r>
                        <a:rPr lang="en-GB" dirty="0" err="1"/>
                        <a:t>E_name</a:t>
                      </a:r>
                    </a:p>
                  </a:txBody>
                  <a:tcPr/>
                </a:tc>
                <a:tc>
                  <a:txBody>
                    <a:bodyPr/>
                    <a:lstStyle/>
                    <a:p>
                      <a:pPr algn="ctr"/>
                      <a:r>
                        <a:rPr lang="en-GB" dirty="0" err="1"/>
                        <a:t>J_date</a:t>
                      </a:r>
                    </a:p>
                  </a:txBody>
                  <a:tcPr/>
                </a:tc>
                <a:tc>
                  <a:txBody>
                    <a:bodyPr/>
                    <a:lstStyle/>
                    <a:p>
                      <a:pPr algn="ctr"/>
                      <a:r>
                        <a:rPr lang="en-GB" dirty="0" err="1"/>
                        <a:t>E_Email</a:t>
                      </a:r>
                      <a:r>
                        <a:rPr lang="en-GB" dirty="0"/>
                        <a:t> id</a:t>
                      </a:r>
                    </a:p>
                  </a:txBody>
                  <a:tcPr/>
                </a:tc>
                <a:tc>
                  <a:txBody>
                    <a:bodyPr/>
                    <a:lstStyle/>
                    <a:p>
                      <a:pPr algn="ctr"/>
                      <a:r>
                        <a:rPr lang="en-GB" dirty="0" err="1"/>
                        <a:t>E_contact</a:t>
                      </a:r>
                    </a:p>
                  </a:txBody>
                  <a:tcPr/>
                </a:tc>
                <a:tc>
                  <a:txBody>
                    <a:bodyPr/>
                    <a:lstStyle/>
                    <a:p>
                      <a:pPr algn="ctr"/>
                      <a:r>
                        <a:rPr lang="en-GB" dirty="0" err="1"/>
                        <a:t>E_Address</a:t>
                      </a:r>
                    </a:p>
                  </a:txBody>
                  <a:tcPr/>
                </a:tc>
                <a:tc>
                  <a:txBody>
                    <a:bodyPr/>
                    <a:lstStyle/>
                    <a:p>
                      <a:pPr algn="ctr"/>
                      <a:r>
                        <a:rPr lang="en-GB" dirty="0" err="1"/>
                        <a:t>E_city</a:t>
                      </a:r>
                    </a:p>
                  </a:txBody>
                  <a:tcPr/>
                </a:tc>
                <a:extLst>
                  <a:ext uri="{0D108BD9-81ED-4DB2-BD59-A6C34878D82A}">
                    <a16:rowId xmlns:a16="http://schemas.microsoft.com/office/drawing/2014/main" val="2539607444"/>
                  </a:ext>
                </a:extLst>
              </a:tr>
              <a:tr h="425058">
                <a:tc>
                  <a:txBody>
                    <a:bodyPr/>
                    <a:lstStyle/>
                    <a:p>
                      <a:pPr algn="ctr"/>
                      <a:r>
                        <a:rPr lang="en-GB" dirty="0"/>
                        <a:t>1</a:t>
                      </a:r>
                    </a:p>
                  </a:txBody>
                  <a:tcPr/>
                </a:tc>
                <a:tc>
                  <a:txBody>
                    <a:bodyPr/>
                    <a:lstStyle/>
                    <a:p>
                      <a:pPr algn="ctr"/>
                      <a:r>
                        <a:rPr lang="en-GB" dirty="0"/>
                        <a:t>Rohit</a:t>
                      </a:r>
                    </a:p>
                  </a:txBody>
                  <a:tcPr/>
                </a:tc>
                <a:tc>
                  <a:txBody>
                    <a:bodyPr/>
                    <a:lstStyle/>
                    <a:p>
                      <a:pPr algn="ctr"/>
                      <a:r>
                        <a:rPr lang="en-GB" dirty="0"/>
                        <a:t>04/01/2022</a:t>
                      </a:r>
                    </a:p>
                  </a:txBody>
                  <a:tcPr/>
                </a:tc>
                <a:tc>
                  <a:txBody>
                    <a:bodyPr/>
                    <a:lstStyle/>
                    <a:p>
                      <a:pPr algn="ctr"/>
                      <a:r>
                        <a:rPr lang="en-GB" dirty="0"/>
                        <a:t>Rohit78912@gmail.com</a:t>
                      </a:r>
                    </a:p>
                  </a:txBody>
                  <a:tcPr/>
                </a:tc>
                <a:tc>
                  <a:txBody>
                    <a:bodyPr/>
                    <a:lstStyle/>
                    <a:p>
                      <a:pPr algn="ctr"/>
                      <a:r>
                        <a:rPr lang="en-GB" dirty="0"/>
                        <a:t>9152578892</a:t>
                      </a:r>
                    </a:p>
                  </a:txBody>
                  <a:tcPr/>
                </a:tc>
                <a:tc>
                  <a:txBody>
                    <a:bodyPr/>
                    <a:lstStyle/>
                    <a:p>
                      <a:pPr algn="ctr"/>
                      <a:r>
                        <a:rPr lang="en-GB" dirty="0" err="1"/>
                        <a:t>Maninagar</a:t>
                      </a:r>
                    </a:p>
                  </a:txBody>
                  <a:tcPr/>
                </a:tc>
                <a:tc>
                  <a:txBody>
                    <a:bodyPr/>
                    <a:lstStyle/>
                    <a:p>
                      <a:pPr algn="ctr"/>
                      <a:r>
                        <a:rPr lang="en-GB" dirty="0"/>
                        <a:t>Ahmedabad</a:t>
                      </a:r>
                    </a:p>
                  </a:txBody>
                  <a:tcPr/>
                </a:tc>
                <a:extLst>
                  <a:ext uri="{0D108BD9-81ED-4DB2-BD59-A6C34878D82A}">
                    <a16:rowId xmlns:a16="http://schemas.microsoft.com/office/drawing/2014/main" val="1192236070"/>
                  </a:ext>
                </a:extLst>
              </a:tr>
              <a:tr h="425058">
                <a:tc>
                  <a:txBody>
                    <a:bodyPr/>
                    <a:lstStyle/>
                    <a:p>
                      <a:pPr algn="ctr"/>
                      <a:r>
                        <a:rPr lang="en-GB" dirty="0"/>
                        <a:t>2</a:t>
                      </a:r>
                    </a:p>
                  </a:txBody>
                  <a:tcPr/>
                </a:tc>
                <a:tc>
                  <a:txBody>
                    <a:bodyPr/>
                    <a:lstStyle/>
                    <a:p>
                      <a:pPr algn="ctr"/>
                      <a:r>
                        <a:rPr lang="en-GB" dirty="0"/>
                        <a:t>Mahesh</a:t>
                      </a:r>
                    </a:p>
                  </a:txBody>
                  <a:tcPr/>
                </a:tc>
                <a:tc>
                  <a:txBody>
                    <a:bodyPr/>
                    <a:lstStyle/>
                    <a:p>
                      <a:pPr algn="ctr"/>
                      <a:r>
                        <a:rPr lang="en-GB" dirty="0"/>
                        <a:t>06/02/2022</a:t>
                      </a:r>
                    </a:p>
                  </a:txBody>
                  <a:tcPr/>
                </a:tc>
                <a:tc>
                  <a:txBody>
                    <a:bodyPr/>
                    <a:lstStyle/>
                    <a:p>
                      <a:pPr algn="ctr"/>
                      <a:r>
                        <a:rPr lang="en-GB" dirty="0"/>
                        <a:t>Mahesh78@gmail.com</a:t>
                      </a:r>
                    </a:p>
                  </a:txBody>
                  <a:tcPr/>
                </a:tc>
                <a:tc>
                  <a:txBody>
                    <a:bodyPr/>
                    <a:lstStyle/>
                    <a:p>
                      <a:pPr algn="ctr"/>
                      <a:r>
                        <a:rPr lang="en-GB" dirty="0"/>
                        <a:t>8819283789</a:t>
                      </a:r>
                    </a:p>
                  </a:txBody>
                  <a:tcPr/>
                </a:tc>
                <a:tc>
                  <a:txBody>
                    <a:bodyPr/>
                    <a:lstStyle/>
                    <a:p>
                      <a:pPr algn="ctr"/>
                      <a:r>
                        <a:rPr lang="en-GB" dirty="0" err="1"/>
                        <a:t>Odhav</a:t>
                      </a:r>
                    </a:p>
                  </a:txBody>
                  <a:tcPr/>
                </a:tc>
                <a:tc>
                  <a:txBody>
                    <a:bodyPr/>
                    <a:lstStyle/>
                    <a:p>
                      <a:pPr lvl="0" algn="ctr">
                        <a:buNone/>
                      </a:pPr>
                      <a:r>
                        <a:rPr lang="en-GB" sz="1800" b="0" i="0" u="none" strike="noStrike" noProof="0" dirty="0">
                          <a:latin typeface="Calibri"/>
                        </a:rPr>
                        <a:t>Ahmedabad</a:t>
                      </a:r>
                      <a:endParaRPr lang="en-US" dirty="0"/>
                    </a:p>
                  </a:txBody>
                  <a:tcPr/>
                </a:tc>
                <a:extLst>
                  <a:ext uri="{0D108BD9-81ED-4DB2-BD59-A6C34878D82A}">
                    <a16:rowId xmlns:a16="http://schemas.microsoft.com/office/drawing/2014/main" val="1435404268"/>
                  </a:ext>
                </a:extLst>
              </a:tr>
              <a:tr h="425058">
                <a:tc>
                  <a:txBody>
                    <a:bodyPr/>
                    <a:lstStyle/>
                    <a:p>
                      <a:pPr algn="ctr"/>
                      <a:r>
                        <a:rPr lang="en-GB" dirty="0"/>
                        <a:t>3</a:t>
                      </a:r>
                    </a:p>
                  </a:txBody>
                  <a:tcPr/>
                </a:tc>
                <a:tc>
                  <a:txBody>
                    <a:bodyPr/>
                    <a:lstStyle/>
                    <a:p>
                      <a:pPr algn="ctr"/>
                      <a:r>
                        <a:rPr lang="en-GB" dirty="0"/>
                        <a:t>Suresh</a:t>
                      </a:r>
                    </a:p>
                  </a:txBody>
                  <a:tcPr/>
                </a:tc>
                <a:tc>
                  <a:txBody>
                    <a:bodyPr/>
                    <a:lstStyle/>
                    <a:p>
                      <a:pPr algn="ctr"/>
                      <a:r>
                        <a:rPr lang="en-GB" dirty="0"/>
                        <a:t>10/07/2022</a:t>
                      </a:r>
                    </a:p>
                  </a:txBody>
                  <a:tcPr/>
                </a:tc>
                <a:tc>
                  <a:txBody>
                    <a:bodyPr/>
                    <a:lstStyle/>
                    <a:p>
                      <a:pPr algn="ctr"/>
                      <a:r>
                        <a:rPr lang="en-GB" dirty="0"/>
                        <a:t>Suresh912@gmail.com</a:t>
                      </a:r>
                    </a:p>
                  </a:txBody>
                  <a:tcPr/>
                </a:tc>
                <a:tc>
                  <a:txBody>
                    <a:bodyPr/>
                    <a:lstStyle/>
                    <a:p>
                      <a:pPr algn="ctr"/>
                      <a:r>
                        <a:rPr lang="en-GB" dirty="0"/>
                        <a:t>9818282568</a:t>
                      </a:r>
                    </a:p>
                  </a:txBody>
                  <a:tcPr/>
                </a:tc>
                <a:tc>
                  <a:txBody>
                    <a:bodyPr/>
                    <a:lstStyle/>
                    <a:p>
                      <a:pPr algn="ctr"/>
                      <a:r>
                        <a:rPr lang="en-GB" dirty="0" err="1"/>
                        <a:t>Vatva</a:t>
                      </a:r>
                    </a:p>
                  </a:txBody>
                  <a:tcPr/>
                </a:tc>
                <a:tc>
                  <a:txBody>
                    <a:bodyPr/>
                    <a:lstStyle/>
                    <a:p>
                      <a:pPr lvl="0" algn="ctr">
                        <a:buNone/>
                      </a:pPr>
                      <a:r>
                        <a:rPr lang="en-GB" sz="1800" b="0" i="0" u="none" strike="noStrike" noProof="0" dirty="0">
                          <a:latin typeface="Calibri"/>
                        </a:rPr>
                        <a:t>Ahmedabad</a:t>
                      </a:r>
                      <a:endParaRPr lang="en-US" dirty="0"/>
                    </a:p>
                  </a:txBody>
                  <a:tcPr/>
                </a:tc>
                <a:extLst>
                  <a:ext uri="{0D108BD9-81ED-4DB2-BD59-A6C34878D82A}">
                    <a16:rowId xmlns:a16="http://schemas.microsoft.com/office/drawing/2014/main" val="3089978716"/>
                  </a:ext>
                </a:extLst>
              </a:tr>
            </a:tbl>
          </a:graphicData>
        </a:graphic>
      </p:graphicFrame>
      <p:sp>
        <p:nvSpPr>
          <p:cNvPr id="4" name="TextBox 3">
            <a:extLst>
              <a:ext uri="{FF2B5EF4-FFF2-40B4-BE49-F238E27FC236}">
                <a16:creationId xmlns:a16="http://schemas.microsoft.com/office/drawing/2014/main" id="{F75E7AEB-0C4D-7DDA-F11A-0E596A241084}"/>
              </a:ext>
            </a:extLst>
          </p:cNvPr>
          <p:cNvSpPr txBox="1"/>
          <p:nvPr/>
        </p:nvSpPr>
        <p:spPr>
          <a:xfrm>
            <a:off x="1676400" y="766549"/>
            <a:ext cx="403973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13.Employee Table: -</a:t>
            </a:r>
          </a:p>
          <a:p>
            <a:r>
              <a:rPr lang="en-US" sz="1600" b="1" dirty="0">
                <a:latin typeface="Arial"/>
                <a:cs typeface="Arial"/>
              </a:rPr>
              <a:t>Primary Key: - </a:t>
            </a:r>
            <a:r>
              <a:rPr lang="en-US" sz="1600" b="1" dirty="0" err="1">
                <a:latin typeface="Arial"/>
                <a:cs typeface="Arial"/>
              </a:rPr>
              <a:t>E_id</a:t>
            </a:r>
            <a:r>
              <a:rPr lang="en-US" sz="1600" b="1" dirty="0">
                <a:latin typeface="Arial"/>
                <a:cs typeface="Arial"/>
              </a:rPr>
              <a:t>(Employee Id)</a:t>
            </a:r>
          </a:p>
          <a:p>
            <a:r>
              <a:rPr lang="en-US" sz="1600" b="1" dirty="0">
                <a:latin typeface="Arial"/>
                <a:cs typeface="Arial"/>
              </a:rPr>
              <a:t>Description: - It Stores Employee Detail</a:t>
            </a:r>
          </a:p>
        </p:txBody>
      </p:sp>
    </p:spTree>
    <p:extLst>
      <p:ext uri="{BB962C8B-B14F-4D97-AF65-F5344CB8AC3E}">
        <p14:creationId xmlns:p14="http://schemas.microsoft.com/office/powerpoint/2010/main" val="2072192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C505-C9D7-7CB2-8A83-3DCA9754F56E}"/>
              </a:ext>
            </a:extLst>
          </p:cNvPr>
          <p:cNvSpPr>
            <a:spLocks noGrp="1"/>
          </p:cNvSpPr>
          <p:nvPr>
            <p:ph type="title"/>
          </p:nvPr>
        </p:nvSpPr>
        <p:spPr>
          <a:xfrm>
            <a:off x="4313" y="5691"/>
            <a:ext cx="6331789" cy="1081148"/>
          </a:xfrm>
        </p:spPr>
        <p:txBody>
          <a:bodyPr/>
          <a:lstStyle/>
          <a:p>
            <a:pPr marL="342900" indent="-342900">
              <a:buFont typeface="Wingdings"/>
              <a:buChar char="Ø"/>
            </a:pPr>
            <a:r>
              <a:rPr lang="en-GB" sz="2400" b="1" dirty="0">
                <a:ea typeface="Calibri Light"/>
                <a:cs typeface="Calibri Light"/>
              </a:rPr>
              <a:t>Purchase Order Table With Example:-</a:t>
            </a:r>
            <a:endParaRPr lang="en-GB" b="1" dirty="0">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AAEAD608-7A73-4FBD-0EF4-04EA8B58A817}"/>
              </a:ext>
            </a:extLst>
          </p:cNvPr>
          <p:cNvGraphicFramePr>
            <a:graphicFrameLocks noGrp="1"/>
          </p:cNvGraphicFramePr>
          <p:nvPr>
            <p:extLst>
              <p:ext uri="{D42A27DB-BD31-4B8C-83A1-F6EECF244321}">
                <p14:modId xmlns:p14="http://schemas.microsoft.com/office/powerpoint/2010/main" val="3647182069"/>
              </p:ext>
            </p:extLst>
          </p:nvPr>
        </p:nvGraphicFramePr>
        <p:xfrm>
          <a:off x="1340880" y="2470620"/>
          <a:ext cx="9487658" cy="1854200"/>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3310275359"/>
                    </a:ext>
                  </a:extLst>
                </a:gridCol>
                <a:gridCol w="1633727">
                  <a:extLst>
                    <a:ext uri="{9D8B030D-6E8A-4147-A177-3AD203B41FA5}">
                      <a16:colId xmlns:a16="http://schemas.microsoft.com/office/drawing/2014/main" val="3531965033"/>
                    </a:ext>
                  </a:extLst>
                </a:gridCol>
                <a:gridCol w="1633727">
                  <a:extLst>
                    <a:ext uri="{9D8B030D-6E8A-4147-A177-3AD203B41FA5}">
                      <a16:colId xmlns:a16="http://schemas.microsoft.com/office/drawing/2014/main" val="1312702717"/>
                    </a:ext>
                  </a:extLst>
                </a:gridCol>
                <a:gridCol w="1633727">
                  <a:extLst>
                    <a:ext uri="{9D8B030D-6E8A-4147-A177-3AD203B41FA5}">
                      <a16:colId xmlns:a16="http://schemas.microsoft.com/office/drawing/2014/main" val="1563029982"/>
                    </a:ext>
                  </a:extLst>
                </a:gridCol>
                <a:gridCol w="2952750">
                  <a:extLst>
                    <a:ext uri="{9D8B030D-6E8A-4147-A177-3AD203B41FA5}">
                      <a16:colId xmlns:a16="http://schemas.microsoft.com/office/drawing/2014/main" val="2970136774"/>
                    </a:ext>
                  </a:extLst>
                </a:gridCol>
              </a:tblGrid>
              <a:tr h="370840">
                <a:tc>
                  <a:txBody>
                    <a:bodyPr/>
                    <a:lstStyle/>
                    <a:p>
                      <a:pPr lvl="0" algn="ctr">
                        <a:buNone/>
                      </a:pPr>
                      <a:r>
                        <a:rPr lang="en-GB"/>
                        <a:t>Fieldname</a:t>
                      </a:r>
                      <a:endParaRPr lang="en-US"/>
                    </a:p>
                  </a:txBody>
                  <a:tcPr/>
                </a:tc>
                <a:tc>
                  <a:txBody>
                    <a:bodyPr/>
                    <a:lstStyle/>
                    <a:p>
                      <a:pPr lvl="0" algn="ctr">
                        <a:buNone/>
                      </a:pPr>
                      <a:r>
                        <a:rPr lang="en-GB"/>
                        <a:t>Datatype</a:t>
                      </a:r>
                      <a:endParaRPr lang="en-US"/>
                    </a:p>
                  </a:txBody>
                  <a:tcPr/>
                </a:tc>
                <a:tc>
                  <a:txBody>
                    <a:bodyPr/>
                    <a:lstStyle/>
                    <a:p>
                      <a:pPr lvl="0" algn="ctr">
                        <a:buNone/>
                      </a:pPr>
                      <a:r>
                        <a:rPr lang="en-GB"/>
                        <a:t>Size</a:t>
                      </a:r>
                      <a:endParaRPr lang="en-US"/>
                    </a:p>
                  </a:txBody>
                  <a:tcPr/>
                </a:tc>
                <a:tc>
                  <a:txBody>
                    <a:bodyPr/>
                    <a:lstStyle/>
                    <a:p>
                      <a:pPr lvl="0" algn="ctr">
                        <a:buNone/>
                      </a:pPr>
                      <a:r>
                        <a:rPr lang="en-GB"/>
                        <a:t>Constraint</a:t>
                      </a:r>
                      <a:endParaRPr lang="en-US"/>
                    </a:p>
                  </a:txBody>
                  <a:tcPr/>
                </a:tc>
                <a:tc>
                  <a:txBody>
                    <a:bodyPr/>
                    <a:lstStyle/>
                    <a:p>
                      <a:pPr lvl="0" algn="ctr">
                        <a:buNone/>
                      </a:pPr>
                      <a:r>
                        <a:rPr lang="en-GB"/>
                        <a:t>Description</a:t>
                      </a:r>
                      <a:endParaRPr lang="en-US"/>
                    </a:p>
                  </a:txBody>
                  <a:tcPr/>
                </a:tc>
                <a:extLst>
                  <a:ext uri="{0D108BD9-81ED-4DB2-BD59-A6C34878D82A}">
                    <a16:rowId xmlns:a16="http://schemas.microsoft.com/office/drawing/2014/main" val="1172774751"/>
                  </a:ext>
                </a:extLst>
              </a:tr>
              <a:tr h="370840">
                <a:tc>
                  <a:txBody>
                    <a:bodyPr/>
                    <a:lstStyle/>
                    <a:p>
                      <a:pPr algn="ctr"/>
                      <a:r>
                        <a:rPr lang="en-GB" err="1"/>
                        <a:t>Po_id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Purchase order id</a:t>
                      </a:r>
                    </a:p>
                  </a:txBody>
                  <a:tcPr/>
                </a:tc>
                <a:extLst>
                  <a:ext uri="{0D108BD9-81ED-4DB2-BD59-A6C34878D82A}">
                    <a16:rowId xmlns:a16="http://schemas.microsoft.com/office/drawing/2014/main" val="5720565"/>
                  </a:ext>
                </a:extLst>
              </a:tr>
              <a:tr h="370840">
                <a:tc>
                  <a:txBody>
                    <a:bodyPr/>
                    <a:lstStyle/>
                    <a:p>
                      <a:pPr algn="ctr"/>
                      <a:r>
                        <a:rPr lang="en-GB" err="1"/>
                        <a:t>Supplier_id</a:t>
                      </a:r>
                    </a:p>
                  </a:txBody>
                  <a:tcPr/>
                </a:tc>
                <a:tc>
                  <a:txBody>
                    <a:bodyPr/>
                    <a:lstStyle/>
                    <a:p>
                      <a:pPr algn="ctr"/>
                      <a:r>
                        <a:rPr lang="en-GB"/>
                        <a:t>int</a:t>
                      </a:r>
                      <a:endParaRPr lang="en-GB" dirty="0"/>
                    </a:p>
                  </a:txBody>
                  <a:tcPr/>
                </a:tc>
                <a:tc>
                  <a:txBody>
                    <a:bodyPr/>
                    <a:lstStyle/>
                    <a:p>
                      <a:pPr algn="ctr"/>
                      <a:r>
                        <a:rPr lang="en-GB"/>
                        <a:t>15</a:t>
                      </a:r>
                    </a:p>
                  </a:txBody>
                  <a:tcPr/>
                </a:tc>
                <a:tc>
                  <a:txBody>
                    <a:bodyPr/>
                    <a:lstStyle/>
                    <a:p>
                      <a:pPr algn="ctr"/>
                      <a:r>
                        <a:rPr lang="en-GB"/>
                        <a:t>F.K</a:t>
                      </a:r>
                      <a:endParaRPr lang="en-GB" dirty="0"/>
                    </a:p>
                  </a:txBody>
                  <a:tcPr/>
                </a:tc>
                <a:tc>
                  <a:txBody>
                    <a:bodyPr/>
                    <a:lstStyle/>
                    <a:p>
                      <a:pPr algn="ctr"/>
                      <a:r>
                        <a:rPr lang="en-GB"/>
                        <a:t>Store Supplier id</a:t>
                      </a:r>
                    </a:p>
                  </a:txBody>
                  <a:tcPr/>
                </a:tc>
                <a:extLst>
                  <a:ext uri="{0D108BD9-81ED-4DB2-BD59-A6C34878D82A}">
                    <a16:rowId xmlns:a16="http://schemas.microsoft.com/office/drawing/2014/main" val="3839118589"/>
                  </a:ext>
                </a:extLst>
              </a:tr>
              <a:tr h="370840">
                <a:tc>
                  <a:txBody>
                    <a:bodyPr/>
                    <a:lstStyle/>
                    <a:p>
                      <a:pPr algn="ctr"/>
                      <a:r>
                        <a:rPr lang="en-GB" err="1"/>
                        <a:t>Po_date</a:t>
                      </a:r>
                    </a:p>
                  </a:txBody>
                  <a:tcPr/>
                </a:tc>
                <a:tc>
                  <a:txBody>
                    <a:bodyPr/>
                    <a:lstStyle/>
                    <a:p>
                      <a:pPr algn="ctr"/>
                      <a:r>
                        <a:rPr lang="en-GB"/>
                        <a:t>date</a:t>
                      </a:r>
                    </a:p>
                  </a:txBody>
                  <a:tcPr/>
                </a:tc>
                <a:tc>
                  <a:txBody>
                    <a:bodyPr/>
                    <a:lstStyle/>
                    <a:p>
                      <a:pPr algn="ctr"/>
                      <a:r>
                        <a:rPr lang="en-GB"/>
                        <a:t>10</a:t>
                      </a:r>
                    </a:p>
                  </a:txBody>
                  <a:tcPr/>
                </a:tc>
                <a:tc>
                  <a:txBody>
                    <a:bodyPr/>
                    <a:lstStyle/>
                    <a:p>
                      <a:pPr algn="ctr"/>
                      <a:r>
                        <a:rPr lang="en-GB"/>
                        <a:t>Not null</a:t>
                      </a:r>
                    </a:p>
                  </a:txBody>
                  <a:tcPr/>
                </a:tc>
                <a:tc>
                  <a:txBody>
                    <a:bodyPr/>
                    <a:lstStyle/>
                    <a:p>
                      <a:pPr algn="ctr"/>
                      <a:r>
                        <a:rPr lang="en-GB"/>
                        <a:t>Store Purchase order date</a:t>
                      </a:r>
                    </a:p>
                  </a:txBody>
                  <a:tcPr/>
                </a:tc>
                <a:extLst>
                  <a:ext uri="{0D108BD9-81ED-4DB2-BD59-A6C34878D82A}">
                    <a16:rowId xmlns:a16="http://schemas.microsoft.com/office/drawing/2014/main" val="626340897"/>
                  </a:ext>
                </a:extLst>
              </a:tr>
              <a:tr h="370840">
                <a:tc>
                  <a:txBody>
                    <a:bodyPr/>
                    <a:lstStyle/>
                    <a:p>
                      <a:pPr algn="ctr"/>
                      <a:r>
                        <a:rPr lang="en-GB" err="1"/>
                        <a:t>Po_total</a:t>
                      </a:r>
                    </a:p>
                  </a:txBody>
                  <a:tcPr/>
                </a:tc>
                <a:tc>
                  <a:txBody>
                    <a:bodyPr/>
                    <a:lstStyle/>
                    <a:p>
                      <a:pPr algn="ctr"/>
                      <a:r>
                        <a:rPr lang="en-GB"/>
                        <a:t>varchar</a:t>
                      </a:r>
                    </a:p>
                  </a:txBody>
                  <a:tcPr/>
                </a:tc>
                <a:tc>
                  <a:txBody>
                    <a:bodyPr/>
                    <a:lstStyle/>
                    <a:p>
                      <a:pPr algn="ctr"/>
                      <a:r>
                        <a:rPr lang="en-GB"/>
                        <a:t>30</a:t>
                      </a:r>
                    </a:p>
                  </a:txBody>
                  <a:tcPr/>
                </a:tc>
                <a:tc>
                  <a:txBody>
                    <a:bodyPr/>
                    <a:lstStyle/>
                    <a:p>
                      <a:pPr algn="ctr"/>
                      <a:r>
                        <a:rPr lang="en-GB"/>
                        <a:t>Not null</a:t>
                      </a:r>
                    </a:p>
                  </a:txBody>
                  <a:tcPr/>
                </a:tc>
                <a:tc>
                  <a:txBody>
                    <a:bodyPr/>
                    <a:lstStyle/>
                    <a:p>
                      <a:pPr algn="ctr"/>
                      <a:r>
                        <a:rPr lang="en-GB"/>
                        <a:t>Store purchase order total</a:t>
                      </a:r>
                    </a:p>
                  </a:txBody>
                  <a:tcPr/>
                </a:tc>
                <a:extLst>
                  <a:ext uri="{0D108BD9-81ED-4DB2-BD59-A6C34878D82A}">
                    <a16:rowId xmlns:a16="http://schemas.microsoft.com/office/drawing/2014/main" val="3923292205"/>
                  </a:ext>
                </a:extLst>
              </a:tr>
            </a:tbl>
          </a:graphicData>
        </a:graphic>
      </p:graphicFrame>
      <p:graphicFrame>
        <p:nvGraphicFramePr>
          <p:cNvPr id="4" name="Table 4">
            <a:extLst>
              <a:ext uri="{FF2B5EF4-FFF2-40B4-BE49-F238E27FC236}">
                <a16:creationId xmlns:a16="http://schemas.microsoft.com/office/drawing/2014/main" id="{40A5D987-6B90-E65E-5DC3-04E3E9D911CF}"/>
              </a:ext>
            </a:extLst>
          </p:cNvPr>
          <p:cNvGraphicFramePr>
            <a:graphicFrameLocks noGrp="1"/>
          </p:cNvGraphicFramePr>
          <p:nvPr>
            <p:extLst>
              <p:ext uri="{D42A27DB-BD31-4B8C-83A1-F6EECF244321}">
                <p14:modId xmlns:p14="http://schemas.microsoft.com/office/powerpoint/2010/main" val="2832532696"/>
              </p:ext>
            </p:extLst>
          </p:nvPr>
        </p:nvGraphicFramePr>
        <p:xfrm>
          <a:off x="2035499" y="4556410"/>
          <a:ext cx="8168640" cy="74168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967877212"/>
                    </a:ext>
                  </a:extLst>
                </a:gridCol>
                <a:gridCol w="2042160">
                  <a:extLst>
                    <a:ext uri="{9D8B030D-6E8A-4147-A177-3AD203B41FA5}">
                      <a16:colId xmlns:a16="http://schemas.microsoft.com/office/drawing/2014/main" val="1508638892"/>
                    </a:ext>
                  </a:extLst>
                </a:gridCol>
                <a:gridCol w="2042160">
                  <a:extLst>
                    <a:ext uri="{9D8B030D-6E8A-4147-A177-3AD203B41FA5}">
                      <a16:colId xmlns:a16="http://schemas.microsoft.com/office/drawing/2014/main" val="2814736168"/>
                    </a:ext>
                  </a:extLst>
                </a:gridCol>
                <a:gridCol w="2042160">
                  <a:extLst>
                    <a:ext uri="{9D8B030D-6E8A-4147-A177-3AD203B41FA5}">
                      <a16:colId xmlns:a16="http://schemas.microsoft.com/office/drawing/2014/main" val="2124345620"/>
                    </a:ext>
                  </a:extLst>
                </a:gridCol>
              </a:tblGrid>
              <a:tr h="370840">
                <a:tc>
                  <a:txBody>
                    <a:bodyPr/>
                    <a:lstStyle/>
                    <a:p>
                      <a:pPr algn="ctr"/>
                      <a:r>
                        <a:rPr lang="en-GB" err="1"/>
                        <a:t>Po_id</a:t>
                      </a:r>
                    </a:p>
                  </a:txBody>
                  <a:tcPr/>
                </a:tc>
                <a:tc>
                  <a:txBody>
                    <a:bodyPr/>
                    <a:lstStyle/>
                    <a:p>
                      <a:pPr algn="ctr"/>
                      <a:r>
                        <a:rPr lang="en-GB" err="1"/>
                        <a:t>Supplier_id</a:t>
                      </a:r>
                    </a:p>
                  </a:txBody>
                  <a:tcPr/>
                </a:tc>
                <a:tc>
                  <a:txBody>
                    <a:bodyPr/>
                    <a:lstStyle/>
                    <a:p>
                      <a:pPr algn="ctr"/>
                      <a:r>
                        <a:rPr lang="en-GB" err="1"/>
                        <a:t>Po_date</a:t>
                      </a:r>
                    </a:p>
                  </a:txBody>
                  <a:tcPr/>
                </a:tc>
                <a:tc>
                  <a:txBody>
                    <a:bodyPr/>
                    <a:lstStyle/>
                    <a:p>
                      <a:pPr algn="ctr"/>
                      <a:r>
                        <a:rPr lang="en-GB" err="1"/>
                        <a:t>P_total</a:t>
                      </a:r>
                    </a:p>
                  </a:txBody>
                  <a:tcPr/>
                </a:tc>
                <a:extLst>
                  <a:ext uri="{0D108BD9-81ED-4DB2-BD59-A6C34878D82A}">
                    <a16:rowId xmlns:a16="http://schemas.microsoft.com/office/drawing/2014/main" val="3054837336"/>
                  </a:ext>
                </a:extLst>
              </a:tr>
              <a:tr h="370840">
                <a:tc>
                  <a:txBody>
                    <a:bodyPr/>
                    <a:lstStyle/>
                    <a:p>
                      <a:pPr algn="ctr"/>
                      <a:r>
                        <a:rPr lang="en-GB"/>
                        <a:t>1</a:t>
                      </a:r>
                    </a:p>
                  </a:txBody>
                  <a:tcPr/>
                </a:tc>
                <a:tc>
                  <a:txBody>
                    <a:bodyPr/>
                    <a:lstStyle/>
                    <a:p>
                      <a:pPr algn="ctr"/>
                      <a:r>
                        <a:rPr lang="en-GB"/>
                        <a:t>1</a:t>
                      </a:r>
                    </a:p>
                  </a:txBody>
                  <a:tcPr/>
                </a:tc>
                <a:tc>
                  <a:txBody>
                    <a:bodyPr/>
                    <a:lstStyle/>
                    <a:p>
                      <a:pPr algn="ctr"/>
                      <a:r>
                        <a:rPr lang="en-GB"/>
                        <a:t>11/10/2022</a:t>
                      </a:r>
                    </a:p>
                  </a:txBody>
                  <a:tcPr/>
                </a:tc>
                <a:tc>
                  <a:txBody>
                    <a:bodyPr/>
                    <a:lstStyle/>
                    <a:p>
                      <a:pPr algn="ctr"/>
                      <a:r>
                        <a:rPr lang="en-GB"/>
                        <a:t>11,625</a:t>
                      </a:r>
                    </a:p>
                  </a:txBody>
                  <a:tcPr/>
                </a:tc>
                <a:extLst>
                  <a:ext uri="{0D108BD9-81ED-4DB2-BD59-A6C34878D82A}">
                    <a16:rowId xmlns:a16="http://schemas.microsoft.com/office/drawing/2014/main" val="3723840531"/>
                  </a:ext>
                </a:extLst>
              </a:tr>
            </a:tbl>
          </a:graphicData>
        </a:graphic>
      </p:graphicFrame>
      <p:sp>
        <p:nvSpPr>
          <p:cNvPr id="5" name="TextBox 4">
            <a:extLst>
              <a:ext uri="{FF2B5EF4-FFF2-40B4-BE49-F238E27FC236}">
                <a16:creationId xmlns:a16="http://schemas.microsoft.com/office/drawing/2014/main" id="{11BC3824-183F-DD79-217B-255A27203EAC}"/>
              </a:ext>
            </a:extLst>
          </p:cNvPr>
          <p:cNvSpPr txBox="1"/>
          <p:nvPr/>
        </p:nvSpPr>
        <p:spPr>
          <a:xfrm>
            <a:off x="1289713" y="1369325"/>
            <a:ext cx="474487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14.Purchase Order Table: -</a:t>
            </a:r>
          </a:p>
          <a:p>
            <a:r>
              <a:rPr lang="en-US" sz="1600" b="1" dirty="0">
                <a:latin typeface="Arial"/>
                <a:cs typeface="Arial"/>
              </a:rPr>
              <a:t>Primary Key: - </a:t>
            </a:r>
            <a:r>
              <a:rPr lang="en-US" sz="1600" b="1" dirty="0" err="1">
                <a:latin typeface="Arial"/>
                <a:cs typeface="Arial"/>
              </a:rPr>
              <a:t>Po_id</a:t>
            </a:r>
            <a:r>
              <a:rPr lang="en-US" sz="1600" b="1" dirty="0">
                <a:latin typeface="Arial"/>
                <a:cs typeface="Arial"/>
              </a:rPr>
              <a:t>(Purchase Order Id)</a:t>
            </a:r>
          </a:p>
          <a:p>
            <a:r>
              <a:rPr lang="en-US" sz="1600" b="1" dirty="0">
                <a:latin typeface="Arial"/>
                <a:cs typeface="Arial"/>
              </a:rPr>
              <a:t>Foreign Key: - </a:t>
            </a:r>
            <a:r>
              <a:rPr lang="en-US" sz="1600" b="1" dirty="0" err="1">
                <a:latin typeface="Arial"/>
                <a:cs typeface="Arial"/>
              </a:rPr>
              <a:t>Supplier_id</a:t>
            </a:r>
          </a:p>
          <a:p>
            <a:r>
              <a:rPr lang="en-US" sz="1600" b="1" dirty="0">
                <a:latin typeface="Arial"/>
                <a:cs typeface="Arial"/>
              </a:rPr>
              <a:t>Description: - It Stores Purchase Order Details</a:t>
            </a:r>
          </a:p>
        </p:txBody>
      </p:sp>
    </p:spTree>
    <p:extLst>
      <p:ext uri="{BB962C8B-B14F-4D97-AF65-F5344CB8AC3E}">
        <p14:creationId xmlns:p14="http://schemas.microsoft.com/office/powerpoint/2010/main" val="2456568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FFA1B-0D15-2540-2792-1628514936F2}"/>
              </a:ext>
            </a:extLst>
          </p:cNvPr>
          <p:cNvSpPr>
            <a:spLocks noGrp="1"/>
          </p:cNvSpPr>
          <p:nvPr>
            <p:ph type="title"/>
          </p:nvPr>
        </p:nvSpPr>
        <p:spPr>
          <a:xfrm>
            <a:off x="4313" y="5691"/>
            <a:ext cx="7755147" cy="779223"/>
          </a:xfrm>
        </p:spPr>
        <p:txBody>
          <a:bodyPr/>
          <a:lstStyle/>
          <a:p>
            <a:pPr marL="342900" indent="-342900">
              <a:buFont typeface="Wingdings"/>
              <a:buChar char="Ø"/>
            </a:pPr>
            <a:r>
              <a:rPr lang="en-GB" sz="2400" b="1" dirty="0">
                <a:ea typeface="Calibri Light"/>
                <a:cs typeface="Calibri Light"/>
              </a:rPr>
              <a:t>Purchase Order Detail Table With Example:-</a:t>
            </a:r>
            <a:endParaRPr lang="en-GB" b="1" dirty="0">
              <a:ea typeface="Calibri Light"/>
              <a:cs typeface="Calibri Light"/>
            </a:endParaRPr>
          </a:p>
        </p:txBody>
      </p:sp>
      <p:graphicFrame>
        <p:nvGraphicFramePr>
          <p:cNvPr id="3" name="Table 3">
            <a:extLst>
              <a:ext uri="{FF2B5EF4-FFF2-40B4-BE49-F238E27FC236}">
                <a16:creationId xmlns:a16="http://schemas.microsoft.com/office/drawing/2014/main" id="{D034B1F9-14F2-71A5-7B7F-DC8A8561ACFE}"/>
              </a:ext>
            </a:extLst>
          </p:cNvPr>
          <p:cNvGraphicFramePr>
            <a:graphicFrameLocks noGrp="1"/>
          </p:cNvGraphicFramePr>
          <p:nvPr>
            <p:extLst>
              <p:ext uri="{D42A27DB-BD31-4B8C-83A1-F6EECF244321}">
                <p14:modId xmlns:p14="http://schemas.microsoft.com/office/powerpoint/2010/main" val="929652561"/>
              </p:ext>
            </p:extLst>
          </p:nvPr>
        </p:nvGraphicFramePr>
        <p:xfrm>
          <a:off x="1377360" y="1780721"/>
          <a:ext cx="9621004" cy="2966720"/>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2327009429"/>
                    </a:ext>
                  </a:extLst>
                </a:gridCol>
                <a:gridCol w="1633726">
                  <a:extLst>
                    <a:ext uri="{9D8B030D-6E8A-4147-A177-3AD203B41FA5}">
                      <a16:colId xmlns:a16="http://schemas.microsoft.com/office/drawing/2014/main" val="2450925361"/>
                    </a:ext>
                  </a:extLst>
                </a:gridCol>
                <a:gridCol w="1633726">
                  <a:extLst>
                    <a:ext uri="{9D8B030D-6E8A-4147-A177-3AD203B41FA5}">
                      <a16:colId xmlns:a16="http://schemas.microsoft.com/office/drawing/2014/main" val="2613329310"/>
                    </a:ext>
                  </a:extLst>
                </a:gridCol>
                <a:gridCol w="1633726">
                  <a:extLst>
                    <a:ext uri="{9D8B030D-6E8A-4147-A177-3AD203B41FA5}">
                      <a16:colId xmlns:a16="http://schemas.microsoft.com/office/drawing/2014/main" val="1980155447"/>
                    </a:ext>
                  </a:extLst>
                </a:gridCol>
                <a:gridCol w="3086100">
                  <a:extLst>
                    <a:ext uri="{9D8B030D-6E8A-4147-A177-3AD203B41FA5}">
                      <a16:colId xmlns:a16="http://schemas.microsoft.com/office/drawing/2014/main" val="3980049046"/>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3043259323"/>
                  </a:ext>
                </a:extLst>
              </a:tr>
              <a:tr h="370840">
                <a:tc>
                  <a:txBody>
                    <a:bodyPr/>
                    <a:lstStyle/>
                    <a:p>
                      <a:pPr algn="ctr"/>
                      <a:r>
                        <a:rPr lang="en-GB" err="1"/>
                        <a:t>Pd_id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Purchase Order Detail id </a:t>
                      </a:r>
                    </a:p>
                  </a:txBody>
                  <a:tcPr/>
                </a:tc>
                <a:extLst>
                  <a:ext uri="{0D108BD9-81ED-4DB2-BD59-A6C34878D82A}">
                    <a16:rowId xmlns:a16="http://schemas.microsoft.com/office/drawing/2014/main" val="3039963137"/>
                  </a:ext>
                </a:extLst>
              </a:tr>
              <a:tr h="370840">
                <a:tc>
                  <a:txBody>
                    <a:bodyPr/>
                    <a:lstStyle/>
                    <a:p>
                      <a:pPr algn="ctr"/>
                      <a:r>
                        <a:rPr lang="en-GB" err="1"/>
                        <a:t>Po_id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Purchase Order id</a:t>
                      </a:r>
                    </a:p>
                  </a:txBody>
                  <a:tcPr/>
                </a:tc>
                <a:extLst>
                  <a:ext uri="{0D108BD9-81ED-4DB2-BD59-A6C34878D82A}">
                    <a16:rowId xmlns:a16="http://schemas.microsoft.com/office/drawing/2014/main" val="485502899"/>
                  </a:ext>
                </a:extLst>
              </a:tr>
              <a:tr h="370840">
                <a:tc>
                  <a:txBody>
                    <a:bodyPr/>
                    <a:lstStyle/>
                    <a:p>
                      <a:pPr algn="ctr"/>
                      <a:r>
                        <a:rPr lang="en-GB" err="1"/>
                        <a:t>P_id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product id </a:t>
                      </a:r>
                    </a:p>
                  </a:txBody>
                  <a:tcPr/>
                </a:tc>
                <a:extLst>
                  <a:ext uri="{0D108BD9-81ED-4DB2-BD59-A6C34878D82A}">
                    <a16:rowId xmlns:a16="http://schemas.microsoft.com/office/drawing/2014/main" val="2516020420"/>
                  </a:ext>
                </a:extLst>
              </a:tr>
              <a:tr h="370840">
                <a:tc>
                  <a:txBody>
                    <a:bodyPr/>
                    <a:lstStyle/>
                    <a:p>
                      <a:pPr algn="ctr"/>
                      <a:r>
                        <a:rPr lang="en-GB" dirty="0"/>
                        <a:t>length</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length</a:t>
                      </a:r>
                    </a:p>
                  </a:txBody>
                  <a:tcPr/>
                </a:tc>
                <a:extLst>
                  <a:ext uri="{0D108BD9-81ED-4DB2-BD59-A6C34878D82A}">
                    <a16:rowId xmlns:a16="http://schemas.microsoft.com/office/drawing/2014/main" val="2160402387"/>
                  </a:ext>
                </a:extLst>
              </a:tr>
              <a:tr h="370840">
                <a:tc>
                  <a:txBody>
                    <a:bodyPr/>
                    <a:lstStyle/>
                    <a:p>
                      <a:pPr algn="ctr"/>
                      <a:r>
                        <a:rPr lang="en-GB" dirty="0"/>
                        <a:t>Length </a:t>
                      </a:r>
                      <a:r>
                        <a:rPr lang="en-GB" dirty="0" err="1"/>
                        <a:t>U_id</a:t>
                      </a:r>
                    </a:p>
                  </a:txBody>
                  <a:tcPr/>
                </a:tc>
                <a:tc>
                  <a:txBody>
                    <a:bodyPr/>
                    <a:lstStyle/>
                    <a:p>
                      <a:pPr algn="ctr"/>
                      <a:r>
                        <a:rPr lang="en-GB" dirty="0"/>
                        <a:t>int</a:t>
                      </a:r>
                    </a:p>
                  </a:txBody>
                  <a:tcPr/>
                </a:tc>
                <a:tc>
                  <a:txBody>
                    <a:bodyPr/>
                    <a:lstStyle/>
                    <a:p>
                      <a:pPr algn="ctr"/>
                      <a:r>
                        <a:rPr lang="en-GB" dirty="0"/>
                        <a:t>10</a:t>
                      </a:r>
                    </a:p>
                  </a:txBody>
                  <a:tcPr/>
                </a:tc>
                <a:tc>
                  <a:txBody>
                    <a:bodyPr/>
                    <a:lstStyle/>
                    <a:p>
                      <a:pPr algn="ctr"/>
                      <a:r>
                        <a:rPr lang="en-GB" dirty="0"/>
                        <a:t>F.K</a:t>
                      </a:r>
                    </a:p>
                  </a:txBody>
                  <a:tcPr/>
                </a:tc>
                <a:tc>
                  <a:txBody>
                    <a:bodyPr/>
                    <a:lstStyle/>
                    <a:p>
                      <a:pPr algn="ctr"/>
                      <a:r>
                        <a:rPr lang="en-GB" dirty="0"/>
                        <a:t>Store length Unit id</a:t>
                      </a:r>
                    </a:p>
                  </a:txBody>
                  <a:tcPr/>
                </a:tc>
                <a:extLst>
                  <a:ext uri="{0D108BD9-81ED-4DB2-BD59-A6C34878D82A}">
                    <a16:rowId xmlns:a16="http://schemas.microsoft.com/office/drawing/2014/main" val="3575131145"/>
                  </a:ext>
                </a:extLst>
              </a:tr>
              <a:tr h="370840">
                <a:tc>
                  <a:txBody>
                    <a:bodyPr/>
                    <a:lstStyle/>
                    <a:p>
                      <a:pPr algn="ctr"/>
                      <a:r>
                        <a:rPr lang="en-GB" dirty="0"/>
                        <a:t>Quantity</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quantity</a:t>
                      </a:r>
                    </a:p>
                  </a:txBody>
                  <a:tcPr/>
                </a:tc>
                <a:extLst>
                  <a:ext uri="{0D108BD9-81ED-4DB2-BD59-A6C34878D82A}">
                    <a16:rowId xmlns:a16="http://schemas.microsoft.com/office/drawing/2014/main" val="1156116962"/>
                  </a:ext>
                </a:extLst>
              </a:tr>
              <a:tr h="370840">
                <a:tc>
                  <a:txBody>
                    <a:bodyPr/>
                    <a:lstStyle/>
                    <a:p>
                      <a:pPr algn="ctr"/>
                      <a:r>
                        <a:rPr lang="en-GB" dirty="0"/>
                        <a:t>Rate</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rate</a:t>
                      </a:r>
                    </a:p>
                  </a:txBody>
                  <a:tcPr/>
                </a:tc>
                <a:extLst>
                  <a:ext uri="{0D108BD9-81ED-4DB2-BD59-A6C34878D82A}">
                    <a16:rowId xmlns:a16="http://schemas.microsoft.com/office/drawing/2014/main" val="1473965782"/>
                  </a:ext>
                </a:extLst>
              </a:tr>
            </a:tbl>
          </a:graphicData>
        </a:graphic>
      </p:graphicFrame>
      <p:graphicFrame>
        <p:nvGraphicFramePr>
          <p:cNvPr id="4" name="Table 4">
            <a:extLst>
              <a:ext uri="{FF2B5EF4-FFF2-40B4-BE49-F238E27FC236}">
                <a16:creationId xmlns:a16="http://schemas.microsoft.com/office/drawing/2014/main" id="{0772FFA8-67FC-CF82-4E54-FB6931245448}"/>
              </a:ext>
            </a:extLst>
          </p:cNvPr>
          <p:cNvGraphicFramePr>
            <a:graphicFrameLocks noGrp="1"/>
          </p:cNvGraphicFramePr>
          <p:nvPr>
            <p:extLst>
              <p:ext uri="{D42A27DB-BD31-4B8C-83A1-F6EECF244321}">
                <p14:modId xmlns:p14="http://schemas.microsoft.com/office/powerpoint/2010/main" val="3005983976"/>
              </p:ext>
            </p:extLst>
          </p:nvPr>
        </p:nvGraphicFramePr>
        <p:xfrm>
          <a:off x="2090144" y="4908293"/>
          <a:ext cx="8084842" cy="1483360"/>
        </p:xfrm>
        <a:graphic>
          <a:graphicData uri="http://schemas.openxmlformats.org/drawingml/2006/table">
            <a:tbl>
              <a:tblPr firstRow="1" bandRow="1">
                <a:tableStyleId>{5C22544A-7EE6-4342-B048-85BDC9FD1C3A}</a:tableStyleId>
              </a:tblPr>
              <a:tblGrid>
                <a:gridCol w="1101545">
                  <a:extLst>
                    <a:ext uri="{9D8B030D-6E8A-4147-A177-3AD203B41FA5}">
                      <a16:colId xmlns:a16="http://schemas.microsoft.com/office/drawing/2014/main" val="3768072814"/>
                    </a:ext>
                  </a:extLst>
                </a:gridCol>
                <a:gridCol w="1101545">
                  <a:extLst>
                    <a:ext uri="{9D8B030D-6E8A-4147-A177-3AD203B41FA5}">
                      <a16:colId xmlns:a16="http://schemas.microsoft.com/office/drawing/2014/main" val="3954831710"/>
                    </a:ext>
                  </a:extLst>
                </a:gridCol>
                <a:gridCol w="1101545">
                  <a:extLst>
                    <a:ext uri="{9D8B030D-6E8A-4147-A177-3AD203B41FA5}">
                      <a16:colId xmlns:a16="http://schemas.microsoft.com/office/drawing/2014/main" val="2328083397"/>
                    </a:ext>
                  </a:extLst>
                </a:gridCol>
                <a:gridCol w="1101545">
                  <a:extLst>
                    <a:ext uri="{9D8B030D-6E8A-4147-A177-3AD203B41FA5}">
                      <a16:colId xmlns:a16="http://schemas.microsoft.com/office/drawing/2014/main" val="1453852985"/>
                    </a:ext>
                  </a:extLst>
                </a:gridCol>
                <a:gridCol w="1602994">
                  <a:extLst>
                    <a:ext uri="{9D8B030D-6E8A-4147-A177-3AD203B41FA5}">
                      <a16:colId xmlns:a16="http://schemas.microsoft.com/office/drawing/2014/main" val="427931900"/>
                    </a:ext>
                  </a:extLst>
                </a:gridCol>
                <a:gridCol w="1212518">
                  <a:extLst>
                    <a:ext uri="{9D8B030D-6E8A-4147-A177-3AD203B41FA5}">
                      <a16:colId xmlns:a16="http://schemas.microsoft.com/office/drawing/2014/main" val="1084614463"/>
                    </a:ext>
                  </a:extLst>
                </a:gridCol>
                <a:gridCol w="863150">
                  <a:extLst>
                    <a:ext uri="{9D8B030D-6E8A-4147-A177-3AD203B41FA5}">
                      <a16:colId xmlns:a16="http://schemas.microsoft.com/office/drawing/2014/main" val="1336732598"/>
                    </a:ext>
                  </a:extLst>
                </a:gridCol>
              </a:tblGrid>
              <a:tr h="370840">
                <a:tc>
                  <a:txBody>
                    <a:bodyPr/>
                    <a:lstStyle/>
                    <a:p>
                      <a:pPr algn="ctr"/>
                      <a:r>
                        <a:rPr lang="en-GB" err="1"/>
                        <a:t>Pd_id</a:t>
                      </a:r>
                    </a:p>
                  </a:txBody>
                  <a:tcPr/>
                </a:tc>
                <a:tc>
                  <a:txBody>
                    <a:bodyPr/>
                    <a:lstStyle/>
                    <a:p>
                      <a:pPr algn="ctr"/>
                      <a:r>
                        <a:rPr lang="en-GB" err="1"/>
                        <a:t>Po_id</a:t>
                      </a:r>
                    </a:p>
                  </a:txBody>
                  <a:tcPr/>
                </a:tc>
                <a:tc>
                  <a:txBody>
                    <a:bodyPr/>
                    <a:lstStyle/>
                    <a:p>
                      <a:pPr algn="ctr"/>
                      <a:r>
                        <a:rPr lang="en-GB" err="1"/>
                        <a:t>P_id</a:t>
                      </a:r>
                    </a:p>
                  </a:txBody>
                  <a:tcPr/>
                </a:tc>
                <a:tc>
                  <a:txBody>
                    <a:bodyPr/>
                    <a:lstStyle/>
                    <a:p>
                      <a:pPr algn="ctr"/>
                      <a:r>
                        <a:rPr lang="en-GB"/>
                        <a:t>Length</a:t>
                      </a:r>
                    </a:p>
                  </a:txBody>
                  <a:tcPr/>
                </a:tc>
                <a:tc>
                  <a:txBody>
                    <a:bodyPr/>
                    <a:lstStyle/>
                    <a:p>
                      <a:pPr algn="ctr"/>
                      <a:r>
                        <a:rPr lang="en-GB"/>
                        <a:t>Length </a:t>
                      </a:r>
                      <a:r>
                        <a:rPr lang="en-GB" err="1"/>
                        <a:t>U_id</a:t>
                      </a:r>
                    </a:p>
                  </a:txBody>
                  <a:tcPr/>
                </a:tc>
                <a:tc>
                  <a:txBody>
                    <a:bodyPr/>
                    <a:lstStyle/>
                    <a:p>
                      <a:pPr algn="ctr"/>
                      <a:r>
                        <a:rPr lang="en-GB"/>
                        <a:t>Quantity</a:t>
                      </a:r>
                    </a:p>
                  </a:txBody>
                  <a:tcPr/>
                </a:tc>
                <a:tc>
                  <a:txBody>
                    <a:bodyPr/>
                    <a:lstStyle/>
                    <a:p>
                      <a:pPr algn="ctr"/>
                      <a:r>
                        <a:rPr lang="en-GB"/>
                        <a:t>Rate</a:t>
                      </a:r>
                    </a:p>
                  </a:txBody>
                  <a:tcPr/>
                </a:tc>
                <a:extLst>
                  <a:ext uri="{0D108BD9-81ED-4DB2-BD59-A6C34878D82A}">
                    <a16:rowId xmlns:a16="http://schemas.microsoft.com/office/drawing/2014/main" val="2784026225"/>
                  </a:ext>
                </a:extLst>
              </a:tr>
              <a:tr h="370840">
                <a:tc>
                  <a:txBody>
                    <a:bodyPr/>
                    <a:lstStyle/>
                    <a:p>
                      <a:pPr algn="ctr"/>
                      <a:r>
                        <a:rPr lang="en-GB"/>
                        <a:t>1</a:t>
                      </a:r>
                    </a:p>
                  </a:txBody>
                  <a:tcPr/>
                </a:tc>
                <a:tc>
                  <a:txBody>
                    <a:bodyPr/>
                    <a:lstStyle/>
                    <a:p>
                      <a:pPr algn="ctr"/>
                      <a:r>
                        <a:rPr lang="en-GB"/>
                        <a:t>1</a:t>
                      </a:r>
                    </a:p>
                  </a:txBody>
                  <a:tcPr/>
                </a:tc>
                <a:tc>
                  <a:txBody>
                    <a:bodyPr/>
                    <a:lstStyle/>
                    <a:p>
                      <a:pPr algn="ctr"/>
                      <a:r>
                        <a:rPr lang="en-GB"/>
                        <a:t>1</a:t>
                      </a:r>
                    </a:p>
                  </a:txBody>
                  <a:tcPr/>
                </a:tc>
                <a:tc>
                  <a:txBody>
                    <a:bodyPr/>
                    <a:lstStyle/>
                    <a:p>
                      <a:pPr algn="ctr"/>
                      <a:r>
                        <a:rPr lang="en-GB"/>
                        <a:t>16.7</a:t>
                      </a:r>
                    </a:p>
                  </a:txBody>
                  <a:tcPr/>
                </a:tc>
                <a:tc>
                  <a:txBody>
                    <a:bodyPr/>
                    <a:lstStyle/>
                    <a:p>
                      <a:pPr algn="ctr"/>
                      <a:r>
                        <a:rPr lang="en-GB"/>
                        <a:t>3</a:t>
                      </a:r>
                    </a:p>
                  </a:txBody>
                  <a:tcPr/>
                </a:tc>
                <a:tc>
                  <a:txBody>
                    <a:bodyPr/>
                    <a:lstStyle/>
                    <a:p>
                      <a:pPr algn="ctr"/>
                      <a:r>
                        <a:rPr lang="en-GB"/>
                        <a:t>10</a:t>
                      </a:r>
                    </a:p>
                  </a:txBody>
                  <a:tcPr/>
                </a:tc>
                <a:tc>
                  <a:txBody>
                    <a:bodyPr/>
                    <a:lstStyle/>
                    <a:p>
                      <a:pPr algn="ctr"/>
                      <a:r>
                        <a:rPr lang="en-GB"/>
                        <a:t>5000</a:t>
                      </a:r>
                    </a:p>
                  </a:txBody>
                  <a:tcPr/>
                </a:tc>
                <a:extLst>
                  <a:ext uri="{0D108BD9-81ED-4DB2-BD59-A6C34878D82A}">
                    <a16:rowId xmlns:a16="http://schemas.microsoft.com/office/drawing/2014/main" val="2233635739"/>
                  </a:ext>
                </a:extLst>
              </a:tr>
              <a:tr h="370840">
                <a:tc>
                  <a:txBody>
                    <a:bodyPr/>
                    <a:lstStyle/>
                    <a:p>
                      <a:pPr algn="ctr"/>
                      <a:r>
                        <a:rPr lang="en-GB"/>
                        <a:t>2</a:t>
                      </a:r>
                    </a:p>
                  </a:txBody>
                  <a:tcPr/>
                </a:tc>
                <a:tc>
                  <a:txBody>
                    <a:bodyPr/>
                    <a:lstStyle/>
                    <a:p>
                      <a:pPr algn="ctr"/>
                      <a:r>
                        <a:rPr lang="en-GB"/>
                        <a:t>1</a:t>
                      </a:r>
                    </a:p>
                  </a:txBody>
                  <a:tcPr/>
                </a:tc>
                <a:tc>
                  <a:txBody>
                    <a:bodyPr/>
                    <a:lstStyle/>
                    <a:p>
                      <a:pPr algn="ctr"/>
                      <a:r>
                        <a:rPr lang="en-GB"/>
                        <a:t>3</a:t>
                      </a:r>
                    </a:p>
                  </a:txBody>
                  <a:tcPr/>
                </a:tc>
                <a:tc>
                  <a:txBody>
                    <a:bodyPr/>
                    <a:lstStyle/>
                    <a:p>
                      <a:pPr algn="ctr"/>
                      <a:r>
                        <a:rPr lang="en-GB"/>
                        <a:t>17</a:t>
                      </a:r>
                    </a:p>
                  </a:txBody>
                  <a:tcPr/>
                </a:tc>
                <a:tc>
                  <a:txBody>
                    <a:bodyPr/>
                    <a:lstStyle/>
                    <a:p>
                      <a:pPr algn="ctr"/>
                      <a:r>
                        <a:rPr lang="en-GB"/>
                        <a:t>3</a:t>
                      </a:r>
                    </a:p>
                  </a:txBody>
                  <a:tcPr/>
                </a:tc>
                <a:tc>
                  <a:txBody>
                    <a:bodyPr/>
                    <a:lstStyle/>
                    <a:p>
                      <a:pPr algn="ctr"/>
                      <a:r>
                        <a:rPr lang="en-GB"/>
                        <a:t>15</a:t>
                      </a:r>
                    </a:p>
                  </a:txBody>
                  <a:tcPr/>
                </a:tc>
                <a:tc>
                  <a:txBody>
                    <a:bodyPr/>
                    <a:lstStyle/>
                    <a:p>
                      <a:pPr algn="ctr"/>
                      <a:r>
                        <a:rPr lang="en-GB"/>
                        <a:t>6000</a:t>
                      </a:r>
                    </a:p>
                  </a:txBody>
                  <a:tcPr/>
                </a:tc>
                <a:extLst>
                  <a:ext uri="{0D108BD9-81ED-4DB2-BD59-A6C34878D82A}">
                    <a16:rowId xmlns:a16="http://schemas.microsoft.com/office/drawing/2014/main" val="2286055325"/>
                  </a:ext>
                </a:extLst>
              </a:tr>
              <a:tr h="370840">
                <a:tc>
                  <a:txBody>
                    <a:bodyPr/>
                    <a:lstStyle/>
                    <a:p>
                      <a:pPr algn="ctr"/>
                      <a:r>
                        <a:rPr lang="en-GB"/>
                        <a:t>3</a:t>
                      </a:r>
                    </a:p>
                  </a:txBody>
                  <a:tcPr/>
                </a:tc>
                <a:tc>
                  <a:txBody>
                    <a:bodyPr/>
                    <a:lstStyle/>
                    <a:p>
                      <a:pPr algn="ctr"/>
                      <a:r>
                        <a:rPr lang="en-GB"/>
                        <a:t>1</a:t>
                      </a:r>
                    </a:p>
                  </a:txBody>
                  <a:tcPr/>
                </a:tc>
                <a:tc>
                  <a:txBody>
                    <a:bodyPr/>
                    <a:lstStyle/>
                    <a:p>
                      <a:pPr algn="ctr"/>
                      <a:r>
                        <a:rPr lang="en-GB"/>
                        <a:t>4</a:t>
                      </a:r>
                    </a:p>
                  </a:txBody>
                  <a:tcPr/>
                </a:tc>
                <a:tc>
                  <a:txBody>
                    <a:bodyPr/>
                    <a:lstStyle/>
                    <a:p>
                      <a:pPr algn="ctr"/>
                      <a:r>
                        <a:rPr lang="en-GB"/>
                        <a:t>18</a:t>
                      </a:r>
                    </a:p>
                  </a:txBody>
                  <a:tcPr/>
                </a:tc>
                <a:tc>
                  <a:txBody>
                    <a:bodyPr/>
                    <a:lstStyle/>
                    <a:p>
                      <a:pPr algn="ctr"/>
                      <a:r>
                        <a:rPr lang="en-GB"/>
                        <a:t>3</a:t>
                      </a:r>
                    </a:p>
                  </a:txBody>
                  <a:tcPr/>
                </a:tc>
                <a:tc>
                  <a:txBody>
                    <a:bodyPr/>
                    <a:lstStyle/>
                    <a:p>
                      <a:pPr algn="ctr"/>
                      <a:r>
                        <a:rPr lang="en-GB"/>
                        <a:t>20</a:t>
                      </a:r>
                    </a:p>
                  </a:txBody>
                  <a:tcPr/>
                </a:tc>
                <a:tc>
                  <a:txBody>
                    <a:bodyPr/>
                    <a:lstStyle/>
                    <a:p>
                      <a:pPr algn="ctr"/>
                      <a:r>
                        <a:rPr lang="en-GB"/>
                        <a:t>7000</a:t>
                      </a:r>
                    </a:p>
                  </a:txBody>
                  <a:tcPr/>
                </a:tc>
                <a:extLst>
                  <a:ext uri="{0D108BD9-81ED-4DB2-BD59-A6C34878D82A}">
                    <a16:rowId xmlns:a16="http://schemas.microsoft.com/office/drawing/2014/main" val="3170316222"/>
                  </a:ext>
                </a:extLst>
              </a:tr>
            </a:tbl>
          </a:graphicData>
        </a:graphic>
      </p:graphicFrame>
      <p:sp>
        <p:nvSpPr>
          <p:cNvPr id="5" name="TextBox 4">
            <a:extLst>
              <a:ext uri="{FF2B5EF4-FFF2-40B4-BE49-F238E27FC236}">
                <a16:creationId xmlns:a16="http://schemas.microsoft.com/office/drawing/2014/main" id="{EB978AC3-69AA-37D4-346C-AF81B5143432}"/>
              </a:ext>
            </a:extLst>
          </p:cNvPr>
          <p:cNvSpPr txBox="1"/>
          <p:nvPr/>
        </p:nvSpPr>
        <p:spPr>
          <a:xfrm>
            <a:off x="1323833" y="698310"/>
            <a:ext cx="871551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15.Purchase Order Detail Table: -</a:t>
            </a:r>
          </a:p>
          <a:p>
            <a:r>
              <a:rPr lang="en-US" sz="1600" b="1" dirty="0">
                <a:latin typeface="Arial"/>
                <a:cs typeface="Arial"/>
              </a:rPr>
              <a:t>Primary Key: - </a:t>
            </a:r>
            <a:r>
              <a:rPr lang="en-US" sz="1600" b="1" dirty="0" err="1">
                <a:latin typeface="Arial"/>
                <a:cs typeface="Arial"/>
              </a:rPr>
              <a:t>Pd_id</a:t>
            </a:r>
            <a:r>
              <a:rPr lang="en-US" sz="1600" b="1" dirty="0">
                <a:latin typeface="Arial"/>
                <a:cs typeface="Arial"/>
              </a:rPr>
              <a:t>(Purchase Order Detail Id)</a:t>
            </a:r>
          </a:p>
          <a:p>
            <a:r>
              <a:rPr lang="en-US" sz="1600" b="1" dirty="0">
                <a:latin typeface="Arial"/>
                <a:cs typeface="Arial"/>
              </a:rPr>
              <a:t>Foreign Key: - </a:t>
            </a:r>
            <a:r>
              <a:rPr lang="en-US" sz="1600" b="1" dirty="0" err="1">
                <a:latin typeface="Arial"/>
                <a:cs typeface="Arial"/>
              </a:rPr>
              <a:t>Po_id</a:t>
            </a:r>
            <a:r>
              <a:rPr lang="en-US" sz="1600" b="1" dirty="0">
                <a:latin typeface="Arial"/>
                <a:cs typeface="Arial"/>
              </a:rPr>
              <a:t>(Purchase Order Id), </a:t>
            </a:r>
            <a:r>
              <a:rPr lang="en-US" sz="1600" b="1" dirty="0" err="1">
                <a:latin typeface="Arial"/>
                <a:cs typeface="Arial"/>
              </a:rPr>
              <a:t>P_id</a:t>
            </a:r>
            <a:r>
              <a:rPr lang="en-US" sz="1600" b="1" dirty="0">
                <a:latin typeface="Arial"/>
                <a:cs typeface="Arial"/>
              </a:rPr>
              <a:t>(Product Id), Length </a:t>
            </a:r>
            <a:r>
              <a:rPr lang="en-US" sz="1600" b="1" dirty="0" err="1">
                <a:latin typeface="Arial"/>
                <a:cs typeface="Arial"/>
              </a:rPr>
              <a:t>U_id</a:t>
            </a:r>
            <a:r>
              <a:rPr lang="en-US" sz="1600" b="1" dirty="0">
                <a:latin typeface="Arial"/>
                <a:cs typeface="Arial"/>
              </a:rPr>
              <a:t>(Length Unit Id)</a:t>
            </a:r>
          </a:p>
          <a:p>
            <a:r>
              <a:rPr lang="en-US" sz="1600" b="1" dirty="0">
                <a:latin typeface="Arial"/>
                <a:cs typeface="Arial"/>
              </a:rPr>
              <a:t>Description: - It Stores Purchase Order Detail Tables`s Detail</a:t>
            </a:r>
          </a:p>
        </p:txBody>
      </p:sp>
    </p:spTree>
    <p:extLst>
      <p:ext uri="{BB962C8B-B14F-4D97-AF65-F5344CB8AC3E}">
        <p14:creationId xmlns:p14="http://schemas.microsoft.com/office/powerpoint/2010/main" val="22092810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A078-F0D5-9973-7199-290AEA1273D3}"/>
              </a:ext>
            </a:extLst>
          </p:cNvPr>
          <p:cNvSpPr>
            <a:spLocks noGrp="1"/>
          </p:cNvSpPr>
          <p:nvPr>
            <p:ph type="title"/>
          </p:nvPr>
        </p:nvSpPr>
        <p:spPr>
          <a:xfrm>
            <a:off x="4313" y="5691"/>
            <a:ext cx="4994696" cy="1224922"/>
          </a:xfrm>
        </p:spPr>
        <p:txBody>
          <a:bodyPr/>
          <a:lstStyle/>
          <a:p>
            <a:pPr marL="342900" indent="-342900">
              <a:buFont typeface="Wingdings"/>
              <a:buChar char="Ø"/>
            </a:pPr>
            <a:r>
              <a:rPr lang="en-GB" sz="2400" b="1" dirty="0">
                <a:ea typeface="Calibri Light"/>
                <a:cs typeface="Calibri Light"/>
              </a:rPr>
              <a:t>Sales Order Table With Example:-</a:t>
            </a:r>
            <a:endParaRPr lang="en-GB" dirty="0">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94044792-DBB7-38C3-8AA0-8E8A40DCDE3D}"/>
              </a:ext>
            </a:extLst>
          </p:cNvPr>
          <p:cNvGraphicFramePr>
            <a:graphicFrameLocks noGrp="1"/>
          </p:cNvGraphicFramePr>
          <p:nvPr>
            <p:extLst>
              <p:ext uri="{D42A27DB-BD31-4B8C-83A1-F6EECF244321}">
                <p14:modId xmlns:p14="http://schemas.microsoft.com/office/powerpoint/2010/main" val="404683269"/>
              </p:ext>
            </p:extLst>
          </p:nvPr>
        </p:nvGraphicFramePr>
        <p:xfrm>
          <a:off x="1684649" y="2212900"/>
          <a:ext cx="8687558" cy="1854200"/>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4178041078"/>
                    </a:ext>
                  </a:extLst>
                </a:gridCol>
                <a:gridCol w="1633727">
                  <a:extLst>
                    <a:ext uri="{9D8B030D-6E8A-4147-A177-3AD203B41FA5}">
                      <a16:colId xmlns:a16="http://schemas.microsoft.com/office/drawing/2014/main" val="1052918838"/>
                    </a:ext>
                  </a:extLst>
                </a:gridCol>
                <a:gridCol w="1633727">
                  <a:extLst>
                    <a:ext uri="{9D8B030D-6E8A-4147-A177-3AD203B41FA5}">
                      <a16:colId xmlns:a16="http://schemas.microsoft.com/office/drawing/2014/main" val="3992581783"/>
                    </a:ext>
                  </a:extLst>
                </a:gridCol>
                <a:gridCol w="1633727">
                  <a:extLst>
                    <a:ext uri="{9D8B030D-6E8A-4147-A177-3AD203B41FA5}">
                      <a16:colId xmlns:a16="http://schemas.microsoft.com/office/drawing/2014/main" val="2801298225"/>
                    </a:ext>
                  </a:extLst>
                </a:gridCol>
                <a:gridCol w="2152650">
                  <a:extLst>
                    <a:ext uri="{9D8B030D-6E8A-4147-A177-3AD203B41FA5}">
                      <a16:colId xmlns:a16="http://schemas.microsoft.com/office/drawing/2014/main" val="3505775298"/>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924678648"/>
                  </a:ext>
                </a:extLst>
              </a:tr>
              <a:tr h="370840">
                <a:tc>
                  <a:txBody>
                    <a:bodyPr/>
                    <a:lstStyle/>
                    <a:p>
                      <a:pPr algn="ctr"/>
                      <a:r>
                        <a:rPr lang="en-GB" dirty="0" err="1"/>
                        <a:t>So_id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Sales id</a:t>
                      </a:r>
                    </a:p>
                  </a:txBody>
                  <a:tcPr/>
                </a:tc>
                <a:extLst>
                  <a:ext uri="{0D108BD9-81ED-4DB2-BD59-A6C34878D82A}">
                    <a16:rowId xmlns:a16="http://schemas.microsoft.com/office/drawing/2014/main" val="1847854360"/>
                  </a:ext>
                </a:extLst>
              </a:tr>
              <a:tr h="370840">
                <a:tc>
                  <a:txBody>
                    <a:bodyPr/>
                    <a:lstStyle/>
                    <a:p>
                      <a:pPr algn="ctr"/>
                      <a:r>
                        <a:rPr lang="en-GB" err="1"/>
                        <a:t>Cust_id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Customer id</a:t>
                      </a:r>
                    </a:p>
                  </a:txBody>
                  <a:tcPr/>
                </a:tc>
                <a:extLst>
                  <a:ext uri="{0D108BD9-81ED-4DB2-BD59-A6C34878D82A}">
                    <a16:rowId xmlns:a16="http://schemas.microsoft.com/office/drawing/2014/main" val="3302901478"/>
                  </a:ext>
                </a:extLst>
              </a:tr>
              <a:tr h="370840">
                <a:tc>
                  <a:txBody>
                    <a:bodyPr/>
                    <a:lstStyle/>
                    <a:p>
                      <a:pPr algn="ctr"/>
                      <a:r>
                        <a:rPr lang="en-GB" err="1"/>
                        <a:t>Sales_date</a:t>
                      </a:r>
                      <a:endParaRPr lang="en-GB" dirty="0" err="1"/>
                    </a:p>
                  </a:txBody>
                  <a:tcPr/>
                </a:tc>
                <a:tc>
                  <a:txBody>
                    <a:bodyPr/>
                    <a:lstStyle/>
                    <a:p>
                      <a:pPr algn="ctr"/>
                      <a:r>
                        <a:rPr lang="en-GB" dirty="0"/>
                        <a:t>date</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Sales date</a:t>
                      </a:r>
                    </a:p>
                  </a:txBody>
                  <a:tcPr/>
                </a:tc>
                <a:extLst>
                  <a:ext uri="{0D108BD9-81ED-4DB2-BD59-A6C34878D82A}">
                    <a16:rowId xmlns:a16="http://schemas.microsoft.com/office/drawing/2014/main" val="2960175860"/>
                  </a:ext>
                </a:extLst>
              </a:tr>
              <a:tr h="370840">
                <a:tc>
                  <a:txBody>
                    <a:bodyPr/>
                    <a:lstStyle/>
                    <a:p>
                      <a:pPr algn="ctr"/>
                      <a:r>
                        <a:rPr lang="en-GB" dirty="0"/>
                        <a:t>Total</a:t>
                      </a:r>
                    </a:p>
                  </a:txBody>
                  <a:tcPr/>
                </a:tc>
                <a:tc>
                  <a:txBody>
                    <a:bodyPr/>
                    <a:lstStyle/>
                    <a:p>
                      <a:pPr algn="ctr"/>
                      <a:r>
                        <a:rPr lang="en-GB" dirty="0"/>
                        <a:t>Varchar </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total</a:t>
                      </a:r>
                    </a:p>
                  </a:txBody>
                  <a:tcPr/>
                </a:tc>
                <a:extLst>
                  <a:ext uri="{0D108BD9-81ED-4DB2-BD59-A6C34878D82A}">
                    <a16:rowId xmlns:a16="http://schemas.microsoft.com/office/drawing/2014/main" val="671150807"/>
                  </a:ext>
                </a:extLst>
              </a:tr>
            </a:tbl>
          </a:graphicData>
        </a:graphic>
      </p:graphicFrame>
      <p:graphicFrame>
        <p:nvGraphicFramePr>
          <p:cNvPr id="4" name="Table 4">
            <a:extLst>
              <a:ext uri="{FF2B5EF4-FFF2-40B4-BE49-F238E27FC236}">
                <a16:creationId xmlns:a16="http://schemas.microsoft.com/office/drawing/2014/main" id="{DA1260A6-B0E3-1287-D300-6A1A21CE5025}"/>
              </a:ext>
            </a:extLst>
          </p:cNvPr>
          <p:cNvGraphicFramePr>
            <a:graphicFrameLocks noGrp="1"/>
          </p:cNvGraphicFramePr>
          <p:nvPr>
            <p:extLst>
              <p:ext uri="{D42A27DB-BD31-4B8C-83A1-F6EECF244321}">
                <p14:modId xmlns:p14="http://schemas.microsoft.com/office/powerpoint/2010/main" val="1523807197"/>
              </p:ext>
            </p:extLst>
          </p:nvPr>
        </p:nvGraphicFramePr>
        <p:xfrm>
          <a:off x="1978925" y="4208059"/>
          <a:ext cx="8168640" cy="797332"/>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1646480141"/>
                    </a:ext>
                  </a:extLst>
                </a:gridCol>
                <a:gridCol w="2042160">
                  <a:extLst>
                    <a:ext uri="{9D8B030D-6E8A-4147-A177-3AD203B41FA5}">
                      <a16:colId xmlns:a16="http://schemas.microsoft.com/office/drawing/2014/main" val="3730864746"/>
                    </a:ext>
                  </a:extLst>
                </a:gridCol>
                <a:gridCol w="2042160">
                  <a:extLst>
                    <a:ext uri="{9D8B030D-6E8A-4147-A177-3AD203B41FA5}">
                      <a16:colId xmlns:a16="http://schemas.microsoft.com/office/drawing/2014/main" val="1635383721"/>
                    </a:ext>
                  </a:extLst>
                </a:gridCol>
                <a:gridCol w="2042160">
                  <a:extLst>
                    <a:ext uri="{9D8B030D-6E8A-4147-A177-3AD203B41FA5}">
                      <a16:colId xmlns:a16="http://schemas.microsoft.com/office/drawing/2014/main" val="3720064097"/>
                    </a:ext>
                  </a:extLst>
                </a:gridCol>
              </a:tblGrid>
              <a:tr h="426492">
                <a:tc>
                  <a:txBody>
                    <a:bodyPr/>
                    <a:lstStyle/>
                    <a:p>
                      <a:pPr algn="ctr"/>
                      <a:r>
                        <a:rPr lang="en-GB" err="1"/>
                        <a:t>Sales_id</a:t>
                      </a:r>
                    </a:p>
                  </a:txBody>
                  <a:tcPr/>
                </a:tc>
                <a:tc>
                  <a:txBody>
                    <a:bodyPr/>
                    <a:lstStyle/>
                    <a:p>
                      <a:pPr algn="ctr"/>
                      <a:r>
                        <a:rPr lang="en-GB" err="1"/>
                        <a:t>Cust_id</a:t>
                      </a:r>
                    </a:p>
                  </a:txBody>
                  <a:tcPr/>
                </a:tc>
                <a:tc>
                  <a:txBody>
                    <a:bodyPr/>
                    <a:lstStyle/>
                    <a:p>
                      <a:pPr algn="ctr"/>
                      <a:r>
                        <a:rPr lang="en-GB" err="1"/>
                        <a:t>Sales_date</a:t>
                      </a:r>
                    </a:p>
                  </a:txBody>
                  <a:tcPr/>
                </a:tc>
                <a:tc>
                  <a:txBody>
                    <a:bodyPr/>
                    <a:lstStyle/>
                    <a:p>
                      <a:pPr algn="ctr"/>
                      <a:r>
                        <a:rPr lang="en-GB"/>
                        <a:t>Total</a:t>
                      </a:r>
                    </a:p>
                  </a:txBody>
                  <a:tcPr/>
                </a:tc>
                <a:extLst>
                  <a:ext uri="{0D108BD9-81ED-4DB2-BD59-A6C34878D82A}">
                    <a16:rowId xmlns:a16="http://schemas.microsoft.com/office/drawing/2014/main" val="407530852"/>
                  </a:ext>
                </a:extLst>
              </a:tr>
              <a:tr h="370840">
                <a:tc>
                  <a:txBody>
                    <a:bodyPr/>
                    <a:lstStyle/>
                    <a:p>
                      <a:pPr algn="ctr"/>
                      <a:r>
                        <a:rPr lang="en-GB"/>
                        <a:t>2</a:t>
                      </a:r>
                    </a:p>
                  </a:txBody>
                  <a:tcPr/>
                </a:tc>
                <a:tc>
                  <a:txBody>
                    <a:bodyPr/>
                    <a:lstStyle/>
                    <a:p>
                      <a:pPr algn="ctr"/>
                      <a:r>
                        <a:rPr lang="en-GB"/>
                        <a:t>2</a:t>
                      </a:r>
                    </a:p>
                  </a:txBody>
                  <a:tcPr/>
                </a:tc>
                <a:tc>
                  <a:txBody>
                    <a:bodyPr/>
                    <a:lstStyle/>
                    <a:p>
                      <a:pPr algn="ctr"/>
                      <a:r>
                        <a:rPr lang="en-GB"/>
                        <a:t>11/10/2022</a:t>
                      </a:r>
                    </a:p>
                  </a:txBody>
                  <a:tcPr/>
                </a:tc>
                <a:tc>
                  <a:txBody>
                    <a:bodyPr/>
                    <a:lstStyle/>
                    <a:p>
                      <a:pPr algn="ctr"/>
                      <a:r>
                        <a:rPr lang="en-GB"/>
                        <a:t>15,500</a:t>
                      </a:r>
                    </a:p>
                  </a:txBody>
                  <a:tcPr/>
                </a:tc>
                <a:extLst>
                  <a:ext uri="{0D108BD9-81ED-4DB2-BD59-A6C34878D82A}">
                    <a16:rowId xmlns:a16="http://schemas.microsoft.com/office/drawing/2014/main" val="4035634348"/>
                  </a:ext>
                </a:extLst>
              </a:tr>
            </a:tbl>
          </a:graphicData>
        </a:graphic>
      </p:graphicFrame>
      <p:sp>
        <p:nvSpPr>
          <p:cNvPr id="5" name="TextBox 4">
            <a:extLst>
              <a:ext uri="{FF2B5EF4-FFF2-40B4-BE49-F238E27FC236}">
                <a16:creationId xmlns:a16="http://schemas.microsoft.com/office/drawing/2014/main" id="{E8DD92F1-9EC0-8327-B3B0-F710EBD0AE5B}"/>
              </a:ext>
            </a:extLst>
          </p:cNvPr>
          <p:cNvSpPr txBox="1"/>
          <p:nvPr/>
        </p:nvSpPr>
        <p:spPr>
          <a:xfrm>
            <a:off x="1574042" y="1380699"/>
            <a:ext cx="443779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16.Sales Order Table: -</a:t>
            </a:r>
          </a:p>
          <a:p>
            <a:r>
              <a:rPr lang="en-US" sz="1600" b="1" dirty="0">
                <a:latin typeface="Arial"/>
                <a:cs typeface="Arial"/>
              </a:rPr>
              <a:t>Primary Key: - </a:t>
            </a:r>
            <a:r>
              <a:rPr lang="en-US" sz="1600" b="1" dirty="0" err="1">
                <a:latin typeface="Arial"/>
                <a:cs typeface="Arial"/>
              </a:rPr>
              <a:t>So_id</a:t>
            </a:r>
            <a:r>
              <a:rPr lang="en-US" sz="1600" b="1" dirty="0">
                <a:latin typeface="Arial"/>
                <a:cs typeface="Arial"/>
              </a:rPr>
              <a:t>(Sales Order Id)</a:t>
            </a:r>
          </a:p>
          <a:p>
            <a:r>
              <a:rPr lang="en-US" sz="1600" b="1" dirty="0">
                <a:latin typeface="Arial"/>
                <a:cs typeface="Arial"/>
              </a:rPr>
              <a:t>Description: - It Stores Sales Order Detail</a:t>
            </a:r>
          </a:p>
        </p:txBody>
      </p:sp>
    </p:spTree>
    <p:extLst>
      <p:ext uri="{BB962C8B-B14F-4D97-AF65-F5344CB8AC3E}">
        <p14:creationId xmlns:p14="http://schemas.microsoft.com/office/powerpoint/2010/main" val="36812099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E6D8-F58A-8818-20F2-2892D6606139}"/>
              </a:ext>
            </a:extLst>
          </p:cNvPr>
          <p:cNvSpPr>
            <a:spLocks noGrp="1"/>
          </p:cNvSpPr>
          <p:nvPr>
            <p:ph type="title"/>
          </p:nvPr>
        </p:nvSpPr>
        <p:spPr>
          <a:xfrm>
            <a:off x="4313" y="5691"/>
            <a:ext cx="6590582" cy="908620"/>
          </a:xfrm>
        </p:spPr>
        <p:txBody>
          <a:bodyPr/>
          <a:lstStyle/>
          <a:p>
            <a:pPr marL="342900" indent="-342900">
              <a:buFont typeface="Wingdings"/>
              <a:buChar char="Ø"/>
            </a:pPr>
            <a:r>
              <a:rPr lang="en-GB" sz="2400" b="1" dirty="0">
                <a:ea typeface="Calibri Light"/>
                <a:cs typeface="Calibri Light"/>
              </a:rPr>
              <a:t>Sales Order Detail Table With Example:-</a:t>
            </a:r>
            <a:endParaRPr lang="en-GB" b="1" dirty="0">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229FDD23-D721-FF7B-6160-D91A7B3F3E89}"/>
              </a:ext>
            </a:extLst>
          </p:cNvPr>
          <p:cNvGraphicFramePr>
            <a:graphicFrameLocks noGrp="1"/>
          </p:cNvGraphicFramePr>
          <p:nvPr>
            <p:extLst>
              <p:ext uri="{D42A27DB-BD31-4B8C-83A1-F6EECF244321}">
                <p14:modId xmlns:p14="http://schemas.microsoft.com/office/powerpoint/2010/main" val="1867289326"/>
              </p:ext>
            </p:extLst>
          </p:nvPr>
        </p:nvGraphicFramePr>
        <p:xfrm>
          <a:off x="1620487" y="1675359"/>
          <a:ext cx="9354307" cy="3337559"/>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3144188346"/>
                    </a:ext>
                  </a:extLst>
                </a:gridCol>
                <a:gridCol w="1633727">
                  <a:extLst>
                    <a:ext uri="{9D8B030D-6E8A-4147-A177-3AD203B41FA5}">
                      <a16:colId xmlns:a16="http://schemas.microsoft.com/office/drawing/2014/main" val="1234737921"/>
                    </a:ext>
                  </a:extLst>
                </a:gridCol>
                <a:gridCol w="1633727">
                  <a:extLst>
                    <a:ext uri="{9D8B030D-6E8A-4147-A177-3AD203B41FA5}">
                      <a16:colId xmlns:a16="http://schemas.microsoft.com/office/drawing/2014/main" val="1384976659"/>
                    </a:ext>
                  </a:extLst>
                </a:gridCol>
                <a:gridCol w="1633727">
                  <a:extLst>
                    <a:ext uri="{9D8B030D-6E8A-4147-A177-3AD203B41FA5}">
                      <a16:colId xmlns:a16="http://schemas.microsoft.com/office/drawing/2014/main" val="1487215412"/>
                    </a:ext>
                  </a:extLst>
                </a:gridCol>
                <a:gridCol w="2819399">
                  <a:extLst>
                    <a:ext uri="{9D8B030D-6E8A-4147-A177-3AD203B41FA5}">
                      <a16:colId xmlns:a16="http://schemas.microsoft.com/office/drawing/2014/main" val="3630940268"/>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3595894634"/>
                  </a:ext>
                </a:extLst>
              </a:tr>
              <a:tr h="370840">
                <a:tc>
                  <a:txBody>
                    <a:bodyPr/>
                    <a:lstStyle/>
                    <a:p>
                      <a:pPr algn="ctr"/>
                      <a:r>
                        <a:rPr lang="en-GB" err="1"/>
                        <a:t>Sd_id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Sales Detail id</a:t>
                      </a:r>
                    </a:p>
                  </a:txBody>
                  <a:tcPr/>
                </a:tc>
                <a:extLst>
                  <a:ext uri="{0D108BD9-81ED-4DB2-BD59-A6C34878D82A}">
                    <a16:rowId xmlns:a16="http://schemas.microsoft.com/office/drawing/2014/main" val="905478847"/>
                  </a:ext>
                </a:extLst>
              </a:tr>
              <a:tr h="370840">
                <a:tc>
                  <a:txBody>
                    <a:bodyPr/>
                    <a:lstStyle/>
                    <a:p>
                      <a:pPr algn="ctr"/>
                      <a:r>
                        <a:rPr lang="en-GB" dirty="0" err="1"/>
                        <a:t>So_id</a:t>
                      </a:r>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sales id</a:t>
                      </a:r>
                    </a:p>
                  </a:txBody>
                  <a:tcPr/>
                </a:tc>
                <a:extLst>
                  <a:ext uri="{0D108BD9-81ED-4DB2-BD59-A6C34878D82A}">
                    <a16:rowId xmlns:a16="http://schemas.microsoft.com/office/drawing/2014/main" val="1416337051"/>
                  </a:ext>
                </a:extLst>
              </a:tr>
              <a:tr h="370840">
                <a:tc>
                  <a:txBody>
                    <a:bodyPr/>
                    <a:lstStyle/>
                    <a:p>
                      <a:pPr algn="ctr"/>
                      <a:r>
                        <a:rPr lang="en-GB" err="1"/>
                        <a:t>P_id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product id</a:t>
                      </a:r>
                    </a:p>
                  </a:txBody>
                  <a:tcPr/>
                </a:tc>
                <a:extLst>
                  <a:ext uri="{0D108BD9-81ED-4DB2-BD59-A6C34878D82A}">
                    <a16:rowId xmlns:a16="http://schemas.microsoft.com/office/drawing/2014/main" val="2825388269"/>
                  </a:ext>
                </a:extLst>
              </a:tr>
              <a:tr h="370840">
                <a:tc>
                  <a:txBody>
                    <a:bodyPr/>
                    <a:lstStyle/>
                    <a:p>
                      <a:pPr algn="ctr"/>
                      <a:r>
                        <a:rPr lang="en-GB" dirty="0"/>
                        <a:t>Length</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length</a:t>
                      </a:r>
                    </a:p>
                  </a:txBody>
                  <a:tcPr/>
                </a:tc>
                <a:extLst>
                  <a:ext uri="{0D108BD9-81ED-4DB2-BD59-A6C34878D82A}">
                    <a16:rowId xmlns:a16="http://schemas.microsoft.com/office/drawing/2014/main" val="1923103743"/>
                  </a:ext>
                </a:extLst>
              </a:tr>
              <a:tr h="370840">
                <a:tc>
                  <a:txBody>
                    <a:bodyPr/>
                    <a:lstStyle/>
                    <a:p>
                      <a:pPr algn="ctr"/>
                      <a:r>
                        <a:rPr lang="en-GB" dirty="0"/>
                        <a:t>Length </a:t>
                      </a:r>
                      <a:r>
                        <a:rPr lang="en-GB" dirty="0" err="1"/>
                        <a:t>U_id</a:t>
                      </a:r>
                    </a:p>
                  </a:txBody>
                  <a:tcPr/>
                </a:tc>
                <a:tc>
                  <a:txBody>
                    <a:bodyPr/>
                    <a:lstStyle/>
                    <a:p>
                      <a:pPr algn="ctr"/>
                      <a:r>
                        <a:rPr lang="en-GB" dirty="0"/>
                        <a:t>int</a:t>
                      </a:r>
                    </a:p>
                  </a:txBody>
                  <a:tcPr/>
                </a:tc>
                <a:tc>
                  <a:txBody>
                    <a:bodyPr/>
                    <a:lstStyle/>
                    <a:p>
                      <a:pPr algn="ctr"/>
                      <a:r>
                        <a:rPr lang="en-GB" dirty="0"/>
                        <a:t>10</a:t>
                      </a:r>
                    </a:p>
                  </a:txBody>
                  <a:tcPr/>
                </a:tc>
                <a:tc>
                  <a:txBody>
                    <a:bodyPr/>
                    <a:lstStyle/>
                    <a:p>
                      <a:pPr algn="ctr"/>
                      <a:r>
                        <a:rPr lang="en-GB" dirty="0"/>
                        <a:t>F.K</a:t>
                      </a:r>
                    </a:p>
                  </a:txBody>
                  <a:tcPr/>
                </a:tc>
                <a:tc>
                  <a:txBody>
                    <a:bodyPr/>
                    <a:lstStyle/>
                    <a:p>
                      <a:pPr algn="ctr"/>
                      <a:r>
                        <a:rPr lang="en-GB" dirty="0"/>
                        <a:t>Store length unit id</a:t>
                      </a:r>
                    </a:p>
                  </a:txBody>
                  <a:tcPr/>
                </a:tc>
                <a:extLst>
                  <a:ext uri="{0D108BD9-81ED-4DB2-BD59-A6C34878D82A}">
                    <a16:rowId xmlns:a16="http://schemas.microsoft.com/office/drawing/2014/main" val="3973601017"/>
                  </a:ext>
                </a:extLst>
              </a:tr>
              <a:tr h="370840">
                <a:tc>
                  <a:txBody>
                    <a:bodyPr/>
                    <a:lstStyle/>
                    <a:p>
                      <a:pPr algn="ctr"/>
                      <a:r>
                        <a:rPr lang="en-GB" dirty="0"/>
                        <a:t>Quantity</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quantity</a:t>
                      </a:r>
                    </a:p>
                  </a:txBody>
                  <a:tcPr/>
                </a:tc>
                <a:extLst>
                  <a:ext uri="{0D108BD9-81ED-4DB2-BD59-A6C34878D82A}">
                    <a16:rowId xmlns:a16="http://schemas.microsoft.com/office/drawing/2014/main" val="2638987089"/>
                  </a:ext>
                </a:extLst>
              </a:tr>
              <a:tr h="370840">
                <a:tc>
                  <a:txBody>
                    <a:bodyPr/>
                    <a:lstStyle/>
                    <a:p>
                      <a:pPr algn="ctr"/>
                      <a:r>
                        <a:rPr lang="en-GB" dirty="0"/>
                        <a:t>Rate</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rate</a:t>
                      </a:r>
                    </a:p>
                  </a:txBody>
                  <a:tcPr/>
                </a:tc>
                <a:extLst>
                  <a:ext uri="{0D108BD9-81ED-4DB2-BD59-A6C34878D82A}">
                    <a16:rowId xmlns:a16="http://schemas.microsoft.com/office/drawing/2014/main" val="3762576057"/>
                  </a:ext>
                </a:extLst>
              </a:tr>
              <a:tr h="370839">
                <a:tc>
                  <a:txBody>
                    <a:bodyPr/>
                    <a:lstStyle/>
                    <a:p>
                      <a:pPr lvl="0" algn="ctr">
                        <a:buNone/>
                      </a:pPr>
                      <a:r>
                        <a:rPr lang="en-GB" dirty="0"/>
                        <a:t>Image</a:t>
                      </a:r>
                    </a:p>
                  </a:txBody>
                  <a:tcPr/>
                </a:tc>
                <a:tc>
                  <a:txBody>
                    <a:bodyPr/>
                    <a:lstStyle/>
                    <a:p>
                      <a:pPr lvl="0" algn="ctr">
                        <a:buNone/>
                      </a:pPr>
                      <a:r>
                        <a:rPr lang="en-GB" dirty="0"/>
                        <a:t>varchar</a:t>
                      </a:r>
                    </a:p>
                  </a:txBody>
                  <a:tcPr/>
                </a:tc>
                <a:tc>
                  <a:txBody>
                    <a:bodyPr/>
                    <a:lstStyle/>
                    <a:p>
                      <a:pPr lvl="0" algn="ctr">
                        <a:buNone/>
                      </a:pPr>
                      <a:r>
                        <a:rPr lang="en-GB" dirty="0"/>
                        <a:t>100</a:t>
                      </a:r>
                    </a:p>
                  </a:txBody>
                  <a:tcPr/>
                </a:tc>
                <a:tc>
                  <a:txBody>
                    <a:bodyPr/>
                    <a:lstStyle/>
                    <a:p>
                      <a:pPr lvl="0" algn="ctr">
                        <a:buNone/>
                      </a:pPr>
                      <a:endParaRPr lang="en-GB" dirty="0"/>
                    </a:p>
                  </a:txBody>
                  <a:tcPr/>
                </a:tc>
                <a:tc>
                  <a:txBody>
                    <a:bodyPr/>
                    <a:lstStyle/>
                    <a:p>
                      <a:pPr lvl="0" algn="ctr">
                        <a:buNone/>
                      </a:pPr>
                      <a:r>
                        <a:rPr lang="en-GB" dirty="0"/>
                        <a:t>Store image </a:t>
                      </a:r>
                    </a:p>
                  </a:txBody>
                  <a:tcPr/>
                </a:tc>
                <a:extLst>
                  <a:ext uri="{0D108BD9-81ED-4DB2-BD59-A6C34878D82A}">
                    <a16:rowId xmlns:a16="http://schemas.microsoft.com/office/drawing/2014/main" val="3720571578"/>
                  </a:ext>
                </a:extLst>
              </a:tr>
            </a:tbl>
          </a:graphicData>
        </a:graphic>
      </p:graphicFrame>
      <p:graphicFrame>
        <p:nvGraphicFramePr>
          <p:cNvPr id="4" name="Table 4">
            <a:extLst>
              <a:ext uri="{FF2B5EF4-FFF2-40B4-BE49-F238E27FC236}">
                <a16:creationId xmlns:a16="http://schemas.microsoft.com/office/drawing/2014/main" id="{8CC284BB-3837-4D50-7FBA-B39C29D06861}"/>
              </a:ext>
            </a:extLst>
          </p:cNvPr>
          <p:cNvGraphicFramePr>
            <a:graphicFrameLocks noGrp="1"/>
          </p:cNvGraphicFramePr>
          <p:nvPr>
            <p:extLst>
              <p:ext uri="{D42A27DB-BD31-4B8C-83A1-F6EECF244321}">
                <p14:modId xmlns:p14="http://schemas.microsoft.com/office/powerpoint/2010/main" val="664440654"/>
              </p:ext>
            </p:extLst>
          </p:nvPr>
        </p:nvGraphicFramePr>
        <p:xfrm>
          <a:off x="1901597" y="5099102"/>
          <a:ext cx="9313171" cy="1473200"/>
        </p:xfrm>
        <a:graphic>
          <a:graphicData uri="http://schemas.openxmlformats.org/drawingml/2006/table">
            <a:tbl>
              <a:tblPr firstRow="1" bandRow="1">
                <a:tableStyleId>{5C22544A-7EE6-4342-B048-85BDC9FD1C3A}</a:tableStyleId>
              </a:tblPr>
              <a:tblGrid>
                <a:gridCol w="1021080">
                  <a:extLst>
                    <a:ext uri="{9D8B030D-6E8A-4147-A177-3AD203B41FA5}">
                      <a16:colId xmlns:a16="http://schemas.microsoft.com/office/drawing/2014/main" val="937994393"/>
                    </a:ext>
                  </a:extLst>
                </a:gridCol>
                <a:gridCol w="1021080">
                  <a:extLst>
                    <a:ext uri="{9D8B030D-6E8A-4147-A177-3AD203B41FA5}">
                      <a16:colId xmlns:a16="http://schemas.microsoft.com/office/drawing/2014/main" val="1035465500"/>
                    </a:ext>
                  </a:extLst>
                </a:gridCol>
                <a:gridCol w="1021080">
                  <a:extLst>
                    <a:ext uri="{9D8B030D-6E8A-4147-A177-3AD203B41FA5}">
                      <a16:colId xmlns:a16="http://schemas.microsoft.com/office/drawing/2014/main" val="935800760"/>
                    </a:ext>
                  </a:extLst>
                </a:gridCol>
                <a:gridCol w="1021080">
                  <a:extLst>
                    <a:ext uri="{9D8B030D-6E8A-4147-A177-3AD203B41FA5}">
                      <a16:colId xmlns:a16="http://schemas.microsoft.com/office/drawing/2014/main" val="2818732938"/>
                    </a:ext>
                  </a:extLst>
                </a:gridCol>
                <a:gridCol w="1478506">
                  <a:extLst>
                    <a:ext uri="{9D8B030D-6E8A-4147-A177-3AD203B41FA5}">
                      <a16:colId xmlns:a16="http://schemas.microsoft.com/office/drawing/2014/main" val="634954046"/>
                    </a:ext>
                  </a:extLst>
                </a:gridCol>
                <a:gridCol w="1120593">
                  <a:extLst>
                    <a:ext uri="{9D8B030D-6E8A-4147-A177-3AD203B41FA5}">
                      <a16:colId xmlns:a16="http://schemas.microsoft.com/office/drawing/2014/main" val="1738802640"/>
                    </a:ext>
                  </a:extLst>
                </a:gridCol>
                <a:gridCol w="992643">
                  <a:extLst>
                    <a:ext uri="{9D8B030D-6E8A-4147-A177-3AD203B41FA5}">
                      <a16:colId xmlns:a16="http://schemas.microsoft.com/office/drawing/2014/main" val="3234726275"/>
                    </a:ext>
                  </a:extLst>
                </a:gridCol>
                <a:gridCol w="1637109">
                  <a:extLst>
                    <a:ext uri="{9D8B030D-6E8A-4147-A177-3AD203B41FA5}">
                      <a16:colId xmlns:a16="http://schemas.microsoft.com/office/drawing/2014/main" val="195566793"/>
                    </a:ext>
                  </a:extLst>
                </a:gridCol>
              </a:tblGrid>
              <a:tr h="370840">
                <a:tc>
                  <a:txBody>
                    <a:bodyPr/>
                    <a:lstStyle/>
                    <a:p>
                      <a:pPr algn="ctr"/>
                      <a:r>
                        <a:rPr lang="en-GB" err="1"/>
                        <a:t>Sd_id</a:t>
                      </a:r>
                      <a:endParaRPr lang="en-GB" dirty="0" err="1"/>
                    </a:p>
                  </a:txBody>
                  <a:tcPr/>
                </a:tc>
                <a:tc>
                  <a:txBody>
                    <a:bodyPr/>
                    <a:lstStyle/>
                    <a:p>
                      <a:pPr algn="ctr"/>
                      <a:r>
                        <a:rPr lang="en-GB" err="1"/>
                        <a:t>S_id</a:t>
                      </a:r>
                      <a:endParaRPr lang="en-GB" dirty="0" err="1"/>
                    </a:p>
                  </a:txBody>
                  <a:tcPr/>
                </a:tc>
                <a:tc>
                  <a:txBody>
                    <a:bodyPr/>
                    <a:lstStyle/>
                    <a:p>
                      <a:pPr algn="ctr"/>
                      <a:r>
                        <a:rPr lang="en-GB" err="1"/>
                        <a:t>P_id</a:t>
                      </a:r>
                      <a:endParaRPr lang="en-GB" dirty="0" err="1"/>
                    </a:p>
                  </a:txBody>
                  <a:tcPr/>
                </a:tc>
                <a:tc>
                  <a:txBody>
                    <a:bodyPr/>
                    <a:lstStyle/>
                    <a:p>
                      <a:pPr algn="ctr"/>
                      <a:r>
                        <a:rPr lang="en-GB" dirty="0"/>
                        <a:t>length</a:t>
                      </a:r>
                    </a:p>
                  </a:txBody>
                  <a:tcPr/>
                </a:tc>
                <a:tc>
                  <a:txBody>
                    <a:bodyPr/>
                    <a:lstStyle/>
                    <a:p>
                      <a:pPr algn="ctr"/>
                      <a:r>
                        <a:rPr lang="en-GB" dirty="0"/>
                        <a:t>Length </a:t>
                      </a:r>
                      <a:r>
                        <a:rPr lang="en-GB" dirty="0" err="1"/>
                        <a:t>U_id</a:t>
                      </a:r>
                    </a:p>
                  </a:txBody>
                  <a:tcPr/>
                </a:tc>
                <a:tc>
                  <a:txBody>
                    <a:bodyPr/>
                    <a:lstStyle/>
                    <a:p>
                      <a:pPr algn="ctr"/>
                      <a:r>
                        <a:rPr lang="en-GB" dirty="0"/>
                        <a:t>Quantity</a:t>
                      </a:r>
                    </a:p>
                  </a:txBody>
                  <a:tcPr/>
                </a:tc>
                <a:tc>
                  <a:txBody>
                    <a:bodyPr/>
                    <a:lstStyle/>
                    <a:p>
                      <a:pPr algn="ctr"/>
                      <a:r>
                        <a:rPr lang="en-GB" dirty="0"/>
                        <a:t>Rate</a:t>
                      </a:r>
                    </a:p>
                  </a:txBody>
                  <a:tcPr/>
                </a:tc>
                <a:tc>
                  <a:txBody>
                    <a:bodyPr/>
                    <a:lstStyle/>
                    <a:p>
                      <a:pPr algn="ctr"/>
                      <a:r>
                        <a:rPr lang="en-GB" dirty="0"/>
                        <a:t>Image </a:t>
                      </a:r>
                    </a:p>
                  </a:txBody>
                  <a:tcPr/>
                </a:tc>
                <a:extLst>
                  <a:ext uri="{0D108BD9-81ED-4DB2-BD59-A6C34878D82A}">
                    <a16:rowId xmlns:a16="http://schemas.microsoft.com/office/drawing/2014/main" val="989298389"/>
                  </a:ext>
                </a:extLst>
              </a:tr>
              <a:tr h="355410">
                <a:tc>
                  <a:txBody>
                    <a:bodyPr/>
                    <a:lstStyle/>
                    <a:p>
                      <a:pPr algn="ctr"/>
                      <a:r>
                        <a:rPr lang="en-GB" dirty="0"/>
                        <a:t>1</a:t>
                      </a:r>
                    </a:p>
                  </a:txBody>
                  <a:tcPr/>
                </a:tc>
                <a:tc>
                  <a:txBody>
                    <a:bodyPr/>
                    <a:lstStyle/>
                    <a:p>
                      <a:pPr algn="ctr"/>
                      <a:r>
                        <a:rPr lang="en-GB" dirty="0"/>
                        <a:t>2</a:t>
                      </a:r>
                    </a:p>
                  </a:txBody>
                  <a:tcPr/>
                </a:tc>
                <a:tc>
                  <a:txBody>
                    <a:bodyPr/>
                    <a:lstStyle/>
                    <a:p>
                      <a:pPr algn="ctr"/>
                      <a:r>
                        <a:rPr lang="en-GB" dirty="0"/>
                        <a:t>2</a:t>
                      </a:r>
                    </a:p>
                  </a:txBody>
                  <a:tcPr/>
                </a:tc>
                <a:tc>
                  <a:txBody>
                    <a:bodyPr/>
                    <a:lstStyle/>
                    <a:p>
                      <a:pPr algn="ctr"/>
                      <a:r>
                        <a:rPr lang="en-GB" dirty="0"/>
                        <a:t>13.5</a:t>
                      </a:r>
                    </a:p>
                  </a:txBody>
                  <a:tcPr/>
                </a:tc>
                <a:tc>
                  <a:txBody>
                    <a:bodyPr/>
                    <a:lstStyle/>
                    <a:p>
                      <a:pPr algn="ctr"/>
                      <a:r>
                        <a:rPr lang="en-GB" dirty="0"/>
                        <a:t>3</a:t>
                      </a:r>
                    </a:p>
                  </a:txBody>
                  <a:tcPr/>
                </a:tc>
                <a:tc>
                  <a:txBody>
                    <a:bodyPr/>
                    <a:lstStyle/>
                    <a:p>
                      <a:pPr algn="ctr"/>
                      <a:r>
                        <a:rPr lang="en-GB" dirty="0"/>
                        <a:t>15</a:t>
                      </a:r>
                    </a:p>
                  </a:txBody>
                  <a:tcPr/>
                </a:tc>
                <a:tc>
                  <a:txBody>
                    <a:bodyPr/>
                    <a:lstStyle/>
                    <a:p>
                      <a:pPr algn="ctr"/>
                      <a:r>
                        <a:rPr lang="en-GB" dirty="0"/>
                        <a:t>5200</a:t>
                      </a:r>
                    </a:p>
                  </a:txBody>
                  <a:tcPr/>
                </a:tc>
                <a:tc>
                  <a:txBody>
                    <a:bodyPr/>
                    <a:lstStyle/>
                    <a:p>
                      <a:pPr algn="ctr"/>
                      <a:r>
                        <a:rPr lang="en-GB" dirty="0"/>
                        <a:t>rubber.jpeg</a:t>
                      </a:r>
                    </a:p>
                  </a:txBody>
                  <a:tcPr/>
                </a:tc>
                <a:extLst>
                  <a:ext uri="{0D108BD9-81ED-4DB2-BD59-A6C34878D82A}">
                    <a16:rowId xmlns:a16="http://schemas.microsoft.com/office/drawing/2014/main" val="2443294760"/>
                  </a:ext>
                </a:extLst>
              </a:tr>
              <a:tr h="370840">
                <a:tc>
                  <a:txBody>
                    <a:bodyPr/>
                    <a:lstStyle/>
                    <a:p>
                      <a:pPr algn="ctr"/>
                      <a:r>
                        <a:rPr lang="en-GB" dirty="0"/>
                        <a:t>2</a:t>
                      </a:r>
                    </a:p>
                  </a:txBody>
                  <a:tcPr/>
                </a:tc>
                <a:tc>
                  <a:txBody>
                    <a:bodyPr/>
                    <a:lstStyle/>
                    <a:p>
                      <a:pPr algn="ctr"/>
                      <a:r>
                        <a:rPr lang="en-GB" dirty="0"/>
                        <a:t>2</a:t>
                      </a:r>
                    </a:p>
                  </a:txBody>
                  <a:tcPr/>
                </a:tc>
                <a:tc>
                  <a:txBody>
                    <a:bodyPr/>
                    <a:lstStyle/>
                    <a:p>
                      <a:pPr algn="ctr"/>
                      <a:r>
                        <a:rPr lang="en-GB" dirty="0"/>
                        <a:t>3</a:t>
                      </a:r>
                    </a:p>
                  </a:txBody>
                  <a:tcPr/>
                </a:tc>
                <a:tc>
                  <a:txBody>
                    <a:bodyPr/>
                    <a:lstStyle/>
                    <a:p>
                      <a:pPr algn="ctr"/>
                      <a:r>
                        <a:rPr lang="en-GB" dirty="0"/>
                        <a:t>15</a:t>
                      </a:r>
                    </a:p>
                  </a:txBody>
                  <a:tcPr/>
                </a:tc>
                <a:tc>
                  <a:txBody>
                    <a:bodyPr/>
                    <a:lstStyle/>
                    <a:p>
                      <a:pPr algn="ctr"/>
                      <a:r>
                        <a:rPr lang="en-GB" dirty="0"/>
                        <a:t>3</a:t>
                      </a:r>
                    </a:p>
                  </a:txBody>
                  <a:tcPr/>
                </a:tc>
                <a:tc>
                  <a:txBody>
                    <a:bodyPr/>
                    <a:lstStyle/>
                    <a:p>
                      <a:pPr algn="ctr"/>
                      <a:r>
                        <a:rPr lang="en-GB" dirty="0"/>
                        <a:t>20</a:t>
                      </a:r>
                    </a:p>
                  </a:txBody>
                  <a:tcPr/>
                </a:tc>
                <a:tc>
                  <a:txBody>
                    <a:bodyPr/>
                    <a:lstStyle/>
                    <a:p>
                      <a:pPr algn="ctr"/>
                      <a:r>
                        <a:rPr lang="en-GB" dirty="0"/>
                        <a:t>5300</a:t>
                      </a:r>
                    </a:p>
                  </a:txBody>
                  <a:tcPr/>
                </a:tc>
                <a:tc>
                  <a:txBody>
                    <a:bodyPr/>
                    <a:lstStyle/>
                    <a:p>
                      <a:pPr algn="ctr"/>
                      <a:r>
                        <a:rPr lang="en-GB" dirty="0"/>
                        <a:t>aluminium.png</a:t>
                      </a:r>
                    </a:p>
                  </a:txBody>
                  <a:tcPr/>
                </a:tc>
                <a:extLst>
                  <a:ext uri="{0D108BD9-81ED-4DB2-BD59-A6C34878D82A}">
                    <a16:rowId xmlns:a16="http://schemas.microsoft.com/office/drawing/2014/main" val="2676791517"/>
                  </a:ext>
                </a:extLst>
              </a:tr>
              <a:tr h="357187">
                <a:tc>
                  <a:txBody>
                    <a:bodyPr/>
                    <a:lstStyle/>
                    <a:p>
                      <a:pPr algn="ctr"/>
                      <a:r>
                        <a:rPr lang="en-GB" dirty="0"/>
                        <a:t>3</a:t>
                      </a:r>
                    </a:p>
                  </a:txBody>
                  <a:tcPr/>
                </a:tc>
                <a:tc>
                  <a:txBody>
                    <a:bodyPr/>
                    <a:lstStyle/>
                    <a:p>
                      <a:pPr algn="ctr"/>
                      <a:r>
                        <a:rPr lang="en-GB" dirty="0"/>
                        <a:t>2</a:t>
                      </a:r>
                    </a:p>
                  </a:txBody>
                  <a:tcPr/>
                </a:tc>
                <a:tc>
                  <a:txBody>
                    <a:bodyPr/>
                    <a:lstStyle/>
                    <a:p>
                      <a:pPr algn="ctr"/>
                      <a:r>
                        <a:rPr lang="en-GB" dirty="0"/>
                        <a:t>4</a:t>
                      </a:r>
                    </a:p>
                  </a:txBody>
                  <a:tcPr/>
                </a:tc>
                <a:tc>
                  <a:txBody>
                    <a:bodyPr/>
                    <a:lstStyle/>
                    <a:p>
                      <a:pPr algn="ctr"/>
                      <a:r>
                        <a:rPr lang="en-GB" dirty="0"/>
                        <a:t>16</a:t>
                      </a:r>
                    </a:p>
                  </a:txBody>
                  <a:tcPr/>
                </a:tc>
                <a:tc>
                  <a:txBody>
                    <a:bodyPr/>
                    <a:lstStyle/>
                    <a:p>
                      <a:pPr algn="ctr"/>
                      <a:r>
                        <a:rPr lang="en-GB" dirty="0"/>
                        <a:t>3</a:t>
                      </a:r>
                    </a:p>
                  </a:txBody>
                  <a:tcPr/>
                </a:tc>
                <a:tc>
                  <a:txBody>
                    <a:bodyPr/>
                    <a:lstStyle/>
                    <a:p>
                      <a:pPr algn="ctr"/>
                      <a:r>
                        <a:rPr lang="en-GB" dirty="0"/>
                        <a:t>25</a:t>
                      </a:r>
                    </a:p>
                  </a:txBody>
                  <a:tcPr/>
                </a:tc>
                <a:tc>
                  <a:txBody>
                    <a:bodyPr/>
                    <a:lstStyle/>
                    <a:p>
                      <a:pPr algn="ctr"/>
                      <a:r>
                        <a:rPr lang="en-GB" dirty="0"/>
                        <a:t>5000</a:t>
                      </a:r>
                    </a:p>
                  </a:txBody>
                  <a:tcPr/>
                </a:tc>
                <a:tc>
                  <a:txBody>
                    <a:bodyPr/>
                    <a:lstStyle/>
                    <a:p>
                      <a:pPr algn="ctr"/>
                      <a:r>
                        <a:rPr lang="en-GB" dirty="0"/>
                        <a:t>crome.jpeg</a:t>
                      </a:r>
                    </a:p>
                  </a:txBody>
                  <a:tcPr/>
                </a:tc>
                <a:extLst>
                  <a:ext uri="{0D108BD9-81ED-4DB2-BD59-A6C34878D82A}">
                    <a16:rowId xmlns:a16="http://schemas.microsoft.com/office/drawing/2014/main" val="2488564231"/>
                  </a:ext>
                </a:extLst>
              </a:tr>
            </a:tbl>
          </a:graphicData>
        </a:graphic>
      </p:graphicFrame>
      <p:sp>
        <p:nvSpPr>
          <p:cNvPr id="6" name="TextBox 5">
            <a:extLst>
              <a:ext uri="{FF2B5EF4-FFF2-40B4-BE49-F238E27FC236}">
                <a16:creationId xmlns:a16="http://schemas.microsoft.com/office/drawing/2014/main" id="{850AA903-E76B-C0CD-9148-C42CF4CAAB0A}"/>
              </a:ext>
            </a:extLst>
          </p:cNvPr>
          <p:cNvSpPr txBox="1"/>
          <p:nvPr/>
        </p:nvSpPr>
        <p:spPr>
          <a:xfrm>
            <a:off x="1528549" y="573206"/>
            <a:ext cx="863892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17.Sales Order Detail Table: -</a:t>
            </a:r>
          </a:p>
          <a:p>
            <a:r>
              <a:rPr lang="en-US" sz="1600" b="1" dirty="0">
                <a:latin typeface="Arial"/>
                <a:cs typeface="Arial"/>
              </a:rPr>
              <a:t>Primary Key: - </a:t>
            </a:r>
            <a:r>
              <a:rPr lang="en-US" sz="1600" b="1" dirty="0" err="1">
                <a:latin typeface="Arial"/>
                <a:cs typeface="Arial"/>
              </a:rPr>
              <a:t>Sd_id</a:t>
            </a:r>
            <a:r>
              <a:rPr lang="en-US" sz="1600" b="1" dirty="0">
                <a:latin typeface="Arial"/>
                <a:cs typeface="Arial"/>
              </a:rPr>
              <a:t>(Sales Order Detail Id)</a:t>
            </a:r>
          </a:p>
          <a:p>
            <a:r>
              <a:rPr lang="en-US" sz="1600" b="1" dirty="0">
                <a:latin typeface="Arial"/>
                <a:cs typeface="Arial"/>
              </a:rPr>
              <a:t>Foreign Key: - </a:t>
            </a:r>
            <a:r>
              <a:rPr lang="en-US" sz="1600" b="1" dirty="0" err="1">
                <a:latin typeface="Arial"/>
                <a:cs typeface="Arial"/>
              </a:rPr>
              <a:t>So_id</a:t>
            </a:r>
            <a:r>
              <a:rPr lang="en-US" sz="1600" b="1" dirty="0">
                <a:latin typeface="Arial"/>
                <a:cs typeface="Arial"/>
              </a:rPr>
              <a:t>(Sales Order Id), </a:t>
            </a:r>
            <a:r>
              <a:rPr lang="en-US" sz="1600" b="1" dirty="0" err="1">
                <a:latin typeface="Arial"/>
                <a:cs typeface="Arial"/>
              </a:rPr>
              <a:t>P_id</a:t>
            </a:r>
            <a:r>
              <a:rPr lang="en-US" sz="1600" b="1" dirty="0">
                <a:latin typeface="Arial"/>
                <a:cs typeface="Arial"/>
              </a:rPr>
              <a:t>(Product Id), Length </a:t>
            </a:r>
            <a:r>
              <a:rPr lang="en-US" sz="1600" b="1" dirty="0" err="1">
                <a:latin typeface="Arial"/>
                <a:cs typeface="Arial"/>
              </a:rPr>
              <a:t>U_id</a:t>
            </a:r>
            <a:r>
              <a:rPr lang="en-US" sz="1600" b="1" dirty="0">
                <a:latin typeface="Arial"/>
                <a:cs typeface="Arial"/>
              </a:rPr>
              <a:t>(Length Unit Id)</a:t>
            </a:r>
          </a:p>
          <a:p>
            <a:r>
              <a:rPr lang="en-US" sz="1600" b="1" dirty="0">
                <a:latin typeface="Arial"/>
                <a:cs typeface="Arial"/>
              </a:rPr>
              <a:t>Description: - It Stores Sales Order Detail Table`s Detail</a:t>
            </a:r>
          </a:p>
        </p:txBody>
      </p:sp>
    </p:spTree>
    <p:extLst>
      <p:ext uri="{BB962C8B-B14F-4D97-AF65-F5344CB8AC3E}">
        <p14:creationId xmlns:p14="http://schemas.microsoft.com/office/powerpoint/2010/main" val="1538958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BEFEE-0B6B-B3B2-1C1B-0CE3363FFE80}"/>
              </a:ext>
            </a:extLst>
          </p:cNvPr>
          <p:cNvSpPr>
            <a:spLocks noGrp="1"/>
          </p:cNvSpPr>
          <p:nvPr>
            <p:ph type="title"/>
          </p:nvPr>
        </p:nvSpPr>
        <p:spPr>
          <a:xfrm>
            <a:off x="4313" y="5691"/>
            <a:ext cx="3965852" cy="879865"/>
          </a:xfrm>
        </p:spPr>
        <p:txBody>
          <a:bodyPr/>
          <a:lstStyle/>
          <a:p>
            <a:pPr marL="342900" indent="-342900">
              <a:buFont typeface="Wingdings"/>
              <a:buChar char="Ø"/>
            </a:pPr>
            <a:r>
              <a:rPr lang="en-GB" sz="2400" b="1" dirty="0">
                <a:ea typeface="Calibri Light"/>
                <a:cs typeface="Calibri Light"/>
              </a:rPr>
              <a:t>Billing Table With Example:-</a:t>
            </a:r>
            <a:endParaRPr lang="en-GB" b="1" dirty="0">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EC0FCA04-3352-DBCA-3289-0466A206BC2A}"/>
              </a:ext>
            </a:extLst>
          </p:cNvPr>
          <p:cNvGraphicFramePr>
            <a:graphicFrameLocks noGrp="1"/>
          </p:cNvGraphicFramePr>
          <p:nvPr>
            <p:extLst>
              <p:ext uri="{D42A27DB-BD31-4B8C-83A1-F6EECF244321}">
                <p14:modId xmlns:p14="http://schemas.microsoft.com/office/powerpoint/2010/main" val="1124787491"/>
              </p:ext>
            </p:extLst>
          </p:nvPr>
        </p:nvGraphicFramePr>
        <p:xfrm>
          <a:off x="1977560" y="2485212"/>
          <a:ext cx="8168640" cy="1854200"/>
        </p:xfrm>
        <a:graphic>
          <a:graphicData uri="http://schemas.openxmlformats.org/drawingml/2006/table">
            <a:tbl>
              <a:tblPr firstRow="1" bandRow="1">
                <a:tableStyleId>{5C22544A-7EE6-4342-B048-85BDC9FD1C3A}</a:tableStyleId>
              </a:tblPr>
              <a:tblGrid>
                <a:gridCol w="1633728">
                  <a:extLst>
                    <a:ext uri="{9D8B030D-6E8A-4147-A177-3AD203B41FA5}">
                      <a16:colId xmlns:a16="http://schemas.microsoft.com/office/drawing/2014/main" val="353402006"/>
                    </a:ext>
                  </a:extLst>
                </a:gridCol>
                <a:gridCol w="1633728">
                  <a:extLst>
                    <a:ext uri="{9D8B030D-6E8A-4147-A177-3AD203B41FA5}">
                      <a16:colId xmlns:a16="http://schemas.microsoft.com/office/drawing/2014/main" val="2134288735"/>
                    </a:ext>
                  </a:extLst>
                </a:gridCol>
                <a:gridCol w="1633728">
                  <a:extLst>
                    <a:ext uri="{9D8B030D-6E8A-4147-A177-3AD203B41FA5}">
                      <a16:colId xmlns:a16="http://schemas.microsoft.com/office/drawing/2014/main" val="3326232835"/>
                    </a:ext>
                  </a:extLst>
                </a:gridCol>
                <a:gridCol w="1633728">
                  <a:extLst>
                    <a:ext uri="{9D8B030D-6E8A-4147-A177-3AD203B41FA5}">
                      <a16:colId xmlns:a16="http://schemas.microsoft.com/office/drawing/2014/main" val="4192212781"/>
                    </a:ext>
                  </a:extLst>
                </a:gridCol>
                <a:gridCol w="1633728">
                  <a:extLst>
                    <a:ext uri="{9D8B030D-6E8A-4147-A177-3AD203B41FA5}">
                      <a16:colId xmlns:a16="http://schemas.microsoft.com/office/drawing/2014/main" val="1803892054"/>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3653511581"/>
                  </a:ext>
                </a:extLst>
              </a:tr>
              <a:tr h="370840">
                <a:tc>
                  <a:txBody>
                    <a:bodyPr/>
                    <a:lstStyle/>
                    <a:p>
                      <a:pPr algn="ctr"/>
                      <a:r>
                        <a:rPr lang="en-GB" err="1"/>
                        <a:t>Bill_id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Bill id</a:t>
                      </a:r>
                    </a:p>
                  </a:txBody>
                  <a:tcPr/>
                </a:tc>
                <a:extLst>
                  <a:ext uri="{0D108BD9-81ED-4DB2-BD59-A6C34878D82A}">
                    <a16:rowId xmlns:a16="http://schemas.microsoft.com/office/drawing/2014/main" val="1739335466"/>
                  </a:ext>
                </a:extLst>
              </a:tr>
              <a:tr h="370840">
                <a:tc>
                  <a:txBody>
                    <a:bodyPr/>
                    <a:lstStyle/>
                    <a:p>
                      <a:pPr algn="ctr"/>
                      <a:r>
                        <a:rPr lang="en-GB" dirty="0" err="1"/>
                        <a:t>So_id</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F.K</a:t>
                      </a:r>
                    </a:p>
                  </a:txBody>
                  <a:tcPr/>
                </a:tc>
                <a:tc>
                  <a:txBody>
                    <a:bodyPr/>
                    <a:lstStyle/>
                    <a:p>
                      <a:pPr algn="ctr"/>
                      <a:r>
                        <a:rPr lang="en-GB" dirty="0"/>
                        <a:t>Store sales id</a:t>
                      </a:r>
                    </a:p>
                  </a:txBody>
                  <a:tcPr/>
                </a:tc>
                <a:extLst>
                  <a:ext uri="{0D108BD9-81ED-4DB2-BD59-A6C34878D82A}">
                    <a16:rowId xmlns:a16="http://schemas.microsoft.com/office/drawing/2014/main" val="1029389343"/>
                  </a:ext>
                </a:extLst>
              </a:tr>
              <a:tr h="370840">
                <a:tc>
                  <a:txBody>
                    <a:bodyPr/>
                    <a:lstStyle/>
                    <a:p>
                      <a:pPr algn="ctr"/>
                      <a:r>
                        <a:rPr lang="en-GB" err="1"/>
                        <a:t>Bill_date</a:t>
                      </a:r>
                      <a:endParaRPr lang="en-GB" dirty="0" err="1"/>
                    </a:p>
                  </a:txBody>
                  <a:tcPr/>
                </a:tc>
                <a:tc>
                  <a:txBody>
                    <a:bodyPr/>
                    <a:lstStyle/>
                    <a:p>
                      <a:pPr algn="ctr"/>
                      <a:r>
                        <a:rPr lang="en-GB" dirty="0"/>
                        <a:t>date</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bill date </a:t>
                      </a:r>
                    </a:p>
                  </a:txBody>
                  <a:tcPr/>
                </a:tc>
                <a:extLst>
                  <a:ext uri="{0D108BD9-81ED-4DB2-BD59-A6C34878D82A}">
                    <a16:rowId xmlns:a16="http://schemas.microsoft.com/office/drawing/2014/main" val="506828015"/>
                  </a:ext>
                </a:extLst>
              </a:tr>
              <a:tr h="370840">
                <a:tc>
                  <a:txBody>
                    <a:bodyPr/>
                    <a:lstStyle/>
                    <a:p>
                      <a:pPr algn="ctr"/>
                      <a:r>
                        <a:rPr lang="en-GB" dirty="0"/>
                        <a:t>Total</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total</a:t>
                      </a:r>
                    </a:p>
                  </a:txBody>
                  <a:tcPr/>
                </a:tc>
                <a:extLst>
                  <a:ext uri="{0D108BD9-81ED-4DB2-BD59-A6C34878D82A}">
                    <a16:rowId xmlns:a16="http://schemas.microsoft.com/office/drawing/2014/main" val="2767595447"/>
                  </a:ext>
                </a:extLst>
              </a:tr>
            </a:tbl>
          </a:graphicData>
        </a:graphic>
      </p:graphicFrame>
      <p:graphicFrame>
        <p:nvGraphicFramePr>
          <p:cNvPr id="5" name="Table 5">
            <a:extLst>
              <a:ext uri="{FF2B5EF4-FFF2-40B4-BE49-F238E27FC236}">
                <a16:creationId xmlns:a16="http://schemas.microsoft.com/office/drawing/2014/main" id="{EFA8FAD2-513E-D522-09B5-A1F4C210D03E}"/>
              </a:ext>
            </a:extLst>
          </p:cNvPr>
          <p:cNvGraphicFramePr>
            <a:graphicFrameLocks noGrp="1"/>
          </p:cNvGraphicFramePr>
          <p:nvPr>
            <p:extLst>
              <p:ext uri="{D42A27DB-BD31-4B8C-83A1-F6EECF244321}">
                <p14:modId xmlns:p14="http://schemas.microsoft.com/office/powerpoint/2010/main" val="2731674949"/>
              </p:ext>
            </p:extLst>
          </p:nvPr>
        </p:nvGraphicFramePr>
        <p:xfrm>
          <a:off x="1969193" y="4535380"/>
          <a:ext cx="8168640" cy="74168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2891804677"/>
                    </a:ext>
                  </a:extLst>
                </a:gridCol>
                <a:gridCol w="2042160">
                  <a:extLst>
                    <a:ext uri="{9D8B030D-6E8A-4147-A177-3AD203B41FA5}">
                      <a16:colId xmlns:a16="http://schemas.microsoft.com/office/drawing/2014/main" val="1576683256"/>
                    </a:ext>
                  </a:extLst>
                </a:gridCol>
                <a:gridCol w="2042160">
                  <a:extLst>
                    <a:ext uri="{9D8B030D-6E8A-4147-A177-3AD203B41FA5}">
                      <a16:colId xmlns:a16="http://schemas.microsoft.com/office/drawing/2014/main" val="3103512676"/>
                    </a:ext>
                  </a:extLst>
                </a:gridCol>
                <a:gridCol w="2042160">
                  <a:extLst>
                    <a:ext uri="{9D8B030D-6E8A-4147-A177-3AD203B41FA5}">
                      <a16:colId xmlns:a16="http://schemas.microsoft.com/office/drawing/2014/main" val="2167273972"/>
                    </a:ext>
                  </a:extLst>
                </a:gridCol>
              </a:tblGrid>
              <a:tr h="370840">
                <a:tc>
                  <a:txBody>
                    <a:bodyPr/>
                    <a:lstStyle/>
                    <a:p>
                      <a:pPr algn="ctr"/>
                      <a:r>
                        <a:rPr lang="en-GB" err="1"/>
                        <a:t>Bill_id</a:t>
                      </a:r>
                    </a:p>
                  </a:txBody>
                  <a:tcPr/>
                </a:tc>
                <a:tc>
                  <a:txBody>
                    <a:bodyPr/>
                    <a:lstStyle/>
                    <a:p>
                      <a:pPr algn="ctr"/>
                      <a:r>
                        <a:rPr lang="en-GB" err="1"/>
                        <a:t>S_id</a:t>
                      </a:r>
                    </a:p>
                  </a:txBody>
                  <a:tcPr/>
                </a:tc>
                <a:tc>
                  <a:txBody>
                    <a:bodyPr/>
                    <a:lstStyle/>
                    <a:p>
                      <a:pPr algn="ctr"/>
                      <a:r>
                        <a:rPr lang="en-GB" err="1"/>
                        <a:t>Bill_date</a:t>
                      </a:r>
                    </a:p>
                  </a:txBody>
                  <a:tcPr/>
                </a:tc>
                <a:tc>
                  <a:txBody>
                    <a:bodyPr/>
                    <a:lstStyle/>
                    <a:p>
                      <a:pPr algn="ctr"/>
                      <a:r>
                        <a:rPr lang="en-GB"/>
                        <a:t>Total</a:t>
                      </a:r>
                    </a:p>
                  </a:txBody>
                  <a:tcPr/>
                </a:tc>
                <a:extLst>
                  <a:ext uri="{0D108BD9-81ED-4DB2-BD59-A6C34878D82A}">
                    <a16:rowId xmlns:a16="http://schemas.microsoft.com/office/drawing/2014/main" val="2607276959"/>
                  </a:ext>
                </a:extLst>
              </a:tr>
              <a:tr h="370840">
                <a:tc>
                  <a:txBody>
                    <a:bodyPr/>
                    <a:lstStyle/>
                    <a:p>
                      <a:pPr algn="ctr"/>
                      <a:r>
                        <a:rPr lang="en-GB"/>
                        <a:t>2</a:t>
                      </a:r>
                    </a:p>
                  </a:txBody>
                  <a:tcPr/>
                </a:tc>
                <a:tc>
                  <a:txBody>
                    <a:bodyPr/>
                    <a:lstStyle/>
                    <a:p>
                      <a:pPr algn="ctr"/>
                      <a:r>
                        <a:rPr lang="en-GB"/>
                        <a:t>2</a:t>
                      </a:r>
                    </a:p>
                  </a:txBody>
                  <a:tcPr/>
                </a:tc>
                <a:tc>
                  <a:txBody>
                    <a:bodyPr/>
                    <a:lstStyle/>
                    <a:p>
                      <a:pPr algn="ctr"/>
                      <a:r>
                        <a:rPr lang="en-GB"/>
                        <a:t>11/10/2022</a:t>
                      </a:r>
                    </a:p>
                  </a:txBody>
                  <a:tcPr/>
                </a:tc>
                <a:tc>
                  <a:txBody>
                    <a:bodyPr/>
                    <a:lstStyle/>
                    <a:p>
                      <a:pPr algn="ctr"/>
                      <a:r>
                        <a:rPr lang="en-GB"/>
                        <a:t>15,500</a:t>
                      </a:r>
                    </a:p>
                  </a:txBody>
                  <a:tcPr/>
                </a:tc>
                <a:extLst>
                  <a:ext uri="{0D108BD9-81ED-4DB2-BD59-A6C34878D82A}">
                    <a16:rowId xmlns:a16="http://schemas.microsoft.com/office/drawing/2014/main" val="1184395686"/>
                  </a:ext>
                </a:extLst>
              </a:tr>
            </a:tbl>
          </a:graphicData>
        </a:graphic>
      </p:graphicFrame>
      <p:sp>
        <p:nvSpPr>
          <p:cNvPr id="4" name="TextBox 3">
            <a:extLst>
              <a:ext uri="{FF2B5EF4-FFF2-40B4-BE49-F238E27FC236}">
                <a16:creationId xmlns:a16="http://schemas.microsoft.com/office/drawing/2014/main" id="{5DCED7DC-9DD3-82E9-4E5C-CA5A676BCF0B}"/>
              </a:ext>
            </a:extLst>
          </p:cNvPr>
          <p:cNvSpPr txBox="1"/>
          <p:nvPr/>
        </p:nvSpPr>
        <p:spPr>
          <a:xfrm>
            <a:off x="1881116" y="1437564"/>
            <a:ext cx="413072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18.Billing Table: -</a:t>
            </a:r>
          </a:p>
          <a:p>
            <a:r>
              <a:rPr lang="en-US" sz="1600" b="1" dirty="0">
                <a:latin typeface="Arial"/>
                <a:cs typeface="Arial"/>
              </a:rPr>
              <a:t>Primary Key: - </a:t>
            </a:r>
            <a:r>
              <a:rPr lang="en-US" sz="1600" b="1" dirty="0" err="1">
                <a:latin typeface="Arial"/>
                <a:cs typeface="Arial"/>
              </a:rPr>
              <a:t>Bill_id</a:t>
            </a:r>
            <a:endParaRPr lang="en-US" sz="1600" b="1">
              <a:latin typeface="Arial"/>
              <a:cs typeface="Arial"/>
            </a:endParaRPr>
          </a:p>
          <a:p>
            <a:r>
              <a:rPr lang="en-US" sz="1600" b="1" dirty="0">
                <a:latin typeface="Arial"/>
                <a:cs typeface="Arial"/>
              </a:rPr>
              <a:t>Foreign Key: - </a:t>
            </a:r>
            <a:r>
              <a:rPr lang="en-US" sz="1600" b="1" dirty="0" err="1">
                <a:latin typeface="Arial"/>
                <a:cs typeface="Arial"/>
              </a:rPr>
              <a:t>So_id</a:t>
            </a:r>
            <a:r>
              <a:rPr lang="en-US" sz="1600" b="1" dirty="0">
                <a:latin typeface="Arial"/>
                <a:cs typeface="Arial"/>
              </a:rPr>
              <a:t>(Sales Order Id)</a:t>
            </a:r>
          </a:p>
          <a:p>
            <a:r>
              <a:rPr lang="en-US" sz="1600" b="1" dirty="0">
                <a:latin typeface="Arial"/>
                <a:cs typeface="Arial"/>
              </a:rPr>
              <a:t>Description: - It Stores Billing Detail</a:t>
            </a:r>
          </a:p>
        </p:txBody>
      </p:sp>
    </p:spTree>
    <p:extLst>
      <p:ext uri="{BB962C8B-B14F-4D97-AF65-F5344CB8AC3E}">
        <p14:creationId xmlns:p14="http://schemas.microsoft.com/office/powerpoint/2010/main" val="1724581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1534-34DD-CF96-B6A6-BEC66C3D2AAA}"/>
              </a:ext>
            </a:extLst>
          </p:cNvPr>
          <p:cNvSpPr>
            <a:spLocks noGrp="1"/>
          </p:cNvSpPr>
          <p:nvPr>
            <p:ph type="title"/>
          </p:nvPr>
        </p:nvSpPr>
        <p:spPr>
          <a:xfrm>
            <a:off x="4313" y="5691"/>
            <a:ext cx="5555411" cy="937374"/>
          </a:xfrm>
        </p:spPr>
        <p:txBody>
          <a:bodyPr/>
          <a:lstStyle/>
          <a:p>
            <a:pPr marL="342900" indent="-342900">
              <a:buFont typeface="Wingdings"/>
              <a:buChar char="Ø"/>
            </a:pPr>
            <a:r>
              <a:rPr lang="en-GB" sz="2400" b="1" dirty="0">
                <a:ea typeface="Calibri Light"/>
                <a:cs typeface="Calibri Light"/>
              </a:rPr>
              <a:t>Billing Detail Table With Example:-</a:t>
            </a:r>
          </a:p>
        </p:txBody>
      </p:sp>
      <p:graphicFrame>
        <p:nvGraphicFramePr>
          <p:cNvPr id="3" name="Table 3">
            <a:extLst>
              <a:ext uri="{FF2B5EF4-FFF2-40B4-BE49-F238E27FC236}">
                <a16:creationId xmlns:a16="http://schemas.microsoft.com/office/drawing/2014/main" id="{6EB0D3C3-3503-2666-081A-752693A750C4}"/>
              </a:ext>
            </a:extLst>
          </p:cNvPr>
          <p:cNvGraphicFramePr>
            <a:graphicFrameLocks noGrp="1"/>
          </p:cNvGraphicFramePr>
          <p:nvPr>
            <p:extLst>
              <p:ext uri="{D42A27DB-BD31-4B8C-83A1-F6EECF244321}">
                <p14:modId xmlns:p14="http://schemas.microsoft.com/office/powerpoint/2010/main" val="931727852"/>
              </p:ext>
            </p:extLst>
          </p:nvPr>
        </p:nvGraphicFramePr>
        <p:xfrm>
          <a:off x="1658255" y="1972992"/>
          <a:ext cx="8801858" cy="2595880"/>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2820126155"/>
                    </a:ext>
                  </a:extLst>
                </a:gridCol>
                <a:gridCol w="1633727">
                  <a:extLst>
                    <a:ext uri="{9D8B030D-6E8A-4147-A177-3AD203B41FA5}">
                      <a16:colId xmlns:a16="http://schemas.microsoft.com/office/drawing/2014/main" val="2170747268"/>
                    </a:ext>
                  </a:extLst>
                </a:gridCol>
                <a:gridCol w="1633727">
                  <a:extLst>
                    <a:ext uri="{9D8B030D-6E8A-4147-A177-3AD203B41FA5}">
                      <a16:colId xmlns:a16="http://schemas.microsoft.com/office/drawing/2014/main" val="1331890876"/>
                    </a:ext>
                  </a:extLst>
                </a:gridCol>
                <a:gridCol w="1633727">
                  <a:extLst>
                    <a:ext uri="{9D8B030D-6E8A-4147-A177-3AD203B41FA5}">
                      <a16:colId xmlns:a16="http://schemas.microsoft.com/office/drawing/2014/main" val="2430047913"/>
                    </a:ext>
                  </a:extLst>
                </a:gridCol>
                <a:gridCol w="2266950">
                  <a:extLst>
                    <a:ext uri="{9D8B030D-6E8A-4147-A177-3AD203B41FA5}">
                      <a16:colId xmlns:a16="http://schemas.microsoft.com/office/drawing/2014/main" val="3988816560"/>
                    </a:ext>
                  </a:extLst>
                </a:gridCol>
              </a:tblGrid>
              <a:tr h="370840">
                <a:tc>
                  <a:txBody>
                    <a:bodyPr/>
                    <a:lstStyle/>
                    <a:p>
                      <a:pPr lvl="0" algn="ctr">
                        <a:buNone/>
                      </a:pPr>
                      <a:r>
                        <a:rPr lang="en-GB"/>
                        <a:t>Fieldname</a:t>
                      </a:r>
                      <a:endParaRPr lang="en-US"/>
                    </a:p>
                  </a:txBody>
                  <a:tcPr/>
                </a:tc>
                <a:tc>
                  <a:txBody>
                    <a:bodyPr/>
                    <a:lstStyle/>
                    <a:p>
                      <a:pPr lvl="0" algn="ctr">
                        <a:buNone/>
                      </a:pPr>
                      <a:r>
                        <a:rPr lang="en-GB"/>
                        <a:t>Datatype</a:t>
                      </a:r>
                      <a:endParaRPr lang="en-US"/>
                    </a:p>
                  </a:txBody>
                  <a:tcPr/>
                </a:tc>
                <a:tc>
                  <a:txBody>
                    <a:bodyPr/>
                    <a:lstStyle/>
                    <a:p>
                      <a:pPr lvl="0" algn="ctr">
                        <a:buNone/>
                      </a:pPr>
                      <a:r>
                        <a:rPr lang="en-GB"/>
                        <a:t>Size</a:t>
                      </a:r>
                      <a:endParaRPr lang="en-US"/>
                    </a:p>
                  </a:txBody>
                  <a:tcPr/>
                </a:tc>
                <a:tc>
                  <a:txBody>
                    <a:bodyPr/>
                    <a:lstStyle/>
                    <a:p>
                      <a:pPr lvl="0" algn="ctr">
                        <a:buNone/>
                      </a:pPr>
                      <a:r>
                        <a:rPr lang="en-GB"/>
                        <a:t>Constraint</a:t>
                      </a:r>
                      <a:endParaRPr lang="en-US"/>
                    </a:p>
                  </a:txBody>
                  <a:tcPr/>
                </a:tc>
                <a:tc>
                  <a:txBody>
                    <a:bodyPr/>
                    <a:lstStyle/>
                    <a:p>
                      <a:pPr lvl="0" algn="ctr">
                        <a:buNone/>
                      </a:pPr>
                      <a:r>
                        <a:rPr lang="en-GB"/>
                        <a:t>Description</a:t>
                      </a:r>
                      <a:endParaRPr lang="en-US"/>
                    </a:p>
                  </a:txBody>
                  <a:tcPr/>
                </a:tc>
                <a:extLst>
                  <a:ext uri="{0D108BD9-81ED-4DB2-BD59-A6C34878D82A}">
                    <a16:rowId xmlns:a16="http://schemas.microsoft.com/office/drawing/2014/main" val="1226637759"/>
                  </a:ext>
                </a:extLst>
              </a:tr>
              <a:tr h="370840">
                <a:tc>
                  <a:txBody>
                    <a:bodyPr/>
                    <a:lstStyle/>
                    <a:p>
                      <a:pPr algn="ctr"/>
                      <a:r>
                        <a:rPr lang="en-GB" err="1"/>
                        <a:t>Bd_id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P.K</a:t>
                      </a:r>
                    </a:p>
                  </a:txBody>
                  <a:tcPr/>
                </a:tc>
                <a:tc>
                  <a:txBody>
                    <a:bodyPr/>
                    <a:lstStyle/>
                    <a:p>
                      <a:pPr algn="ctr"/>
                      <a:r>
                        <a:rPr lang="en-GB"/>
                        <a:t>Store bill detail id</a:t>
                      </a:r>
                    </a:p>
                  </a:txBody>
                  <a:tcPr/>
                </a:tc>
                <a:extLst>
                  <a:ext uri="{0D108BD9-81ED-4DB2-BD59-A6C34878D82A}">
                    <a16:rowId xmlns:a16="http://schemas.microsoft.com/office/drawing/2014/main" val="45266913"/>
                  </a:ext>
                </a:extLst>
              </a:tr>
              <a:tr h="370840">
                <a:tc>
                  <a:txBody>
                    <a:bodyPr/>
                    <a:lstStyle/>
                    <a:p>
                      <a:pPr algn="ctr"/>
                      <a:r>
                        <a:rPr lang="en-GB" err="1"/>
                        <a:t>Bill_id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F.K</a:t>
                      </a:r>
                    </a:p>
                  </a:txBody>
                  <a:tcPr/>
                </a:tc>
                <a:tc>
                  <a:txBody>
                    <a:bodyPr/>
                    <a:lstStyle/>
                    <a:p>
                      <a:pPr algn="ctr"/>
                      <a:r>
                        <a:rPr lang="en-GB"/>
                        <a:t>Store bill id</a:t>
                      </a:r>
                    </a:p>
                  </a:txBody>
                  <a:tcPr/>
                </a:tc>
                <a:extLst>
                  <a:ext uri="{0D108BD9-81ED-4DB2-BD59-A6C34878D82A}">
                    <a16:rowId xmlns:a16="http://schemas.microsoft.com/office/drawing/2014/main" val="498691233"/>
                  </a:ext>
                </a:extLst>
              </a:tr>
              <a:tr h="370840">
                <a:tc>
                  <a:txBody>
                    <a:bodyPr/>
                    <a:lstStyle/>
                    <a:p>
                      <a:pPr algn="ctr"/>
                      <a:r>
                        <a:rPr lang="en-GB" err="1"/>
                        <a:t>P_id</a:t>
                      </a:r>
                    </a:p>
                  </a:txBody>
                  <a:tcPr/>
                </a:tc>
                <a:tc>
                  <a:txBody>
                    <a:bodyPr/>
                    <a:lstStyle/>
                    <a:p>
                      <a:pPr algn="ctr"/>
                      <a:r>
                        <a:rPr lang="en-GB"/>
                        <a:t>int</a:t>
                      </a:r>
                    </a:p>
                  </a:txBody>
                  <a:tcPr/>
                </a:tc>
                <a:tc>
                  <a:txBody>
                    <a:bodyPr/>
                    <a:lstStyle/>
                    <a:p>
                      <a:pPr algn="ctr"/>
                      <a:r>
                        <a:rPr lang="en-GB"/>
                        <a:t>11</a:t>
                      </a:r>
                    </a:p>
                  </a:txBody>
                  <a:tcPr/>
                </a:tc>
                <a:tc>
                  <a:txBody>
                    <a:bodyPr/>
                    <a:lstStyle/>
                    <a:p>
                      <a:pPr algn="ctr"/>
                      <a:r>
                        <a:rPr lang="en-GB"/>
                        <a:t>F.K</a:t>
                      </a:r>
                    </a:p>
                  </a:txBody>
                  <a:tcPr/>
                </a:tc>
                <a:tc>
                  <a:txBody>
                    <a:bodyPr/>
                    <a:lstStyle/>
                    <a:p>
                      <a:pPr algn="ctr"/>
                      <a:r>
                        <a:rPr lang="en-GB"/>
                        <a:t>Store product id </a:t>
                      </a:r>
                    </a:p>
                  </a:txBody>
                  <a:tcPr/>
                </a:tc>
                <a:extLst>
                  <a:ext uri="{0D108BD9-81ED-4DB2-BD59-A6C34878D82A}">
                    <a16:rowId xmlns:a16="http://schemas.microsoft.com/office/drawing/2014/main" val="3857605856"/>
                  </a:ext>
                </a:extLst>
              </a:tr>
              <a:tr h="370840">
                <a:tc>
                  <a:txBody>
                    <a:bodyPr/>
                    <a:lstStyle/>
                    <a:p>
                      <a:pPr algn="ctr"/>
                      <a:r>
                        <a:rPr lang="en-GB"/>
                        <a:t>Description</a:t>
                      </a:r>
                    </a:p>
                  </a:txBody>
                  <a:tcPr/>
                </a:tc>
                <a:tc>
                  <a:txBody>
                    <a:bodyPr/>
                    <a:lstStyle/>
                    <a:p>
                      <a:pPr algn="ctr"/>
                      <a:r>
                        <a:rPr lang="en-GB"/>
                        <a:t>varchar</a:t>
                      </a:r>
                    </a:p>
                  </a:txBody>
                  <a:tcPr/>
                </a:tc>
                <a:tc>
                  <a:txBody>
                    <a:bodyPr/>
                    <a:lstStyle/>
                    <a:p>
                      <a:pPr algn="ctr"/>
                      <a:r>
                        <a:rPr lang="en-GB"/>
                        <a:t>60</a:t>
                      </a:r>
                    </a:p>
                  </a:txBody>
                  <a:tcPr/>
                </a:tc>
                <a:tc>
                  <a:txBody>
                    <a:bodyPr/>
                    <a:lstStyle/>
                    <a:p>
                      <a:pPr algn="ctr"/>
                      <a:r>
                        <a:rPr lang="en-GB"/>
                        <a:t>Not null</a:t>
                      </a:r>
                    </a:p>
                  </a:txBody>
                  <a:tcPr/>
                </a:tc>
                <a:tc>
                  <a:txBody>
                    <a:bodyPr/>
                    <a:lstStyle/>
                    <a:p>
                      <a:pPr algn="ctr"/>
                      <a:r>
                        <a:rPr lang="en-GB"/>
                        <a:t>Store description </a:t>
                      </a:r>
                    </a:p>
                  </a:txBody>
                  <a:tcPr/>
                </a:tc>
                <a:extLst>
                  <a:ext uri="{0D108BD9-81ED-4DB2-BD59-A6C34878D82A}">
                    <a16:rowId xmlns:a16="http://schemas.microsoft.com/office/drawing/2014/main" val="2275537660"/>
                  </a:ext>
                </a:extLst>
              </a:tr>
              <a:tr h="370840">
                <a:tc>
                  <a:txBody>
                    <a:bodyPr/>
                    <a:lstStyle/>
                    <a:p>
                      <a:pPr algn="ctr"/>
                      <a:r>
                        <a:rPr lang="en-GB"/>
                        <a:t>Quantity</a:t>
                      </a:r>
                    </a:p>
                  </a:txBody>
                  <a:tcPr/>
                </a:tc>
                <a:tc>
                  <a:txBody>
                    <a:bodyPr/>
                    <a:lstStyle/>
                    <a:p>
                      <a:pPr algn="ctr"/>
                      <a:r>
                        <a:rPr lang="en-GB"/>
                        <a:t>varchar</a:t>
                      </a:r>
                    </a:p>
                  </a:txBody>
                  <a:tcPr/>
                </a:tc>
                <a:tc>
                  <a:txBody>
                    <a:bodyPr/>
                    <a:lstStyle/>
                    <a:p>
                      <a:pPr algn="ctr"/>
                      <a:r>
                        <a:rPr lang="en-GB"/>
                        <a:t>10</a:t>
                      </a:r>
                    </a:p>
                  </a:txBody>
                  <a:tcPr/>
                </a:tc>
                <a:tc>
                  <a:txBody>
                    <a:bodyPr/>
                    <a:lstStyle/>
                    <a:p>
                      <a:pPr algn="ctr"/>
                      <a:r>
                        <a:rPr lang="en-GB"/>
                        <a:t>Not null</a:t>
                      </a:r>
                    </a:p>
                  </a:txBody>
                  <a:tcPr/>
                </a:tc>
                <a:tc>
                  <a:txBody>
                    <a:bodyPr/>
                    <a:lstStyle/>
                    <a:p>
                      <a:pPr algn="ctr"/>
                      <a:r>
                        <a:rPr lang="en-GB"/>
                        <a:t>Store Quantity</a:t>
                      </a:r>
                    </a:p>
                  </a:txBody>
                  <a:tcPr/>
                </a:tc>
                <a:extLst>
                  <a:ext uri="{0D108BD9-81ED-4DB2-BD59-A6C34878D82A}">
                    <a16:rowId xmlns:a16="http://schemas.microsoft.com/office/drawing/2014/main" val="2176197908"/>
                  </a:ext>
                </a:extLst>
              </a:tr>
              <a:tr h="370840">
                <a:tc>
                  <a:txBody>
                    <a:bodyPr/>
                    <a:lstStyle/>
                    <a:p>
                      <a:pPr algn="ctr"/>
                      <a:r>
                        <a:rPr lang="en-GB"/>
                        <a:t>Rate</a:t>
                      </a:r>
                    </a:p>
                  </a:txBody>
                  <a:tcPr/>
                </a:tc>
                <a:tc>
                  <a:txBody>
                    <a:bodyPr/>
                    <a:lstStyle/>
                    <a:p>
                      <a:pPr algn="ctr"/>
                      <a:r>
                        <a:rPr lang="en-GB"/>
                        <a:t>varchar</a:t>
                      </a:r>
                    </a:p>
                  </a:txBody>
                  <a:tcPr/>
                </a:tc>
                <a:tc>
                  <a:txBody>
                    <a:bodyPr/>
                    <a:lstStyle/>
                    <a:p>
                      <a:pPr algn="ctr"/>
                      <a:r>
                        <a:rPr lang="en-GB"/>
                        <a:t>10</a:t>
                      </a:r>
                    </a:p>
                  </a:txBody>
                  <a:tcPr/>
                </a:tc>
                <a:tc>
                  <a:txBody>
                    <a:bodyPr/>
                    <a:lstStyle/>
                    <a:p>
                      <a:pPr algn="ctr"/>
                      <a:r>
                        <a:rPr lang="en-GB"/>
                        <a:t>Not null</a:t>
                      </a:r>
                    </a:p>
                  </a:txBody>
                  <a:tcPr/>
                </a:tc>
                <a:tc>
                  <a:txBody>
                    <a:bodyPr/>
                    <a:lstStyle/>
                    <a:p>
                      <a:pPr algn="ctr"/>
                      <a:r>
                        <a:rPr lang="en-GB"/>
                        <a:t>Store Rate</a:t>
                      </a:r>
                    </a:p>
                  </a:txBody>
                  <a:tcPr/>
                </a:tc>
                <a:extLst>
                  <a:ext uri="{0D108BD9-81ED-4DB2-BD59-A6C34878D82A}">
                    <a16:rowId xmlns:a16="http://schemas.microsoft.com/office/drawing/2014/main" val="2105674959"/>
                  </a:ext>
                </a:extLst>
              </a:tr>
            </a:tbl>
          </a:graphicData>
        </a:graphic>
      </p:graphicFrame>
      <p:graphicFrame>
        <p:nvGraphicFramePr>
          <p:cNvPr id="6" name="Table 6">
            <a:extLst>
              <a:ext uri="{FF2B5EF4-FFF2-40B4-BE49-F238E27FC236}">
                <a16:creationId xmlns:a16="http://schemas.microsoft.com/office/drawing/2014/main" id="{D1640757-45F5-BDB5-40E4-F5D75FF800A8}"/>
              </a:ext>
            </a:extLst>
          </p:cNvPr>
          <p:cNvGraphicFramePr>
            <a:graphicFrameLocks noGrp="1"/>
          </p:cNvGraphicFramePr>
          <p:nvPr>
            <p:extLst>
              <p:ext uri="{D42A27DB-BD31-4B8C-83A1-F6EECF244321}">
                <p14:modId xmlns:p14="http://schemas.microsoft.com/office/powerpoint/2010/main" val="290472176"/>
              </p:ext>
            </p:extLst>
          </p:nvPr>
        </p:nvGraphicFramePr>
        <p:xfrm>
          <a:off x="2000307" y="4714346"/>
          <a:ext cx="8168627" cy="14782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1585768616"/>
                    </a:ext>
                  </a:extLst>
                </a:gridCol>
                <a:gridCol w="1219200">
                  <a:extLst>
                    <a:ext uri="{9D8B030D-6E8A-4147-A177-3AD203B41FA5}">
                      <a16:colId xmlns:a16="http://schemas.microsoft.com/office/drawing/2014/main" val="2603117709"/>
                    </a:ext>
                  </a:extLst>
                </a:gridCol>
                <a:gridCol w="1066798">
                  <a:extLst>
                    <a:ext uri="{9D8B030D-6E8A-4147-A177-3AD203B41FA5}">
                      <a16:colId xmlns:a16="http://schemas.microsoft.com/office/drawing/2014/main" val="412120023"/>
                    </a:ext>
                  </a:extLst>
                </a:gridCol>
                <a:gridCol w="2884161">
                  <a:extLst>
                    <a:ext uri="{9D8B030D-6E8A-4147-A177-3AD203B41FA5}">
                      <a16:colId xmlns:a16="http://schemas.microsoft.com/office/drawing/2014/main" val="1894126150"/>
                    </a:ext>
                  </a:extLst>
                </a:gridCol>
                <a:gridCol w="1085850">
                  <a:extLst>
                    <a:ext uri="{9D8B030D-6E8A-4147-A177-3AD203B41FA5}">
                      <a16:colId xmlns:a16="http://schemas.microsoft.com/office/drawing/2014/main" val="58940318"/>
                    </a:ext>
                  </a:extLst>
                </a:gridCol>
                <a:gridCol w="922018">
                  <a:extLst>
                    <a:ext uri="{9D8B030D-6E8A-4147-A177-3AD203B41FA5}">
                      <a16:colId xmlns:a16="http://schemas.microsoft.com/office/drawing/2014/main" val="2202399648"/>
                    </a:ext>
                  </a:extLst>
                </a:gridCol>
              </a:tblGrid>
              <a:tr h="361950">
                <a:tc>
                  <a:txBody>
                    <a:bodyPr/>
                    <a:lstStyle/>
                    <a:p>
                      <a:pPr algn="ctr"/>
                      <a:r>
                        <a:rPr lang="en-GB" err="1"/>
                        <a:t>Bd_id</a:t>
                      </a:r>
                    </a:p>
                  </a:txBody>
                  <a:tcPr/>
                </a:tc>
                <a:tc>
                  <a:txBody>
                    <a:bodyPr/>
                    <a:lstStyle/>
                    <a:p>
                      <a:pPr algn="ctr"/>
                      <a:r>
                        <a:rPr lang="en-GB" err="1"/>
                        <a:t>Bill_id</a:t>
                      </a:r>
                    </a:p>
                  </a:txBody>
                  <a:tcPr/>
                </a:tc>
                <a:tc>
                  <a:txBody>
                    <a:bodyPr/>
                    <a:lstStyle/>
                    <a:p>
                      <a:pPr algn="ctr"/>
                      <a:r>
                        <a:rPr lang="en-GB" err="1"/>
                        <a:t>P_id</a:t>
                      </a:r>
                    </a:p>
                  </a:txBody>
                  <a:tcPr/>
                </a:tc>
                <a:tc>
                  <a:txBody>
                    <a:bodyPr/>
                    <a:lstStyle/>
                    <a:p>
                      <a:pPr algn="ctr"/>
                      <a:r>
                        <a:rPr lang="en-GB"/>
                        <a:t>Description</a:t>
                      </a:r>
                    </a:p>
                  </a:txBody>
                  <a:tcPr/>
                </a:tc>
                <a:tc>
                  <a:txBody>
                    <a:bodyPr/>
                    <a:lstStyle/>
                    <a:p>
                      <a:pPr algn="ctr"/>
                      <a:r>
                        <a:rPr lang="en-GB"/>
                        <a:t>Quantity</a:t>
                      </a:r>
                    </a:p>
                  </a:txBody>
                  <a:tcPr/>
                </a:tc>
                <a:tc>
                  <a:txBody>
                    <a:bodyPr/>
                    <a:lstStyle/>
                    <a:p>
                      <a:pPr algn="ctr"/>
                      <a:r>
                        <a:rPr lang="en-GB"/>
                        <a:t>Rate</a:t>
                      </a:r>
                    </a:p>
                  </a:txBody>
                  <a:tcPr/>
                </a:tc>
                <a:extLst>
                  <a:ext uri="{0D108BD9-81ED-4DB2-BD59-A6C34878D82A}">
                    <a16:rowId xmlns:a16="http://schemas.microsoft.com/office/drawing/2014/main" val="3841424657"/>
                  </a:ext>
                </a:extLst>
              </a:tr>
              <a:tr h="370840">
                <a:tc>
                  <a:txBody>
                    <a:bodyPr/>
                    <a:lstStyle/>
                    <a:p>
                      <a:pPr algn="ctr"/>
                      <a:r>
                        <a:rPr lang="en-GB"/>
                        <a:t>1</a:t>
                      </a:r>
                    </a:p>
                  </a:txBody>
                  <a:tcPr/>
                </a:tc>
                <a:tc>
                  <a:txBody>
                    <a:bodyPr/>
                    <a:lstStyle/>
                    <a:p>
                      <a:pPr algn="ctr"/>
                      <a:r>
                        <a:rPr lang="en-GB"/>
                        <a:t>2</a:t>
                      </a:r>
                    </a:p>
                  </a:txBody>
                  <a:tcPr/>
                </a:tc>
                <a:tc>
                  <a:txBody>
                    <a:bodyPr/>
                    <a:lstStyle/>
                    <a:p>
                      <a:pPr algn="ctr"/>
                      <a:r>
                        <a:rPr lang="en-GB"/>
                        <a:t>2</a:t>
                      </a:r>
                    </a:p>
                  </a:txBody>
                  <a:tcPr/>
                </a:tc>
                <a:tc>
                  <a:txBody>
                    <a:bodyPr/>
                    <a:lstStyle/>
                    <a:p>
                      <a:pPr algn="ctr"/>
                      <a:r>
                        <a:rPr lang="en-GB"/>
                        <a:t>It Is Rubber Pipe Roller</a:t>
                      </a:r>
                    </a:p>
                  </a:txBody>
                  <a:tcPr/>
                </a:tc>
                <a:tc>
                  <a:txBody>
                    <a:bodyPr/>
                    <a:lstStyle/>
                    <a:p>
                      <a:pPr algn="ctr"/>
                      <a:r>
                        <a:rPr lang="en-GB"/>
                        <a:t>15</a:t>
                      </a:r>
                    </a:p>
                  </a:txBody>
                  <a:tcPr/>
                </a:tc>
                <a:tc>
                  <a:txBody>
                    <a:bodyPr/>
                    <a:lstStyle/>
                    <a:p>
                      <a:pPr algn="ctr"/>
                      <a:r>
                        <a:rPr lang="en-GB"/>
                        <a:t>100</a:t>
                      </a:r>
                    </a:p>
                  </a:txBody>
                  <a:tcPr/>
                </a:tc>
                <a:extLst>
                  <a:ext uri="{0D108BD9-81ED-4DB2-BD59-A6C34878D82A}">
                    <a16:rowId xmlns:a16="http://schemas.microsoft.com/office/drawing/2014/main" val="1005373363"/>
                  </a:ext>
                </a:extLst>
              </a:tr>
              <a:tr h="370840">
                <a:tc>
                  <a:txBody>
                    <a:bodyPr/>
                    <a:lstStyle/>
                    <a:p>
                      <a:pPr algn="ctr"/>
                      <a:r>
                        <a:rPr lang="en-GB"/>
                        <a:t>2</a:t>
                      </a:r>
                    </a:p>
                  </a:txBody>
                  <a:tcPr/>
                </a:tc>
                <a:tc>
                  <a:txBody>
                    <a:bodyPr/>
                    <a:lstStyle/>
                    <a:p>
                      <a:pPr algn="ctr"/>
                      <a:r>
                        <a:rPr lang="en-GB"/>
                        <a:t>2</a:t>
                      </a:r>
                    </a:p>
                  </a:txBody>
                  <a:tcPr/>
                </a:tc>
                <a:tc>
                  <a:txBody>
                    <a:bodyPr/>
                    <a:lstStyle/>
                    <a:p>
                      <a:pPr algn="ctr"/>
                      <a:r>
                        <a:rPr lang="en-GB"/>
                        <a:t>3</a:t>
                      </a:r>
                    </a:p>
                  </a:txBody>
                  <a:tcPr/>
                </a:tc>
                <a:tc>
                  <a:txBody>
                    <a:bodyPr/>
                    <a:lstStyle/>
                    <a:p>
                      <a:pPr algn="ctr"/>
                      <a:r>
                        <a:rPr lang="en-GB"/>
                        <a:t>It Is Aluminium Rod</a:t>
                      </a:r>
                    </a:p>
                  </a:txBody>
                  <a:tcPr/>
                </a:tc>
                <a:tc>
                  <a:txBody>
                    <a:bodyPr/>
                    <a:lstStyle/>
                    <a:p>
                      <a:pPr algn="ctr"/>
                      <a:r>
                        <a:rPr lang="en-GB"/>
                        <a:t>20</a:t>
                      </a:r>
                    </a:p>
                  </a:txBody>
                  <a:tcPr/>
                </a:tc>
                <a:tc>
                  <a:txBody>
                    <a:bodyPr/>
                    <a:lstStyle/>
                    <a:p>
                      <a:pPr algn="ctr"/>
                      <a:r>
                        <a:rPr lang="en-GB"/>
                        <a:t>150</a:t>
                      </a:r>
                    </a:p>
                  </a:txBody>
                  <a:tcPr/>
                </a:tc>
                <a:extLst>
                  <a:ext uri="{0D108BD9-81ED-4DB2-BD59-A6C34878D82A}">
                    <a16:rowId xmlns:a16="http://schemas.microsoft.com/office/drawing/2014/main" val="568033179"/>
                  </a:ext>
                </a:extLst>
              </a:tr>
              <a:tr h="370840">
                <a:tc>
                  <a:txBody>
                    <a:bodyPr/>
                    <a:lstStyle/>
                    <a:p>
                      <a:pPr algn="ctr"/>
                      <a:r>
                        <a:rPr lang="en-GB"/>
                        <a:t>3</a:t>
                      </a:r>
                    </a:p>
                  </a:txBody>
                  <a:tcPr/>
                </a:tc>
                <a:tc>
                  <a:txBody>
                    <a:bodyPr/>
                    <a:lstStyle/>
                    <a:p>
                      <a:pPr algn="ctr"/>
                      <a:r>
                        <a:rPr lang="en-GB"/>
                        <a:t>2</a:t>
                      </a:r>
                    </a:p>
                  </a:txBody>
                  <a:tcPr/>
                </a:tc>
                <a:tc>
                  <a:txBody>
                    <a:bodyPr/>
                    <a:lstStyle/>
                    <a:p>
                      <a:pPr algn="ctr"/>
                      <a:r>
                        <a:rPr lang="en-GB"/>
                        <a:t>4</a:t>
                      </a:r>
                    </a:p>
                  </a:txBody>
                  <a:tcPr/>
                </a:tc>
                <a:tc>
                  <a:txBody>
                    <a:bodyPr/>
                    <a:lstStyle/>
                    <a:p>
                      <a:pPr algn="ctr"/>
                      <a:r>
                        <a:rPr lang="en-GB"/>
                        <a:t>It Is Hard Crome Pipe Roller</a:t>
                      </a:r>
                    </a:p>
                  </a:txBody>
                  <a:tcPr/>
                </a:tc>
                <a:tc>
                  <a:txBody>
                    <a:bodyPr/>
                    <a:lstStyle/>
                    <a:p>
                      <a:pPr algn="ctr"/>
                      <a:r>
                        <a:rPr lang="en-GB"/>
                        <a:t>25</a:t>
                      </a:r>
                    </a:p>
                  </a:txBody>
                  <a:tcPr/>
                </a:tc>
                <a:tc>
                  <a:txBody>
                    <a:bodyPr/>
                    <a:lstStyle/>
                    <a:p>
                      <a:pPr algn="ctr"/>
                      <a:r>
                        <a:rPr lang="en-GB"/>
                        <a:t>200</a:t>
                      </a:r>
                    </a:p>
                  </a:txBody>
                  <a:tcPr/>
                </a:tc>
                <a:extLst>
                  <a:ext uri="{0D108BD9-81ED-4DB2-BD59-A6C34878D82A}">
                    <a16:rowId xmlns:a16="http://schemas.microsoft.com/office/drawing/2014/main" val="2044258321"/>
                  </a:ext>
                </a:extLst>
              </a:tr>
            </a:tbl>
          </a:graphicData>
        </a:graphic>
      </p:graphicFrame>
      <p:sp>
        <p:nvSpPr>
          <p:cNvPr id="4" name="TextBox 3">
            <a:extLst>
              <a:ext uri="{FF2B5EF4-FFF2-40B4-BE49-F238E27FC236}">
                <a16:creationId xmlns:a16="http://schemas.microsoft.com/office/drawing/2014/main" id="{F8621500-AD3F-6C1C-16A7-BAB9089AA2C7}"/>
              </a:ext>
            </a:extLst>
          </p:cNvPr>
          <p:cNvSpPr txBox="1"/>
          <p:nvPr/>
        </p:nvSpPr>
        <p:spPr>
          <a:xfrm>
            <a:off x="1596788" y="937146"/>
            <a:ext cx="525666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19.Billing Detail table: -</a:t>
            </a:r>
          </a:p>
          <a:p>
            <a:r>
              <a:rPr lang="en-US" sz="1600" b="1" dirty="0">
                <a:latin typeface="Arial"/>
                <a:cs typeface="Arial"/>
              </a:rPr>
              <a:t>Primary Key: - </a:t>
            </a:r>
            <a:r>
              <a:rPr lang="en-US" sz="1600" b="1" dirty="0" err="1">
                <a:latin typeface="Arial"/>
                <a:cs typeface="Arial"/>
              </a:rPr>
              <a:t>Bd_id</a:t>
            </a:r>
            <a:r>
              <a:rPr lang="en-US" sz="1600" b="1" dirty="0">
                <a:latin typeface="Arial"/>
                <a:cs typeface="Arial"/>
              </a:rPr>
              <a:t>(Bill Detail Id)</a:t>
            </a:r>
          </a:p>
          <a:p>
            <a:r>
              <a:rPr lang="en-US" sz="1600" b="1" dirty="0">
                <a:latin typeface="Arial"/>
                <a:cs typeface="Arial"/>
              </a:rPr>
              <a:t>Foreign key: - </a:t>
            </a:r>
            <a:r>
              <a:rPr lang="en-US" sz="1600" b="1" dirty="0" err="1">
                <a:latin typeface="Arial"/>
                <a:cs typeface="Arial"/>
              </a:rPr>
              <a:t>Bill_id</a:t>
            </a:r>
            <a:r>
              <a:rPr lang="en-US" sz="1600" b="1" dirty="0">
                <a:latin typeface="Arial"/>
                <a:cs typeface="Arial"/>
              </a:rPr>
              <a:t>, </a:t>
            </a:r>
            <a:r>
              <a:rPr lang="en-US" sz="1600" b="1" dirty="0" err="1">
                <a:latin typeface="Arial"/>
                <a:cs typeface="Arial"/>
              </a:rPr>
              <a:t>P_id</a:t>
            </a:r>
            <a:r>
              <a:rPr lang="en-US" sz="1600" b="1" dirty="0">
                <a:latin typeface="Arial"/>
                <a:cs typeface="Arial"/>
              </a:rPr>
              <a:t>(Product Id)</a:t>
            </a:r>
          </a:p>
          <a:p>
            <a:r>
              <a:rPr lang="en-US" sz="1600" b="1" dirty="0">
                <a:latin typeface="Arial"/>
                <a:cs typeface="Arial"/>
              </a:rPr>
              <a:t>Description: - It Stores Billing Detail Table`s Detail</a:t>
            </a:r>
          </a:p>
        </p:txBody>
      </p:sp>
    </p:spTree>
    <p:extLst>
      <p:ext uri="{BB962C8B-B14F-4D97-AF65-F5344CB8AC3E}">
        <p14:creationId xmlns:p14="http://schemas.microsoft.com/office/powerpoint/2010/main" val="25315695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FE381-F55B-CE28-F513-A1C71B72B3C6}"/>
              </a:ext>
            </a:extLst>
          </p:cNvPr>
          <p:cNvSpPr>
            <a:spLocks noGrp="1"/>
          </p:cNvSpPr>
          <p:nvPr>
            <p:ph type="title"/>
          </p:nvPr>
        </p:nvSpPr>
        <p:spPr>
          <a:xfrm>
            <a:off x="4313" y="5691"/>
            <a:ext cx="4477110" cy="750469"/>
          </a:xfrm>
        </p:spPr>
        <p:txBody>
          <a:bodyPr/>
          <a:lstStyle/>
          <a:p>
            <a:pPr marL="342900" indent="-342900">
              <a:buFont typeface="Wingdings"/>
              <a:buChar char="Ø"/>
            </a:pPr>
            <a:r>
              <a:rPr lang="en-GB" sz="2400" b="1" dirty="0">
                <a:ea typeface="Calibri Light"/>
                <a:cs typeface="Calibri Light"/>
              </a:rPr>
              <a:t>Payment Table With Example:-</a:t>
            </a:r>
            <a:endParaRPr lang="en-GB" b="1" dirty="0">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9A747C11-DC9D-C105-E64C-47108811F5A0}"/>
              </a:ext>
            </a:extLst>
          </p:cNvPr>
          <p:cNvGraphicFramePr>
            <a:graphicFrameLocks noGrp="1"/>
          </p:cNvGraphicFramePr>
          <p:nvPr>
            <p:extLst>
              <p:ext uri="{D42A27DB-BD31-4B8C-83A1-F6EECF244321}">
                <p14:modId xmlns:p14="http://schemas.microsoft.com/office/powerpoint/2010/main" val="4159155142"/>
              </p:ext>
            </p:extLst>
          </p:nvPr>
        </p:nvGraphicFramePr>
        <p:xfrm>
          <a:off x="1231225" y="2118482"/>
          <a:ext cx="9240003" cy="2595880"/>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798075247"/>
                    </a:ext>
                  </a:extLst>
                </a:gridCol>
                <a:gridCol w="1633726">
                  <a:extLst>
                    <a:ext uri="{9D8B030D-6E8A-4147-A177-3AD203B41FA5}">
                      <a16:colId xmlns:a16="http://schemas.microsoft.com/office/drawing/2014/main" val="973145898"/>
                    </a:ext>
                  </a:extLst>
                </a:gridCol>
                <a:gridCol w="1633726">
                  <a:extLst>
                    <a:ext uri="{9D8B030D-6E8A-4147-A177-3AD203B41FA5}">
                      <a16:colId xmlns:a16="http://schemas.microsoft.com/office/drawing/2014/main" val="397889756"/>
                    </a:ext>
                  </a:extLst>
                </a:gridCol>
                <a:gridCol w="1633726">
                  <a:extLst>
                    <a:ext uri="{9D8B030D-6E8A-4147-A177-3AD203B41FA5}">
                      <a16:colId xmlns:a16="http://schemas.microsoft.com/office/drawing/2014/main" val="3334754492"/>
                    </a:ext>
                  </a:extLst>
                </a:gridCol>
                <a:gridCol w="2705099">
                  <a:extLst>
                    <a:ext uri="{9D8B030D-6E8A-4147-A177-3AD203B41FA5}">
                      <a16:colId xmlns:a16="http://schemas.microsoft.com/office/drawing/2014/main" val="3307685880"/>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784119405"/>
                  </a:ext>
                </a:extLst>
              </a:tr>
              <a:tr h="370840">
                <a:tc>
                  <a:txBody>
                    <a:bodyPr/>
                    <a:lstStyle/>
                    <a:p>
                      <a:pPr algn="ctr"/>
                      <a:r>
                        <a:rPr lang="en-GB" err="1"/>
                        <a:t>Py_id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Payment id </a:t>
                      </a:r>
                    </a:p>
                  </a:txBody>
                  <a:tcPr/>
                </a:tc>
                <a:extLst>
                  <a:ext uri="{0D108BD9-81ED-4DB2-BD59-A6C34878D82A}">
                    <a16:rowId xmlns:a16="http://schemas.microsoft.com/office/drawing/2014/main" val="100884440"/>
                  </a:ext>
                </a:extLst>
              </a:tr>
              <a:tr h="370840">
                <a:tc>
                  <a:txBody>
                    <a:bodyPr/>
                    <a:lstStyle/>
                    <a:p>
                      <a:pPr algn="ctr"/>
                      <a:r>
                        <a:rPr lang="en-GB" err="1"/>
                        <a:t>Po_id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purchase order id</a:t>
                      </a:r>
                    </a:p>
                  </a:txBody>
                  <a:tcPr/>
                </a:tc>
                <a:extLst>
                  <a:ext uri="{0D108BD9-81ED-4DB2-BD59-A6C34878D82A}">
                    <a16:rowId xmlns:a16="http://schemas.microsoft.com/office/drawing/2014/main" val="1968442046"/>
                  </a:ext>
                </a:extLst>
              </a:tr>
              <a:tr h="370840">
                <a:tc>
                  <a:txBody>
                    <a:bodyPr/>
                    <a:lstStyle/>
                    <a:p>
                      <a:pPr algn="ctr"/>
                      <a:r>
                        <a:rPr lang="en-GB" err="1"/>
                        <a:t>Py_date</a:t>
                      </a:r>
                      <a:endParaRPr lang="en-GB" dirty="0" err="1"/>
                    </a:p>
                  </a:txBody>
                  <a:tcPr/>
                </a:tc>
                <a:tc>
                  <a:txBody>
                    <a:bodyPr/>
                    <a:lstStyle/>
                    <a:p>
                      <a:pPr algn="ctr"/>
                      <a:r>
                        <a:rPr lang="en-GB" dirty="0"/>
                        <a:t>date</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payment date </a:t>
                      </a:r>
                    </a:p>
                  </a:txBody>
                  <a:tcPr/>
                </a:tc>
                <a:extLst>
                  <a:ext uri="{0D108BD9-81ED-4DB2-BD59-A6C34878D82A}">
                    <a16:rowId xmlns:a16="http://schemas.microsoft.com/office/drawing/2014/main" val="964240127"/>
                  </a:ext>
                </a:extLst>
              </a:tr>
              <a:tr h="370840">
                <a:tc>
                  <a:txBody>
                    <a:bodyPr/>
                    <a:lstStyle/>
                    <a:p>
                      <a:pPr algn="ctr"/>
                      <a:r>
                        <a:rPr lang="en-GB" dirty="0"/>
                        <a:t>Amount</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Amount</a:t>
                      </a:r>
                    </a:p>
                  </a:txBody>
                  <a:tcPr/>
                </a:tc>
                <a:extLst>
                  <a:ext uri="{0D108BD9-81ED-4DB2-BD59-A6C34878D82A}">
                    <a16:rowId xmlns:a16="http://schemas.microsoft.com/office/drawing/2014/main" val="3769970907"/>
                  </a:ext>
                </a:extLst>
              </a:tr>
              <a:tr h="370840">
                <a:tc>
                  <a:txBody>
                    <a:bodyPr/>
                    <a:lstStyle/>
                    <a:p>
                      <a:pPr algn="ctr"/>
                      <a:r>
                        <a:rPr lang="en-GB" dirty="0"/>
                        <a:t>Mode</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Mode </a:t>
                      </a:r>
                    </a:p>
                  </a:txBody>
                  <a:tcPr/>
                </a:tc>
                <a:extLst>
                  <a:ext uri="{0D108BD9-81ED-4DB2-BD59-A6C34878D82A}">
                    <a16:rowId xmlns:a16="http://schemas.microsoft.com/office/drawing/2014/main" val="3336713771"/>
                  </a:ext>
                </a:extLst>
              </a:tr>
              <a:tr h="370840">
                <a:tc>
                  <a:txBody>
                    <a:bodyPr/>
                    <a:lstStyle/>
                    <a:p>
                      <a:pPr algn="ctr"/>
                      <a:r>
                        <a:rPr lang="en-GB" dirty="0"/>
                        <a:t>Transaction No</a:t>
                      </a:r>
                    </a:p>
                  </a:txBody>
                  <a:tcPr/>
                </a:tc>
                <a:tc>
                  <a:txBody>
                    <a:bodyPr/>
                    <a:lstStyle/>
                    <a:p>
                      <a:pPr algn="ctr"/>
                      <a:r>
                        <a:rPr lang="en-GB" dirty="0"/>
                        <a:t>varchar</a:t>
                      </a:r>
                    </a:p>
                  </a:txBody>
                  <a:tcPr/>
                </a:tc>
                <a:tc>
                  <a:txBody>
                    <a:bodyPr/>
                    <a:lstStyle/>
                    <a:p>
                      <a:pPr algn="ctr"/>
                      <a:r>
                        <a:rPr lang="en-GB" dirty="0"/>
                        <a:t>15</a:t>
                      </a:r>
                    </a:p>
                  </a:txBody>
                  <a:tcPr/>
                </a:tc>
                <a:tc>
                  <a:txBody>
                    <a:bodyPr/>
                    <a:lstStyle/>
                    <a:p>
                      <a:pPr algn="ctr"/>
                      <a:r>
                        <a:rPr lang="en-GB" dirty="0"/>
                        <a:t>Not Null</a:t>
                      </a:r>
                    </a:p>
                  </a:txBody>
                  <a:tcPr/>
                </a:tc>
                <a:tc>
                  <a:txBody>
                    <a:bodyPr/>
                    <a:lstStyle/>
                    <a:p>
                      <a:pPr algn="ctr"/>
                      <a:r>
                        <a:rPr lang="en-GB" dirty="0"/>
                        <a:t>Store Transaction No</a:t>
                      </a:r>
                    </a:p>
                  </a:txBody>
                  <a:tcPr/>
                </a:tc>
                <a:extLst>
                  <a:ext uri="{0D108BD9-81ED-4DB2-BD59-A6C34878D82A}">
                    <a16:rowId xmlns:a16="http://schemas.microsoft.com/office/drawing/2014/main" val="586156490"/>
                  </a:ext>
                </a:extLst>
              </a:tr>
            </a:tbl>
          </a:graphicData>
        </a:graphic>
      </p:graphicFrame>
      <p:graphicFrame>
        <p:nvGraphicFramePr>
          <p:cNvPr id="4" name="Table 4">
            <a:extLst>
              <a:ext uri="{FF2B5EF4-FFF2-40B4-BE49-F238E27FC236}">
                <a16:creationId xmlns:a16="http://schemas.microsoft.com/office/drawing/2014/main" id="{DCCF460F-37E4-F17E-5CE3-687D0C3DD81C}"/>
              </a:ext>
            </a:extLst>
          </p:cNvPr>
          <p:cNvGraphicFramePr>
            <a:graphicFrameLocks noGrp="1"/>
          </p:cNvGraphicFramePr>
          <p:nvPr>
            <p:extLst>
              <p:ext uri="{D42A27DB-BD31-4B8C-83A1-F6EECF244321}">
                <p14:modId xmlns:p14="http://schemas.microsoft.com/office/powerpoint/2010/main" val="695103245"/>
              </p:ext>
            </p:extLst>
          </p:nvPr>
        </p:nvGraphicFramePr>
        <p:xfrm>
          <a:off x="1751814" y="4920993"/>
          <a:ext cx="8436599" cy="1483360"/>
        </p:xfrm>
        <a:graphic>
          <a:graphicData uri="http://schemas.openxmlformats.org/drawingml/2006/table">
            <a:tbl>
              <a:tblPr firstRow="1" bandRow="1">
                <a:tableStyleId>{5C22544A-7EE6-4342-B048-85BDC9FD1C3A}</a:tableStyleId>
              </a:tblPr>
              <a:tblGrid>
                <a:gridCol w="1361438">
                  <a:extLst>
                    <a:ext uri="{9D8B030D-6E8A-4147-A177-3AD203B41FA5}">
                      <a16:colId xmlns:a16="http://schemas.microsoft.com/office/drawing/2014/main" val="749801895"/>
                    </a:ext>
                  </a:extLst>
                </a:gridCol>
                <a:gridCol w="1361438">
                  <a:extLst>
                    <a:ext uri="{9D8B030D-6E8A-4147-A177-3AD203B41FA5}">
                      <a16:colId xmlns:a16="http://schemas.microsoft.com/office/drawing/2014/main" val="209608483"/>
                    </a:ext>
                  </a:extLst>
                </a:gridCol>
                <a:gridCol w="1361438">
                  <a:extLst>
                    <a:ext uri="{9D8B030D-6E8A-4147-A177-3AD203B41FA5}">
                      <a16:colId xmlns:a16="http://schemas.microsoft.com/office/drawing/2014/main" val="2809683003"/>
                    </a:ext>
                  </a:extLst>
                </a:gridCol>
                <a:gridCol w="1361438">
                  <a:extLst>
                    <a:ext uri="{9D8B030D-6E8A-4147-A177-3AD203B41FA5}">
                      <a16:colId xmlns:a16="http://schemas.microsoft.com/office/drawing/2014/main" val="4153312893"/>
                    </a:ext>
                  </a:extLst>
                </a:gridCol>
                <a:gridCol w="1181098">
                  <a:extLst>
                    <a:ext uri="{9D8B030D-6E8A-4147-A177-3AD203B41FA5}">
                      <a16:colId xmlns:a16="http://schemas.microsoft.com/office/drawing/2014/main" val="2733720668"/>
                    </a:ext>
                  </a:extLst>
                </a:gridCol>
                <a:gridCol w="1809749">
                  <a:extLst>
                    <a:ext uri="{9D8B030D-6E8A-4147-A177-3AD203B41FA5}">
                      <a16:colId xmlns:a16="http://schemas.microsoft.com/office/drawing/2014/main" val="1259314527"/>
                    </a:ext>
                  </a:extLst>
                </a:gridCol>
              </a:tblGrid>
              <a:tr h="370840">
                <a:tc>
                  <a:txBody>
                    <a:bodyPr/>
                    <a:lstStyle/>
                    <a:p>
                      <a:pPr algn="ctr"/>
                      <a:r>
                        <a:rPr lang="en-GB" err="1"/>
                        <a:t>Py_id</a:t>
                      </a:r>
                      <a:endParaRPr lang="en-GB" dirty="0" err="1"/>
                    </a:p>
                  </a:txBody>
                  <a:tcPr/>
                </a:tc>
                <a:tc>
                  <a:txBody>
                    <a:bodyPr/>
                    <a:lstStyle/>
                    <a:p>
                      <a:pPr algn="ctr"/>
                      <a:r>
                        <a:rPr lang="en-GB" err="1"/>
                        <a:t>Po_id</a:t>
                      </a:r>
                      <a:endParaRPr lang="en-GB" dirty="0" err="1"/>
                    </a:p>
                  </a:txBody>
                  <a:tcPr/>
                </a:tc>
                <a:tc>
                  <a:txBody>
                    <a:bodyPr/>
                    <a:lstStyle/>
                    <a:p>
                      <a:pPr algn="ctr"/>
                      <a:r>
                        <a:rPr lang="en-GB" err="1"/>
                        <a:t>Py_date</a:t>
                      </a:r>
                      <a:endParaRPr lang="en-GB" dirty="0" err="1"/>
                    </a:p>
                  </a:txBody>
                  <a:tcPr/>
                </a:tc>
                <a:tc>
                  <a:txBody>
                    <a:bodyPr/>
                    <a:lstStyle/>
                    <a:p>
                      <a:pPr algn="ctr"/>
                      <a:r>
                        <a:rPr lang="en-GB" dirty="0"/>
                        <a:t>Amount</a:t>
                      </a:r>
                    </a:p>
                  </a:txBody>
                  <a:tcPr/>
                </a:tc>
                <a:tc>
                  <a:txBody>
                    <a:bodyPr/>
                    <a:lstStyle/>
                    <a:p>
                      <a:pPr algn="ctr"/>
                      <a:r>
                        <a:rPr lang="en-GB" dirty="0"/>
                        <a:t>Mode</a:t>
                      </a:r>
                    </a:p>
                  </a:txBody>
                  <a:tcPr/>
                </a:tc>
                <a:tc>
                  <a:txBody>
                    <a:bodyPr/>
                    <a:lstStyle/>
                    <a:p>
                      <a:pPr algn="ctr"/>
                      <a:r>
                        <a:rPr lang="en-GB" dirty="0"/>
                        <a:t>Transaction No</a:t>
                      </a:r>
                    </a:p>
                  </a:txBody>
                  <a:tcPr/>
                </a:tc>
                <a:extLst>
                  <a:ext uri="{0D108BD9-81ED-4DB2-BD59-A6C34878D82A}">
                    <a16:rowId xmlns:a16="http://schemas.microsoft.com/office/drawing/2014/main" val="2694862665"/>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10/11/2022</a:t>
                      </a:r>
                    </a:p>
                  </a:txBody>
                  <a:tcPr/>
                </a:tc>
                <a:tc>
                  <a:txBody>
                    <a:bodyPr/>
                    <a:lstStyle/>
                    <a:p>
                      <a:pPr algn="ctr"/>
                      <a:r>
                        <a:rPr lang="en-GB" dirty="0"/>
                        <a:t>16,000</a:t>
                      </a:r>
                    </a:p>
                  </a:txBody>
                  <a:tcPr/>
                </a:tc>
                <a:tc>
                  <a:txBody>
                    <a:bodyPr/>
                    <a:lstStyle/>
                    <a:p>
                      <a:pPr algn="ctr"/>
                      <a:r>
                        <a:rPr lang="en-GB" dirty="0"/>
                        <a:t>Cash</a:t>
                      </a:r>
                    </a:p>
                  </a:txBody>
                  <a:tcPr/>
                </a:tc>
                <a:tc>
                  <a:txBody>
                    <a:bodyPr/>
                    <a:lstStyle/>
                    <a:p>
                      <a:pPr algn="ctr"/>
                      <a:r>
                        <a:rPr lang="en-GB" dirty="0"/>
                        <a:t>-</a:t>
                      </a:r>
                    </a:p>
                  </a:txBody>
                  <a:tcPr/>
                </a:tc>
                <a:extLst>
                  <a:ext uri="{0D108BD9-81ED-4DB2-BD59-A6C34878D82A}">
                    <a16:rowId xmlns:a16="http://schemas.microsoft.com/office/drawing/2014/main" val="126160943"/>
                  </a:ext>
                </a:extLst>
              </a:tr>
              <a:tr h="370840">
                <a:tc>
                  <a:txBody>
                    <a:bodyPr/>
                    <a:lstStyle/>
                    <a:p>
                      <a:pPr algn="ctr"/>
                      <a:r>
                        <a:rPr lang="en-GB" dirty="0"/>
                        <a:t>2</a:t>
                      </a:r>
                    </a:p>
                  </a:txBody>
                  <a:tcPr/>
                </a:tc>
                <a:tc>
                  <a:txBody>
                    <a:bodyPr/>
                    <a:lstStyle/>
                    <a:p>
                      <a:pPr algn="ctr"/>
                      <a:r>
                        <a:rPr lang="en-GB" dirty="0"/>
                        <a:t>2</a:t>
                      </a:r>
                    </a:p>
                  </a:txBody>
                  <a:tcPr/>
                </a:tc>
                <a:tc>
                  <a:txBody>
                    <a:bodyPr/>
                    <a:lstStyle/>
                    <a:p>
                      <a:pPr algn="ctr"/>
                      <a:r>
                        <a:rPr lang="en-GB" dirty="0"/>
                        <a:t>15/11/2022</a:t>
                      </a:r>
                    </a:p>
                  </a:txBody>
                  <a:tcPr/>
                </a:tc>
                <a:tc>
                  <a:txBody>
                    <a:bodyPr/>
                    <a:lstStyle/>
                    <a:p>
                      <a:pPr algn="ctr"/>
                      <a:r>
                        <a:rPr lang="en-GB" dirty="0"/>
                        <a:t>17,500</a:t>
                      </a:r>
                    </a:p>
                  </a:txBody>
                  <a:tcPr/>
                </a:tc>
                <a:tc>
                  <a:txBody>
                    <a:bodyPr/>
                    <a:lstStyle/>
                    <a:p>
                      <a:pPr algn="ctr"/>
                      <a:r>
                        <a:rPr lang="en-GB" dirty="0"/>
                        <a:t>UPI</a:t>
                      </a:r>
                    </a:p>
                  </a:txBody>
                  <a:tcPr/>
                </a:tc>
                <a:tc>
                  <a:txBody>
                    <a:bodyPr/>
                    <a:lstStyle/>
                    <a:p>
                      <a:pPr algn="ctr"/>
                      <a:r>
                        <a:rPr lang="en-GB" dirty="0"/>
                        <a:t>UB0225356736</a:t>
                      </a:r>
                    </a:p>
                  </a:txBody>
                  <a:tcPr/>
                </a:tc>
                <a:extLst>
                  <a:ext uri="{0D108BD9-81ED-4DB2-BD59-A6C34878D82A}">
                    <a16:rowId xmlns:a16="http://schemas.microsoft.com/office/drawing/2014/main" val="2798215501"/>
                  </a:ext>
                </a:extLst>
              </a:tr>
              <a:tr h="370840">
                <a:tc>
                  <a:txBody>
                    <a:bodyPr/>
                    <a:lstStyle/>
                    <a:p>
                      <a:pPr algn="ctr"/>
                      <a:r>
                        <a:rPr lang="en-GB" dirty="0"/>
                        <a:t>3</a:t>
                      </a:r>
                    </a:p>
                  </a:txBody>
                  <a:tcPr/>
                </a:tc>
                <a:tc>
                  <a:txBody>
                    <a:bodyPr/>
                    <a:lstStyle/>
                    <a:p>
                      <a:pPr algn="ctr"/>
                      <a:r>
                        <a:rPr lang="en-GB" dirty="0"/>
                        <a:t>3</a:t>
                      </a:r>
                    </a:p>
                  </a:txBody>
                  <a:tcPr/>
                </a:tc>
                <a:tc>
                  <a:txBody>
                    <a:bodyPr/>
                    <a:lstStyle/>
                    <a:p>
                      <a:pPr algn="ctr"/>
                      <a:r>
                        <a:rPr lang="en-GB" dirty="0"/>
                        <a:t>17/11/2022</a:t>
                      </a:r>
                    </a:p>
                  </a:txBody>
                  <a:tcPr/>
                </a:tc>
                <a:tc>
                  <a:txBody>
                    <a:bodyPr/>
                    <a:lstStyle/>
                    <a:p>
                      <a:pPr algn="ctr"/>
                      <a:r>
                        <a:rPr lang="en-GB" dirty="0"/>
                        <a:t>18,000</a:t>
                      </a:r>
                    </a:p>
                  </a:txBody>
                  <a:tcPr/>
                </a:tc>
                <a:tc>
                  <a:txBody>
                    <a:bodyPr/>
                    <a:lstStyle/>
                    <a:p>
                      <a:pPr algn="ctr"/>
                      <a:r>
                        <a:rPr lang="en-GB" dirty="0"/>
                        <a:t>UPI</a:t>
                      </a:r>
                    </a:p>
                  </a:txBody>
                  <a:tcPr/>
                </a:tc>
                <a:tc>
                  <a:txBody>
                    <a:bodyPr/>
                    <a:lstStyle/>
                    <a:p>
                      <a:pPr algn="ctr"/>
                      <a:r>
                        <a:rPr lang="en-GB" dirty="0"/>
                        <a:t>UD0226918786</a:t>
                      </a:r>
                    </a:p>
                  </a:txBody>
                  <a:tcPr/>
                </a:tc>
                <a:extLst>
                  <a:ext uri="{0D108BD9-81ED-4DB2-BD59-A6C34878D82A}">
                    <a16:rowId xmlns:a16="http://schemas.microsoft.com/office/drawing/2014/main" val="849653311"/>
                  </a:ext>
                </a:extLst>
              </a:tr>
            </a:tbl>
          </a:graphicData>
        </a:graphic>
      </p:graphicFrame>
      <p:sp>
        <p:nvSpPr>
          <p:cNvPr id="5" name="TextBox 4">
            <a:extLst>
              <a:ext uri="{FF2B5EF4-FFF2-40B4-BE49-F238E27FC236}">
                <a16:creationId xmlns:a16="http://schemas.microsoft.com/office/drawing/2014/main" id="{E6EDDD9C-A97A-A85D-3338-C11D2F075FB6}"/>
              </a:ext>
            </a:extLst>
          </p:cNvPr>
          <p:cNvSpPr txBox="1"/>
          <p:nvPr/>
        </p:nvSpPr>
        <p:spPr>
          <a:xfrm>
            <a:off x="1175982" y="1050878"/>
            <a:ext cx="411934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20.Payment Table: -</a:t>
            </a:r>
          </a:p>
          <a:p>
            <a:r>
              <a:rPr lang="en-US" sz="1600" b="1" dirty="0">
                <a:latin typeface="Arial"/>
                <a:cs typeface="Arial"/>
              </a:rPr>
              <a:t>Primary Key: - </a:t>
            </a:r>
            <a:r>
              <a:rPr lang="en-US" sz="1600" b="1" dirty="0" err="1">
                <a:latin typeface="Arial"/>
                <a:cs typeface="Arial"/>
              </a:rPr>
              <a:t>Py_id</a:t>
            </a:r>
            <a:r>
              <a:rPr lang="en-US" sz="1600" b="1" dirty="0">
                <a:latin typeface="Arial"/>
                <a:cs typeface="Arial"/>
              </a:rPr>
              <a:t>(Payment Id)</a:t>
            </a:r>
          </a:p>
          <a:p>
            <a:r>
              <a:rPr lang="en-US" sz="1600" b="1" dirty="0">
                <a:latin typeface="Arial"/>
                <a:cs typeface="Arial"/>
              </a:rPr>
              <a:t>Foreign Key: - </a:t>
            </a:r>
            <a:r>
              <a:rPr lang="en-US" sz="1600" b="1" dirty="0" err="1">
                <a:latin typeface="Arial"/>
                <a:cs typeface="Arial"/>
              </a:rPr>
              <a:t>Po_id</a:t>
            </a:r>
            <a:r>
              <a:rPr lang="en-US" sz="1600" b="1" dirty="0">
                <a:latin typeface="Arial"/>
                <a:cs typeface="Arial"/>
              </a:rPr>
              <a:t>(Purchase Order Id)</a:t>
            </a:r>
          </a:p>
          <a:p>
            <a:r>
              <a:rPr lang="en-US" sz="1600" b="1" dirty="0">
                <a:latin typeface="Arial"/>
                <a:cs typeface="Arial"/>
              </a:rPr>
              <a:t>Description: - It Stores Payment Detail</a:t>
            </a:r>
          </a:p>
        </p:txBody>
      </p:sp>
    </p:spTree>
    <p:extLst>
      <p:ext uri="{BB962C8B-B14F-4D97-AF65-F5344CB8AC3E}">
        <p14:creationId xmlns:p14="http://schemas.microsoft.com/office/powerpoint/2010/main" val="4743936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FB778-40A5-8FC2-D422-BCB1B10623D2}"/>
              </a:ext>
            </a:extLst>
          </p:cNvPr>
          <p:cNvSpPr>
            <a:spLocks noGrp="1"/>
          </p:cNvSpPr>
          <p:nvPr>
            <p:ph type="title"/>
          </p:nvPr>
        </p:nvSpPr>
        <p:spPr>
          <a:xfrm>
            <a:off x="4313" y="5691"/>
            <a:ext cx="4189563" cy="1023639"/>
          </a:xfrm>
        </p:spPr>
        <p:txBody>
          <a:bodyPr/>
          <a:lstStyle/>
          <a:p>
            <a:pPr marL="342900" indent="-342900">
              <a:buFont typeface="Wingdings"/>
              <a:buChar char="Ø"/>
            </a:pPr>
            <a:r>
              <a:rPr lang="en-GB" sz="2400" b="1" dirty="0">
                <a:ea typeface="Calibri Light"/>
                <a:cs typeface="Calibri Light"/>
              </a:rPr>
              <a:t>Receipt Table With Example:-</a:t>
            </a:r>
            <a:endParaRPr lang="en-GB" b="1" dirty="0">
              <a:ea typeface="Calibri Light" panose="020F0302020204030204"/>
              <a:cs typeface="Calibri Light" panose="020F0302020204030204"/>
            </a:endParaRPr>
          </a:p>
        </p:txBody>
      </p:sp>
      <p:graphicFrame>
        <p:nvGraphicFramePr>
          <p:cNvPr id="3" name="Table 3">
            <a:extLst>
              <a:ext uri="{FF2B5EF4-FFF2-40B4-BE49-F238E27FC236}">
                <a16:creationId xmlns:a16="http://schemas.microsoft.com/office/drawing/2014/main" id="{1229C0F2-F214-0D27-72A9-CB2C4A2A7FAE}"/>
              </a:ext>
            </a:extLst>
          </p:cNvPr>
          <p:cNvGraphicFramePr>
            <a:graphicFrameLocks noGrp="1"/>
          </p:cNvGraphicFramePr>
          <p:nvPr>
            <p:extLst>
              <p:ext uri="{D42A27DB-BD31-4B8C-83A1-F6EECF244321}">
                <p14:modId xmlns:p14="http://schemas.microsoft.com/office/powerpoint/2010/main" val="3653384682"/>
              </p:ext>
            </p:extLst>
          </p:nvPr>
        </p:nvGraphicFramePr>
        <p:xfrm>
          <a:off x="1312126" y="1957970"/>
          <a:ext cx="9201904" cy="2595880"/>
        </p:xfrm>
        <a:graphic>
          <a:graphicData uri="http://schemas.openxmlformats.org/drawingml/2006/table">
            <a:tbl>
              <a:tblPr firstRow="1" bandRow="1">
                <a:tableStyleId>{5C22544A-7EE6-4342-B048-85BDC9FD1C3A}</a:tableStyleId>
              </a:tblPr>
              <a:tblGrid>
                <a:gridCol w="1633726">
                  <a:extLst>
                    <a:ext uri="{9D8B030D-6E8A-4147-A177-3AD203B41FA5}">
                      <a16:colId xmlns:a16="http://schemas.microsoft.com/office/drawing/2014/main" val="175759421"/>
                    </a:ext>
                  </a:extLst>
                </a:gridCol>
                <a:gridCol w="1633726">
                  <a:extLst>
                    <a:ext uri="{9D8B030D-6E8A-4147-A177-3AD203B41FA5}">
                      <a16:colId xmlns:a16="http://schemas.microsoft.com/office/drawing/2014/main" val="40020320"/>
                    </a:ext>
                  </a:extLst>
                </a:gridCol>
                <a:gridCol w="1633726">
                  <a:extLst>
                    <a:ext uri="{9D8B030D-6E8A-4147-A177-3AD203B41FA5}">
                      <a16:colId xmlns:a16="http://schemas.microsoft.com/office/drawing/2014/main" val="1226958915"/>
                    </a:ext>
                  </a:extLst>
                </a:gridCol>
                <a:gridCol w="1633726">
                  <a:extLst>
                    <a:ext uri="{9D8B030D-6E8A-4147-A177-3AD203B41FA5}">
                      <a16:colId xmlns:a16="http://schemas.microsoft.com/office/drawing/2014/main" val="1442539745"/>
                    </a:ext>
                  </a:extLst>
                </a:gridCol>
                <a:gridCol w="2667000">
                  <a:extLst>
                    <a:ext uri="{9D8B030D-6E8A-4147-A177-3AD203B41FA5}">
                      <a16:colId xmlns:a16="http://schemas.microsoft.com/office/drawing/2014/main" val="1686074074"/>
                    </a:ext>
                  </a:extLst>
                </a:gridCol>
              </a:tblGrid>
              <a:tr h="370840">
                <a:tc>
                  <a:txBody>
                    <a:bodyPr/>
                    <a:lstStyle/>
                    <a:p>
                      <a:pPr lvl="0" algn="ctr">
                        <a:buNone/>
                      </a:pPr>
                      <a:r>
                        <a:rPr lang="en-GB" dirty="0"/>
                        <a:t>Fieldname</a:t>
                      </a:r>
                      <a:endParaRPr lang="en-US" dirty="0"/>
                    </a:p>
                  </a:txBody>
                  <a:tcPr/>
                </a:tc>
                <a:tc>
                  <a:txBody>
                    <a:bodyPr/>
                    <a:lstStyle/>
                    <a:p>
                      <a:pPr lvl="0" algn="ctr">
                        <a:buNone/>
                      </a:pPr>
                      <a:r>
                        <a:rPr lang="en-GB" dirty="0"/>
                        <a:t>Datatype</a:t>
                      </a:r>
                      <a:endParaRPr lang="en-US" dirty="0"/>
                    </a:p>
                  </a:txBody>
                  <a:tcPr/>
                </a:tc>
                <a:tc>
                  <a:txBody>
                    <a:bodyPr/>
                    <a:lstStyle/>
                    <a:p>
                      <a:pPr lvl="0" algn="ctr">
                        <a:buNone/>
                      </a:pPr>
                      <a:r>
                        <a:rPr lang="en-GB" dirty="0"/>
                        <a:t>Size</a:t>
                      </a:r>
                      <a:endParaRPr lang="en-US" dirty="0"/>
                    </a:p>
                  </a:txBody>
                  <a:tcPr/>
                </a:tc>
                <a:tc>
                  <a:txBody>
                    <a:bodyPr/>
                    <a:lstStyle/>
                    <a:p>
                      <a:pPr lvl="0" algn="ctr">
                        <a:buNone/>
                      </a:pPr>
                      <a:r>
                        <a:rPr lang="en-GB" dirty="0"/>
                        <a:t>Constraint</a:t>
                      </a:r>
                      <a:endParaRPr lang="en-US" dirty="0"/>
                    </a:p>
                  </a:txBody>
                  <a:tcPr/>
                </a:tc>
                <a:tc>
                  <a:txBody>
                    <a:bodyPr/>
                    <a:lstStyle/>
                    <a:p>
                      <a:pPr lvl="0" algn="ctr">
                        <a:buNone/>
                      </a:pPr>
                      <a:r>
                        <a:rPr lang="en-GB" dirty="0"/>
                        <a:t>Description</a:t>
                      </a:r>
                      <a:endParaRPr lang="en-US" dirty="0"/>
                    </a:p>
                  </a:txBody>
                  <a:tcPr/>
                </a:tc>
                <a:extLst>
                  <a:ext uri="{0D108BD9-81ED-4DB2-BD59-A6C34878D82A}">
                    <a16:rowId xmlns:a16="http://schemas.microsoft.com/office/drawing/2014/main" val="2875393872"/>
                  </a:ext>
                </a:extLst>
              </a:tr>
              <a:tr h="370840">
                <a:tc>
                  <a:txBody>
                    <a:bodyPr/>
                    <a:lstStyle/>
                    <a:p>
                      <a:pPr algn="ctr"/>
                      <a:r>
                        <a:rPr lang="en-GB" err="1"/>
                        <a:t>R_id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P.K</a:t>
                      </a:r>
                    </a:p>
                  </a:txBody>
                  <a:tcPr/>
                </a:tc>
                <a:tc>
                  <a:txBody>
                    <a:bodyPr/>
                    <a:lstStyle/>
                    <a:p>
                      <a:pPr algn="ctr"/>
                      <a:r>
                        <a:rPr lang="en-GB" dirty="0"/>
                        <a:t>Store receipt id</a:t>
                      </a:r>
                    </a:p>
                  </a:txBody>
                  <a:tcPr/>
                </a:tc>
                <a:extLst>
                  <a:ext uri="{0D108BD9-81ED-4DB2-BD59-A6C34878D82A}">
                    <a16:rowId xmlns:a16="http://schemas.microsoft.com/office/drawing/2014/main" val="3572394945"/>
                  </a:ext>
                </a:extLst>
              </a:tr>
              <a:tr h="370840">
                <a:tc>
                  <a:txBody>
                    <a:bodyPr/>
                    <a:lstStyle/>
                    <a:p>
                      <a:pPr algn="ctr"/>
                      <a:r>
                        <a:rPr lang="en-GB" err="1"/>
                        <a:t>So_id</a:t>
                      </a:r>
                      <a:endParaRPr lang="en-GB" dirty="0" err="1"/>
                    </a:p>
                  </a:txBody>
                  <a:tcPr/>
                </a:tc>
                <a:tc>
                  <a:txBody>
                    <a:bodyPr/>
                    <a:lstStyle/>
                    <a:p>
                      <a:pPr algn="ctr"/>
                      <a:r>
                        <a:rPr lang="en-GB" dirty="0"/>
                        <a:t>int</a:t>
                      </a:r>
                    </a:p>
                  </a:txBody>
                  <a:tcPr/>
                </a:tc>
                <a:tc>
                  <a:txBody>
                    <a:bodyPr/>
                    <a:lstStyle/>
                    <a:p>
                      <a:pPr algn="ctr"/>
                      <a:r>
                        <a:rPr lang="en-GB" dirty="0"/>
                        <a:t>11</a:t>
                      </a:r>
                    </a:p>
                  </a:txBody>
                  <a:tcPr/>
                </a:tc>
                <a:tc>
                  <a:txBody>
                    <a:bodyPr/>
                    <a:lstStyle/>
                    <a:p>
                      <a:pPr algn="ctr"/>
                      <a:r>
                        <a:rPr lang="en-GB" dirty="0"/>
                        <a:t>F.K</a:t>
                      </a:r>
                    </a:p>
                  </a:txBody>
                  <a:tcPr/>
                </a:tc>
                <a:tc>
                  <a:txBody>
                    <a:bodyPr/>
                    <a:lstStyle/>
                    <a:p>
                      <a:pPr algn="ctr"/>
                      <a:r>
                        <a:rPr lang="en-GB" dirty="0"/>
                        <a:t>Store sales order id</a:t>
                      </a:r>
                    </a:p>
                  </a:txBody>
                  <a:tcPr/>
                </a:tc>
                <a:extLst>
                  <a:ext uri="{0D108BD9-81ED-4DB2-BD59-A6C34878D82A}">
                    <a16:rowId xmlns:a16="http://schemas.microsoft.com/office/drawing/2014/main" val="3851637845"/>
                  </a:ext>
                </a:extLst>
              </a:tr>
              <a:tr h="370840">
                <a:tc>
                  <a:txBody>
                    <a:bodyPr/>
                    <a:lstStyle/>
                    <a:p>
                      <a:pPr algn="ctr"/>
                      <a:r>
                        <a:rPr lang="en-GB" err="1"/>
                        <a:t>R_date</a:t>
                      </a:r>
                      <a:endParaRPr lang="en-GB" dirty="0" err="1"/>
                    </a:p>
                  </a:txBody>
                  <a:tcPr/>
                </a:tc>
                <a:tc>
                  <a:txBody>
                    <a:bodyPr/>
                    <a:lstStyle/>
                    <a:p>
                      <a:pPr algn="ctr"/>
                      <a:r>
                        <a:rPr lang="en-GB" dirty="0"/>
                        <a:t>date</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receipt date</a:t>
                      </a:r>
                    </a:p>
                  </a:txBody>
                  <a:tcPr/>
                </a:tc>
                <a:extLst>
                  <a:ext uri="{0D108BD9-81ED-4DB2-BD59-A6C34878D82A}">
                    <a16:rowId xmlns:a16="http://schemas.microsoft.com/office/drawing/2014/main" val="2215018611"/>
                  </a:ext>
                </a:extLst>
              </a:tr>
              <a:tr h="370840">
                <a:tc>
                  <a:txBody>
                    <a:bodyPr/>
                    <a:lstStyle/>
                    <a:p>
                      <a:pPr algn="ctr"/>
                      <a:r>
                        <a:rPr lang="en-GB" dirty="0"/>
                        <a:t>Amount</a:t>
                      </a:r>
                    </a:p>
                  </a:txBody>
                  <a:tcPr/>
                </a:tc>
                <a:tc>
                  <a:txBody>
                    <a:bodyPr/>
                    <a:lstStyle/>
                    <a:p>
                      <a:pPr algn="ctr"/>
                      <a:r>
                        <a:rPr lang="en-GB" dirty="0"/>
                        <a:t>varchar</a:t>
                      </a:r>
                    </a:p>
                  </a:txBody>
                  <a:tcPr/>
                </a:tc>
                <a:tc>
                  <a:txBody>
                    <a:bodyPr/>
                    <a:lstStyle/>
                    <a:p>
                      <a:pPr algn="ctr"/>
                      <a:r>
                        <a:rPr lang="en-GB" dirty="0"/>
                        <a:t>10</a:t>
                      </a:r>
                    </a:p>
                  </a:txBody>
                  <a:tcPr/>
                </a:tc>
                <a:tc>
                  <a:txBody>
                    <a:bodyPr/>
                    <a:lstStyle/>
                    <a:p>
                      <a:pPr algn="ctr"/>
                      <a:r>
                        <a:rPr lang="en-GB" dirty="0"/>
                        <a:t>Not null</a:t>
                      </a:r>
                    </a:p>
                  </a:txBody>
                  <a:tcPr/>
                </a:tc>
                <a:tc>
                  <a:txBody>
                    <a:bodyPr/>
                    <a:lstStyle/>
                    <a:p>
                      <a:pPr algn="ctr"/>
                      <a:r>
                        <a:rPr lang="en-GB" dirty="0"/>
                        <a:t>Store amount</a:t>
                      </a:r>
                    </a:p>
                  </a:txBody>
                  <a:tcPr/>
                </a:tc>
                <a:extLst>
                  <a:ext uri="{0D108BD9-81ED-4DB2-BD59-A6C34878D82A}">
                    <a16:rowId xmlns:a16="http://schemas.microsoft.com/office/drawing/2014/main" val="2035527877"/>
                  </a:ext>
                </a:extLst>
              </a:tr>
              <a:tr h="370840">
                <a:tc>
                  <a:txBody>
                    <a:bodyPr/>
                    <a:lstStyle/>
                    <a:p>
                      <a:pPr algn="ctr"/>
                      <a:r>
                        <a:rPr lang="en-GB" dirty="0"/>
                        <a:t>Mode</a:t>
                      </a:r>
                    </a:p>
                  </a:txBody>
                  <a:tcPr/>
                </a:tc>
                <a:tc>
                  <a:txBody>
                    <a:bodyPr/>
                    <a:lstStyle/>
                    <a:p>
                      <a:pPr algn="ctr"/>
                      <a:r>
                        <a:rPr lang="en-GB" dirty="0"/>
                        <a:t>varchar</a:t>
                      </a:r>
                    </a:p>
                  </a:txBody>
                  <a:tcPr/>
                </a:tc>
                <a:tc>
                  <a:txBody>
                    <a:bodyPr/>
                    <a:lstStyle/>
                    <a:p>
                      <a:pPr algn="ctr"/>
                      <a:r>
                        <a:rPr lang="en-GB" dirty="0"/>
                        <a:t>30</a:t>
                      </a:r>
                    </a:p>
                  </a:txBody>
                  <a:tcPr/>
                </a:tc>
                <a:tc>
                  <a:txBody>
                    <a:bodyPr/>
                    <a:lstStyle/>
                    <a:p>
                      <a:pPr algn="ctr"/>
                      <a:r>
                        <a:rPr lang="en-GB" dirty="0"/>
                        <a:t>Not null</a:t>
                      </a:r>
                    </a:p>
                  </a:txBody>
                  <a:tcPr/>
                </a:tc>
                <a:tc>
                  <a:txBody>
                    <a:bodyPr/>
                    <a:lstStyle/>
                    <a:p>
                      <a:pPr algn="ctr"/>
                      <a:r>
                        <a:rPr lang="en-GB" dirty="0"/>
                        <a:t>Store mode</a:t>
                      </a:r>
                    </a:p>
                  </a:txBody>
                  <a:tcPr/>
                </a:tc>
                <a:extLst>
                  <a:ext uri="{0D108BD9-81ED-4DB2-BD59-A6C34878D82A}">
                    <a16:rowId xmlns:a16="http://schemas.microsoft.com/office/drawing/2014/main" val="3203426056"/>
                  </a:ext>
                </a:extLst>
              </a:tr>
              <a:tr h="370840">
                <a:tc>
                  <a:txBody>
                    <a:bodyPr/>
                    <a:lstStyle/>
                    <a:p>
                      <a:pPr algn="ctr"/>
                      <a:r>
                        <a:rPr lang="en-GB" dirty="0"/>
                        <a:t>Transaction No</a:t>
                      </a:r>
                    </a:p>
                  </a:txBody>
                  <a:tcPr/>
                </a:tc>
                <a:tc>
                  <a:txBody>
                    <a:bodyPr/>
                    <a:lstStyle/>
                    <a:p>
                      <a:pPr algn="ctr"/>
                      <a:r>
                        <a:rPr lang="en-GB" dirty="0"/>
                        <a:t>varchar</a:t>
                      </a:r>
                    </a:p>
                  </a:txBody>
                  <a:tcPr/>
                </a:tc>
                <a:tc>
                  <a:txBody>
                    <a:bodyPr/>
                    <a:lstStyle/>
                    <a:p>
                      <a:pPr algn="ctr"/>
                      <a:r>
                        <a:rPr lang="en-GB" dirty="0"/>
                        <a:t>15</a:t>
                      </a:r>
                    </a:p>
                  </a:txBody>
                  <a:tcPr/>
                </a:tc>
                <a:tc>
                  <a:txBody>
                    <a:bodyPr/>
                    <a:lstStyle/>
                    <a:p>
                      <a:pPr algn="ctr"/>
                      <a:r>
                        <a:rPr lang="en-GB" dirty="0"/>
                        <a:t>Not null</a:t>
                      </a:r>
                    </a:p>
                  </a:txBody>
                  <a:tcPr/>
                </a:tc>
                <a:tc>
                  <a:txBody>
                    <a:bodyPr/>
                    <a:lstStyle/>
                    <a:p>
                      <a:pPr algn="ctr"/>
                      <a:r>
                        <a:rPr lang="en-GB" dirty="0"/>
                        <a:t>Store Transaction no</a:t>
                      </a:r>
                    </a:p>
                  </a:txBody>
                  <a:tcPr/>
                </a:tc>
                <a:extLst>
                  <a:ext uri="{0D108BD9-81ED-4DB2-BD59-A6C34878D82A}">
                    <a16:rowId xmlns:a16="http://schemas.microsoft.com/office/drawing/2014/main" val="781830895"/>
                  </a:ext>
                </a:extLst>
              </a:tr>
            </a:tbl>
          </a:graphicData>
        </a:graphic>
      </p:graphicFrame>
      <p:graphicFrame>
        <p:nvGraphicFramePr>
          <p:cNvPr id="4" name="Table 4">
            <a:extLst>
              <a:ext uri="{FF2B5EF4-FFF2-40B4-BE49-F238E27FC236}">
                <a16:creationId xmlns:a16="http://schemas.microsoft.com/office/drawing/2014/main" id="{A2A5D195-318E-352A-EF41-6F58273CEE0E}"/>
              </a:ext>
            </a:extLst>
          </p:cNvPr>
          <p:cNvGraphicFramePr>
            <a:graphicFrameLocks noGrp="1"/>
          </p:cNvGraphicFramePr>
          <p:nvPr>
            <p:extLst>
              <p:ext uri="{D42A27DB-BD31-4B8C-83A1-F6EECF244321}">
                <p14:modId xmlns:p14="http://schemas.microsoft.com/office/powerpoint/2010/main" val="2077922718"/>
              </p:ext>
            </p:extLst>
          </p:nvPr>
        </p:nvGraphicFramePr>
        <p:xfrm>
          <a:off x="1699671" y="4717993"/>
          <a:ext cx="8597890" cy="1483360"/>
        </p:xfrm>
        <a:graphic>
          <a:graphicData uri="http://schemas.openxmlformats.org/drawingml/2006/table">
            <a:tbl>
              <a:tblPr firstRow="1" bandRow="1">
                <a:tableStyleId>{5C22544A-7EE6-4342-B048-85BDC9FD1C3A}</a:tableStyleId>
              </a:tblPr>
              <a:tblGrid>
                <a:gridCol w="1361438">
                  <a:extLst>
                    <a:ext uri="{9D8B030D-6E8A-4147-A177-3AD203B41FA5}">
                      <a16:colId xmlns:a16="http://schemas.microsoft.com/office/drawing/2014/main" val="587640983"/>
                    </a:ext>
                  </a:extLst>
                </a:gridCol>
                <a:gridCol w="1361438">
                  <a:extLst>
                    <a:ext uri="{9D8B030D-6E8A-4147-A177-3AD203B41FA5}">
                      <a16:colId xmlns:a16="http://schemas.microsoft.com/office/drawing/2014/main" val="3926776185"/>
                    </a:ext>
                  </a:extLst>
                </a:gridCol>
                <a:gridCol w="1361438">
                  <a:extLst>
                    <a:ext uri="{9D8B030D-6E8A-4147-A177-3AD203B41FA5}">
                      <a16:colId xmlns:a16="http://schemas.microsoft.com/office/drawing/2014/main" val="734424880"/>
                    </a:ext>
                  </a:extLst>
                </a:gridCol>
                <a:gridCol w="1361438">
                  <a:extLst>
                    <a:ext uri="{9D8B030D-6E8A-4147-A177-3AD203B41FA5}">
                      <a16:colId xmlns:a16="http://schemas.microsoft.com/office/drawing/2014/main" val="577880585"/>
                    </a:ext>
                  </a:extLst>
                </a:gridCol>
                <a:gridCol w="1361438">
                  <a:extLst>
                    <a:ext uri="{9D8B030D-6E8A-4147-A177-3AD203B41FA5}">
                      <a16:colId xmlns:a16="http://schemas.microsoft.com/office/drawing/2014/main" val="841991062"/>
                    </a:ext>
                  </a:extLst>
                </a:gridCol>
                <a:gridCol w="1790700">
                  <a:extLst>
                    <a:ext uri="{9D8B030D-6E8A-4147-A177-3AD203B41FA5}">
                      <a16:colId xmlns:a16="http://schemas.microsoft.com/office/drawing/2014/main" val="4136406511"/>
                    </a:ext>
                  </a:extLst>
                </a:gridCol>
              </a:tblGrid>
              <a:tr h="370840">
                <a:tc>
                  <a:txBody>
                    <a:bodyPr/>
                    <a:lstStyle/>
                    <a:p>
                      <a:pPr algn="ctr"/>
                      <a:r>
                        <a:rPr lang="en-GB" err="1"/>
                        <a:t>R_id</a:t>
                      </a:r>
                      <a:endParaRPr lang="en-GB" dirty="0" err="1"/>
                    </a:p>
                  </a:txBody>
                  <a:tcPr/>
                </a:tc>
                <a:tc>
                  <a:txBody>
                    <a:bodyPr/>
                    <a:lstStyle/>
                    <a:p>
                      <a:pPr algn="ctr"/>
                      <a:r>
                        <a:rPr lang="en-GB" err="1"/>
                        <a:t>So_id</a:t>
                      </a:r>
                      <a:endParaRPr lang="en-GB" dirty="0" err="1"/>
                    </a:p>
                  </a:txBody>
                  <a:tcPr/>
                </a:tc>
                <a:tc>
                  <a:txBody>
                    <a:bodyPr/>
                    <a:lstStyle/>
                    <a:p>
                      <a:pPr algn="ctr"/>
                      <a:r>
                        <a:rPr lang="en-GB" err="1"/>
                        <a:t>R_date</a:t>
                      </a:r>
                      <a:endParaRPr lang="en-GB" dirty="0" err="1"/>
                    </a:p>
                  </a:txBody>
                  <a:tcPr/>
                </a:tc>
                <a:tc>
                  <a:txBody>
                    <a:bodyPr/>
                    <a:lstStyle/>
                    <a:p>
                      <a:pPr algn="ctr"/>
                      <a:r>
                        <a:rPr lang="en-GB" dirty="0"/>
                        <a:t>Amount</a:t>
                      </a:r>
                    </a:p>
                  </a:txBody>
                  <a:tcPr/>
                </a:tc>
                <a:tc>
                  <a:txBody>
                    <a:bodyPr/>
                    <a:lstStyle/>
                    <a:p>
                      <a:pPr algn="ctr"/>
                      <a:r>
                        <a:rPr lang="en-GB" dirty="0"/>
                        <a:t>Mode</a:t>
                      </a:r>
                    </a:p>
                  </a:txBody>
                  <a:tcPr/>
                </a:tc>
                <a:tc>
                  <a:txBody>
                    <a:bodyPr/>
                    <a:lstStyle/>
                    <a:p>
                      <a:pPr algn="ctr"/>
                      <a:r>
                        <a:rPr lang="en-GB" dirty="0"/>
                        <a:t>Transaction No</a:t>
                      </a:r>
                    </a:p>
                  </a:txBody>
                  <a:tcPr/>
                </a:tc>
                <a:extLst>
                  <a:ext uri="{0D108BD9-81ED-4DB2-BD59-A6C34878D82A}">
                    <a16:rowId xmlns:a16="http://schemas.microsoft.com/office/drawing/2014/main" val="1036572124"/>
                  </a:ext>
                </a:extLst>
              </a:tr>
              <a:tr h="370840">
                <a:tc>
                  <a:txBody>
                    <a:bodyPr/>
                    <a:lstStyle/>
                    <a:p>
                      <a:pPr algn="ctr"/>
                      <a:r>
                        <a:rPr lang="en-GB" dirty="0"/>
                        <a:t>1</a:t>
                      </a:r>
                    </a:p>
                  </a:txBody>
                  <a:tcPr/>
                </a:tc>
                <a:tc>
                  <a:txBody>
                    <a:bodyPr/>
                    <a:lstStyle/>
                    <a:p>
                      <a:pPr algn="ctr"/>
                      <a:r>
                        <a:rPr lang="en-GB" dirty="0"/>
                        <a:t>2</a:t>
                      </a:r>
                    </a:p>
                  </a:txBody>
                  <a:tcPr/>
                </a:tc>
                <a:tc>
                  <a:txBody>
                    <a:bodyPr/>
                    <a:lstStyle/>
                    <a:p>
                      <a:pPr algn="ctr"/>
                      <a:r>
                        <a:rPr lang="en-GB" dirty="0"/>
                        <a:t>15/11/2022</a:t>
                      </a:r>
                    </a:p>
                  </a:txBody>
                  <a:tcPr/>
                </a:tc>
                <a:tc>
                  <a:txBody>
                    <a:bodyPr/>
                    <a:lstStyle/>
                    <a:p>
                      <a:pPr algn="ctr"/>
                      <a:r>
                        <a:rPr lang="en-GB" dirty="0"/>
                        <a:t>10,000</a:t>
                      </a:r>
                    </a:p>
                  </a:txBody>
                  <a:tcPr/>
                </a:tc>
                <a:tc>
                  <a:txBody>
                    <a:bodyPr/>
                    <a:lstStyle/>
                    <a:p>
                      <a:pPr algn="ctr"/>
                      <a:r>
                        <a:rPr lang="en-GB" dirty="0"/>
                        <a:t>Cash</a:t>
                      </a:r>
                    </a:p>
                  </a:txBody>
                  <a:tcPr/>
                </a:tc>
                <a:tc>
                  <a:txBody>
                    <a:bodyPr/>
                    <a:lstStyle/>
                    <a:p>
                      <a:pPr algn="ctr"/>
                      <a:endParaRPr lang="en-GB" dirty="0"/>
                    </a:p>
                  </a:txBody>
                  <a:tcPr/>
                </a:tc>
                <a:extLst>
                  <a:ext uri="{0D108BD9-81ED-4DB2-BD59-A6C34878D82A}">
                    <a16:rowId xmlns:a16="http://schemas.microsoft.com/office/drawing/2014/main" val="807798114"/>
                  </a:ext>
                </a:extLst>
              </a:tr>
              <a:tr h="370840">
                <a:tc>
                  <a:txBody>
                    <a:bodyPr/>
                    <a:lstStyle/>
                    <a:p>
                      <a:pPr algn="ctr"/>
                      <a:r>
                        <a:rPr lang="en-GB" dirty="0"/>
                        <a:t>2</a:t>
                      </a:r>
                    </a:p>
                  </a:txBody>
                  <a:tcPr/>
                </a:tc>
                <a:tc>
                  <a:txBody>
                    <a:bodyPr/>
                    <a:lstStyle/>
                    <a:p>
                      <a:pPr algn="ctr"/>
                      <a:r>
                        <a:rPr lang="en-GB" dirty="0"/>
                        <a:t>3</a:t>
                      </a:r>
                    </a:p>
                  </a:txBody>
                  <a:tcPr/>
                </a:tc>
                <a:tc>
                  <a:txBody>
                    <a:bodyPr/>
                    <a:lstStyle/>
                    <a:p>
                      <a:pPr algn="ctr"/>
                      <a:r>
                        <a:rPr lang="en-GB" dirty="0"/>
                        <a:t>18/11/2022</a:t>
                      </a:r>
                    </a:p>
                  </a:txBody>
                  <a:tcPr/>
                </a:tc>
                <a:tc>
                  <a:txBody>
                    <a:bodyPr/>
                    <a:lstStyle/>
                    <a:p>
                      <a:pPr algn="ctr"/>
                      <a:r>
                        <a:rPr lang="en-GB" dirty="0"/>
                        <a:t>5000</a:t>
                      </a:r>
                    </a:p>
                  </a:txBody>
                  <a:tcPr/>
                </a:tc>
                <a:tc>
                  <a:txBody>
                    <a:bodyPr/>
                    <a:lstStyle/>
                    <a:p>
                      <a:pPr algn="ctr"/>
                      <a:r>
                        <a:rPr lang="en-GB" dirty="0"/>
                        <a:t>Cheque</a:t>
                      </a:r>
                    </a:p>
                  </a:txBody>
                  <a:tcPr/>
                </a:tc>
                <a:tc>
                  <a:txBody>
                    <a:bodyPr/>
                    <a:lstStyle/>
                    <a:p>
                      <a:pPr algn="ctr"/>
                      <a:r>
                        <a:rPr lang="en-GB" dirty="0"/>
                        <a:t>IDRB8682</a:t>
                      </a:r>
                    </a:p>
                  </a:txBody>
                  <a:tcPr/>
                </a:tc>
                <a:extLst>
                  <a:ext uri="{0D108BD9-81ED-4DB2-BD59-A6C34878D82A}">
                    <a16:rowId xmlns:a16="http://schemas.microsoft.com/office/drawing/2014/main" val="468356772"/>
                  </a:ext>
                </a:extLst>
              </a:tr>
              <a:tr h="370840">
                <a:tc>
                  <a:txBody>
                    <a:bodyPr/>
                    <a:lstStyle/>
                    <a:p>
                      <a:pPr algn="ctr"/>
                      <a:r>
                        <a:rPr lang="en-GB" dirty="0"/>
                        <a:t>3</a:t>
                      </a:r>
                    </a:p>
                  </a:txBody>
                  <a:tcPr/>
                </a:tc>
                <a:tc>
                  <a:txBody>
                    <a:bodyPr/>
                    <a:lstStyle/>
                    <a:p>
                      <a:pPr algn="ctr"/>
                      <a:r>
                        <a:rPr lang="en-GB" dirty="0"/>
                        <a:t>4</a:t>
                      </a:r>
                    </a:p>
                  </a:txBody>
                  <a:tcPr/>
                </a:tc>
                <a:tc>
                  <a:txBody>
                    <a:bodyPr/>
                    <a:lstStyle/>
                    <a:p>
                      <a:pPr algn="ctr"/>
                      <a:r>
                        <a:rPr lang="en-GB" dirty="0"/>
                        <a:t>20/11/2022</a:t>
                      </a:r>
                    </a:p>
                  </a:txBody>
                  <a:tcPr/>
                </a:tc>
                <a:tc>
                  <a:txBody>
                    <a:bodyPr/>
                    <a:lstStyle/>
                    <a:p>
                      <a:pPr algn="ctr"/>
                      <a:r>
                        <a:rPr lang="en-GB" dirty="0"/>
                        <a:t>7000</a:t>
                      </a:r>
                    </a:p>
                  </a:txBody>
                  <a:tcPr/>
                </a:tc>
                <a:tc>
                  <a:txBody>
                    <a:bodyPr/>
                    <a:lstStyle/>
                    <a:p>
                      <a:pPr algn="ctr"/>
                      <a:r>
                        <a:rPr lang="en-GB" dirty="0"/>
                        <a:t>UPI</a:t>
                      </a:r>
                    </a:p>
                  </a:txBody>
                  <a:tcPr/>
                </a:tc>
                <a:tc>
                  <a:txBody>
                    <a:bodyPr/>
                    <a:lstStyle/>
                    <a:p>
                      <a:pPr algn="ctr"/>
                      <a:r>
                        <a:rPr lang="en-GB" dirty="0"/>
                        <a:t>BD2253355659</a:t>
                      </a:r>
                    </a:p>
                  </a:txBody>
                  <a:tcPr/>
                </a:tc>
                <a:extLst>
                  <a:ext uri="{0D108BD9-81ED-4DB2-BD59-A6C34878D82A}">
                    <a16:rowId xmlns:a16="http://schemas.microsoft.com/office/drawing/2014/main" val="3493386989"/>
                  </a:ext>
                </a:extLst>
              </a:tr>
            </a:tbl>
          </a:graphicData>
        </a:graphic>
      </p:graphicFrame>
      <p:sp>
        <p:nvSpPr>
          <p:cNvPr id="6" name="TextBox 5">
            <a:extLst>
              <a:ext uri="{FF2B5EF4-FFF2-40B4-BE49-F238E27FC236}">
                <a16:creationId xmlns:a16="http://schemas.microsoft.com/office/drawing/2014/main" id="{D66068A0-719D-1EF8-022D-C4F229991B19}"/>
              </a:ext>
            </a:extLst>
          </p:cNvPr>
          <p:cNvSpPr txBox="1"/>
          <p:nvPr/>
        </p:nvSpPr>
        <p:spPr>
          <a:xfrm>
            <a:off x="1232848" y="868907"/>
            <a:ext cx="469937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Arial"/>
                <a:cs typeface="Arial"/>
              </a:rPr>
              <a:t>21.Receipt Table: -</a:t>
            </a:r>
          </a:p>
          <a:p>
            <a:r>
              <a:rPr lang="en-US" sz="1600" b="1" dirty="0">
                <a:latin typeface="Arial"/>
                <a:cs typeface="Arial"/>
              </a:rPr>
              <a:t>Primary Key: - </a:t>
            </a:r>
            <a:r>
              <a:rPr lang="en-US" sz="1600" b="1" dirty="0" err="1">
                <a:latin typeface="Arial"/>
                <a:cs typeface="Arial"/>
              </a:rPr>
              <a:t>R_id</a:t>
            </a:r>
            <a:r>
              <a:rPr lang="en-US" sz="1600" b="1" dirty="0">
                <a:latin typeface="Arial"/>
                <a:cs typeface="Arial"/>
              </a:rPr>
              <a:t>(Receipt Id)</a:t>
            </a:r>
          </a:p>
          <a:p>
            <a:r>
              <a:rPr lang="en-US" sz="1600" b="1" dirty="0">
                <a:latin typeface="Arial"/>
                <a:cs typeface="Arial"/>
              </a:rPr>
              <a:t>Foreign Key: - </a:t>
            </a:r>
            <a:r>
              <a:rPr lang="en-US" sz="1600" b="1" dirty="0" err="1">
                <a:latin typeface="Arial"/>
                <a:cs typeface="Arial"/>
              </a:rPr>
              <a:t>So_id</a:t>
            </a:r>
            <a:r>
              <a:rPr lang="en-US" sz="1600" b="1" dirty="0">
                <a:latin typeface="Arial"/>
                <a:cs typeface="Arial"/>
              </a:rPr>
              <a:t>(Sales Order Id)</a:t>
            </a:r>
          </a:p>
          <a:p>
            <a:r>
              <a:rPr lang="en-US" sz="1600" b="1" dirty="0">
                <a:latin typeface="Arial"/>
                <a:cs typeface="Arial"/>
              </a:rPr>
              <a:t>Description: - It Stores Receipt Detail</a:t>
            </a:r>
          </a:p>
        </p:txBody>
      </p:sp>
    </p:spTree>
    <p:extLst>
      <p:ext uri="{BB962C8B-B14F-4D97-AF65-F5344CB8AC3E}">
        <p14:creationId xmlns:p14="http://schemas.microsoft.com/office/powerpoint/2010/main" val="5648473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51</Slides>
  <Notes>0</Notes>
  <HiddenSlides>0</HiddenSlide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Online Roller Production &amp; Selling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4.Employee Management:-                                                    Admin Will give the production work or job work to the employee .As per the customer placed order.             And then after the production work or job work order is done .The employee will hand over the complete work to the admin.                                                                </vt:lpstr>
      <vt:lpstr>PowerPoint Presentation</vt:lpstr>
      <vt:lpstr>PowerPoint Presentation</vt:lpstr>
      <vt:lpstr>PowerPoint Presentation</vt:lpstr>
      <vt:lpstr>PowerPoint Presentation</vt:lpstr>
      <vt:lpstr>Sequence Diagram:-</vt:lpstr>
      <vt:lpstr>Registration:-</vt:lpstr>
      <vt:lpstr>Login:-</vt:lpstr>
      <vt:lpstr>Purchase Order:-</vt:lpstr>
      <vt:lpstr>Billing &amp; Payment :-</vt:lpstr>
      <vt:lpstr>Sales Order:-</vt:lpstr>
      <vt:lpstr>Activity Diagram:- </vt:lpstr>
      <vt:lpstr>Order Activity Diagram:-</vt:lpstr>
      <vt:lpstr>State Chart Diagram:-</vt:lpstr>
      <vt:lpstr>Order State Chart Diagram:-</vt:lpstr>
      <vt:lpstr>Class Diagram: -</vt:lpstr>
      <vt:lpstr>PowerPoint Presentation</vt:lpstr>
      <vt:lpstr>Data Dictionary:-</vt:lpstr>
      <vt:lpstr>State Table With Example:-</vt:lpstr>
      <vt:lpstr>City Table With Example:-</vt:lpstr>
      <vt:lpstr>Area Table With Example:-</vt:lpstr>
      <vt:lpstr>Customer Table:-</vt:lpstr>
      <vt:lpstr>Customer Example:-</vt:lpstr>
      <vt:lpstr>Admin Table With Example:-</vt:lpstr>
      <vt:lpstr>Supplier Table With Example:-</vt:lpstr>
      <vt:lpstr>Material Table With Example :-</vt:lpstr>
      <vt:lpstr>Product Type Table With Example:-</vt:lpstr>
      <vt:lpstr>Unit Table Example:-</vt:lpstr>
      <vt:lpstr>Product :- </vt:lpstr>
      <vt:lpstr>Product Example:-</vt:lpstr>
      <vt:lpstr>Material Stock Table With Example: -</vt:lpstr>
      <vt:lpstr>Ready Product Table With Example: -</vt:lpstr>
      <vt:lpstr>Employee Table With Example:-</vt:lpstr>
      <vt:lpstr>Purchase Order Table With Example:-</vt:lpstr>
      <vt:lpstr>Purchase Order Detail Table With Example:-</vt:lpstr>
      <vt:lpstr>Sales Order Table With Example:-</vt:lpstr>
      <vt:lpstr>Sales Order Detail Table With Example:-</vt:lpstr>
      <vt:lpstr>Billing Table With Example:-</vt:lpstr>
      <vt:lpstr>Billing Detail Table With Example:-</vt:lpstr>
      <vt:lpstr>Payment Table With Example:-</vt:lpstr>
      <vt:lpstr>Receipt Table With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1067</cp:revision>
  <dcterms:created xsi:type="dcterms:W3CDTF">2022-07-31T07:57:52Z</dcterms:created>
  <dcterms:modified xsi:type="dcterms:W3CDTF">2022-11-23T18:53:32Z</dcterms:modified>
</cp:coreProperties>
</file>